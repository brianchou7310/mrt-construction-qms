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ca2f2869-a655-e205-a580-79f9bb2a3a82}">
          <p14:sldIdLst>
            <p14:sldId id="256"/>
            <p14:sldId id="257"/>
          </p14:sldIdLst>
        </p14:section>
        <p14:section name="01 系統定位" id="{046788fc-8811-8ad1-fd74-5b17c1103e24}">
          <p14:sldIdLst>
            <p14:sldId id="258"/>
            <p14:sldId id="259"/>
            <p14:sldId id="260"/>
            <p14:sldId id="261"/>
          </p14:sldIdLst>
        </p14:section>
        <p14:section name="02 角色與權限" id="{a1850bbc-f1e9-d72c-8e91-7f44dd27964c}">
          <p14:sldIdLst>
            <p14:sldId id="262"/>
            <p14:sldId id="263"/>
            <p14:sldId id="264"/>
          </p14:sldIdLst>
        </p14:section>
        <p14:section name="03 業務流程" id="{f1acd2cd-69fb-e0f3-3d3d-055959e5d1a7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04 後台管理頁面" id="{238419ac-8a55-0156-bdfe-2c9757d49bce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05 現場作業頁面" id="{53bf10a7-7a3e-6761-c47d-4689858227d2}">
          <p14:sldIdLst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</p14:sldIdLst>
        </p14:section>
        <p14:section name="06 空白範本 PDF 操作" id="{909c4816-d356-0f5f-dc71-64d833b0d358}">
          <p14:sldIdLst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</p14:sldIdLst>
        </p14:section>
        <p14:section name="結語" id="{69acade0-55ab-872e-f26e-986c82c7cae1}">
          <p14:sldIdLst>
            <p14:sldId id="31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本次報告說明捷運施工查驗系統的完整做法：有哪些角色、各角色的業務流程，以及後台與現場作業頁面的實際操作。表單可選擇線上表單或空白範本 PDF 兩種填寫方式。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系統的核心是把三個原本分散的紙本作業串起來。自主檢查是主軸；遇到停留點要申請會驗；會驗本身就是一次抽查，抽查結果自動回寫、自動產生缺失。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雛型目前用瀏覽器 IndexedDB 存資料，兩個頁面開在同一台電腦的瀏覽器就會即時同步；正式系統會改為後端 API 與資料庫。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兩種填寫方式兼顧不同需求：已經結構化的表單走線上逐項填寫；格式複雜、或廠商習慣紙本的表單，改用空白 PDF 範本，流程照「下載鎖定、上傳續填、現地手寫簽名、憑證加簽結案」。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廠商端有兩個簽認身分：品管人員是第一位簽認、工地授權代表是第二位。捷運局端分工務所同仁與工務所主任，主任主要在 PDF 抽查表做最後的憑證加簽。工程處主管不是操作者，是逾時回覆的通知對象。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這張表可以當作後續正式系統權限設計的依據。雛型中「工務所主任」也具備工務所同仁的權限（系統判斷為局內人員）。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這張是整體的串接：管理員先把標案、分項工程、表單範本建好；廠商在現場新增自主檢查並逐項檢查；遇停留點提出會驗申請，工務所 8 小時內排定，到場會驗後合格放行，廠商才能繼續後面的項目；所有停留點都放行後，兩位廠商人員才能簽認鎖定。任何缺失判定都會自動建立缺失追蹤，廠商附說明與照片回報改善，工務所複查後結案或退回。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自主檢查的重點是「用規則取代人工提醒」：分階段、必拍照、停留點未放行鎖定後續項目，都由系統自動控管。簽認後內容產生雜湊值並鎖定，確保事後不可竄改。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會驗流程有清楚的狀態：待回覆、已排定、檢驗中，最後合格放行或不合格；工務所也可以退回並填原因，廠商會看到退回原因；檢驗中如需取消，可填原因取消並作廢抽查草稿。24 小時、8 小時都是後台參數，可以依契約規定調整。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抽查和會驗是同一份紀錄：會驗時按開始會驗就會自動帶出對應的抽查表與廠商自檢數據，工務所同仁只要填實測值與判定。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缺失有四種來源，都自動建立。廠商回報改善時一定要有說明和照片，工務所看過後才能結案；不合格可以退回並寫原因。停留點會驗合格時，該停留點的缺失會自動結案。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PDF 版本的關鍵是「鎖定」：誰下載就由誰鎖定，只有鎖定人可以上傳或取消。每次上傳版本號加一，所有版本與辦理軌跡都保留可下載。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抽查 PDF 比自主檢查 PDF 多了「下一關」的選擇：可以轉給其他局內人員續填、轉廠商簽名，或免廠商簽名直接給主任。主任以憑證加簽後才算結案，結案時依判定結果決定放行或建立缺失。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首頁是給主管與工務所看的儀表板：最上面是四個關鍵數字，下面是需要處理的申請、未結案缺失，以及各分項工程的進度。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範本是整個系統的基礎。每個檢查項目可以設定數值欄位與容許範圍，現場就能自動建議判定；勾選停留點的項目，現場就會出現申請會驗的按鈕。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PDF 範本沒有逐項判定與停留點，所以適合格式複雜、或只需要留存紙本成果的表單。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填寫畫面是左右分欄：左邊是所有項目，右邊是目前這一項。檢查標準直接顯示在項目上方，不需要翻計畫書。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ADCFC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B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03120" y="2651760"/>
            <a:ext cx="93268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103120" y="3611880"/>
            <a:ext cx="9326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ADCFC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B3B5C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64748B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/>
        </p:nvSpPr>
        <p:spPr>
          <a:xfrm>
            <a:off x="4114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捷運施工查驗系統｜全流程說明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jpg"/><Relationship Id="rId3" Type="http://schemas.openxmlformats.org/officeDocument/2006/relationships/image" Target="../media/image-30-3.jp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image" Target="../media/image-32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image" Target="../media/image-33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image" Target="../media/image-34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image" Target="../media/image-36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image" Target="../media/image-37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image" Target="../media/image-40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image" Target="../media/image-41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image" Target="../media/image-42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image" Target="../media/image-43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image" Target="../media/image-44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image" Target="../media/image-45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g"/><Relationship Id="rId2" Type="http://schemas.openxmlformats.org/officeDocument/2006/relationships/image" Target="../media/image-46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image" Target="../media/image-48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image" Target="../media/image-49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g"/><Relationship Id="rId2" Type="http://schemas.openxmlformats.org/officeDocument/2006/relationships/image" Target="../media/image-50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g"/><Relationship Id="rId2" Type="http://schemas.openxmlformats.org/officeDocument/2006/relationships/image" Target="../media/image-51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jpg"/><Relationship Id="rId2" Type="http://schemas.openxmlformats.org/officeDocument/2006/relationships/image" Target="../media/image-52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jpg"/><Relationship Id="rId2" Type="http://schemas.openxmlformats.org/officeDocument/2006/relationships/image" Target="../media/image-53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案五｜115 年度捷運工程資訊管理系統智慧 e 化案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捷運施工查驗系統 全流程說明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角色分工・業務流程・雛型頁面操作（自主檢查／停留點會驗／抽查／缺失追蹤／空白範本 PDF）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2026 / 10 / 12　主管報告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報告大綱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依「看懂系統 → 看懂流程 → 看懂操作」的順序說明</a:t>
            </a:r>
            <a:endParaRPr lang="en-US" sz="1400" dirty="0"/>
          </a:p>
        </p:txBody>
      </p:sp>
      <p:sp>
        <p:nvSpPr>
          <p:cNvPr id="4" name="agenda-card"/>
          <p:cNvSpPr/>
          <p:nvPr/>
        </p:nvSpPr>
        <p:spPr>
          <a:xfrm>
            <a:off x="548640" y="160020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97D4"/>
                </a:solidFill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673352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5C"/>
                </a:solidFill>
              </a:rPr>
              <a:t>系統定位與表單填寫方式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三大查驗機制、兩個操作入口、線上表單與 PDF</a:t>
            </a:r>
            <a:endParaRPr lang="en-US" sz="1800" dirty="0"/>
          </a:p>
        </p:txBody>
      </p:sp>
      <p:sp>
        <p:nvSpPr>
          <p:cNvPr id="7" name="agenda-card"/>
          <p:cNvSpPr/>
          <p:nvPr/>
        </p:nvSpPr>
        <p:spPr>
          <a:xfrm>
            <a:off x="548640" y="306324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06324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97D4"/>
                </a:solidFill>
              </a:rPr>
              <a:t>02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3136392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5C"/>
                </a:solidFill>
              </a:rPr>
              <a:t>角色與權限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6 種角色的職責與可操作功能</a:t>
            </a:r>
            <a:endParaRPr lang="en-US" sz="1800" dirty="0"/>
          </a:p>
        </p:txBody>
      </p:sp>
      <p:sp>
        <p:nvSpPr>
          <p:cNvPr id="10" name="agenda-card"/>
          <p:cNvSpPr/>
          <p:nvPr/>
        </p:nvSpPr>
        <p:spPr>
          <a:xfrm>
            <a:off x="548640" y="452628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52628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97D4"/>
                </a:solidFill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4599432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5C"/>
                </a:solidFill>
              </a:rPr>
              <a:t>業務流程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全流程泳道圖，及自主檢查、會驗、抽查、缺失、PDF 流程</a:t>
            </a:r>
            <a:endParaRPr lang="en-US" sz="1800" dirty="0"/>
          </a:p>
        </p:txBody>
      </p:sp>
      <p:sp>
        <p:nvSpPr>
          <p:cNvPr id="13" name="agenda-card"/>
          <p:cNvSpPr/>
          <p:nvPr/>
        </p:nvSpPr>
        <p:spPr>
          <a:xfrm>
            <a:off x="6309360" y="160020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160020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97D4"/>
                </a:solidFill>
              </a:rPr>
              <a:t>04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1673352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5C"/>
                </a:solidFill>
              </a:rPr>
              <a:t>後台管理頁面操作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總覽、標案、範本、匯入、會驗管理、紀錄查詢</a:t>
            </a:r>
            <a:endParaRPr lang="en-US" sz="1800" dirty="0"/>
          </a:p>
        </p:txBody>
      </p:sp>
      <p:sp>
        <p:nvSpPr>
          <p:cNvPr id="16" name="agenda-card"/>
          <p:cNvSpPr/>
          <p:nvPr/>
        </p:nvSpPr>
        <p:spPr>
          <a:xfrm>
            <a:off x="6309360" y="306324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06324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97D4"/>
                </a:solidFill>
              </a:rPr>
              <a:t>05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3136392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5C"/>
                </a:solidFill>
              </a:rPr>
              <a:t>現場作業頁面操作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廠商填寫自主檢查、工務所會驗抽查、手寫簽認</a:t>
            </a:r>
            <a:endParaRPr lang="en-US" sz="1800" dirty="0"/>
          </a:p>
        </p:txBody>
      </p:sp>
      <p:sp>
        <p:nvSpPr>
          <p:cNvPr id="19" name="agenda-card"/>
          <p:cNvSpPr/>
          <p:nvPr/>
        </p:nvSpPr>
        <p:spPr>
          <a:xfrm>
            <a:off x="6309360" y="452628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37960" y="452628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97D4"/>
                </a:solidFill>
              </a:rPr>
              <a:t>06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4599432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5C"/>
                </a:solidFill>
              </a:rPr>
              <a:t>空白範本 PDF 操作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下載鎖定 → 上傳簽名 → 憑證加簽結案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no"/>
          <p:cNvSpPr/>
          <p:nvPr/>
        </p:nvSpPr>
        <p:spPr>
          <a:xfrm>
            <a:off x="731520" y="2697480"/>
            <a:ext cx="1005840" cy="10058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697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3B5C"/>
                </a:solidFill>
              </a:rPr>
              <a:t>01</a:t>
            </a:r>
            <a:endParaRPr lang="en-US" sz="3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03120" y="265176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系統定位與表單填寫方式</a:t>
            </a:r>
            <a:endParaRPr lang="en-US" sz="3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361188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把紙本「自主檢查表、停留點會驗、品質抽查」搬到平板，並與後台即時同步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三大查驗機制，串成一條品質管理鏈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廠商自主檢查為主軸，遇「檢驗停留點」必須由捷運局工務所會驗放行後才能繼續</a:t>
            </a:r>
            <a:endParaRPr lang="en-US" sz="1400" dirty="0"/>
          </a:p>
        </p:txBody>
      </p:sp>
      <p:sp>
        <p:nvSpPr>
          <p:cNvPr id="4" name="mech-card"/>
          <p:cNvSpPr/>
          <p:nvPr/>
        </p:nvSpPr>
        <p:spPr>
          <a:xfrm>
            <a:off x="457200" y="1371600"/>
            <a:ext cx="3566160" cy="37947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mech-ic"/>
          <p:cNvSpPr/>
          <p:nvPr/>
        </p:nvSpPr>
        <p:spPr>
          <a:xfrm>
            <a:off x="731520" y="1645920"/>
            <a:ext cx="685800" cy="685800"/>
          </a:xfrm>
          <a:prstGeom prst="ellipse">
            <a:avLst/>
          </a:prstGeom>
          <a:solidFill>
            <a:srgbClr val="1497D4"/>
          </a:solidFill>
          <a:ln w="12700">
            <a:solidFill>
              <a:srgbClr val="1497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645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B5C"/>
                </a:solidFill>
              </a:rPr>
              <a:t>自主檢查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057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97D4"/>
                </a:solidFill>
              </a:rPr>
              <a:t>廠商品管人員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60604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155"/>
                </a:solidFill>
              </a:rPr>
              <a:t>依施工計畫書的自主檢查表，分「施工前／中／後」逐項檢查、量測、拍照、判定，完成後由兩位廠商人員手寫簽認並鎖定。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>
            <a:off x="4041648" y="3200400"/>
            <a:ext cx="219456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11" name="mech-card"/>
          <p:cNvSpPr/>
          <p:nvPr/>
        </p:nvSpPr>
        <p:spPr>
          <a:xfrm>
            <a:off x="4279392" y="1371600"/>
            <a:ext cx="3566160" cy="37947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mech-ic"/>
          <p:cNvSpPr/>
          <p:nvPr/>
        </p:nvSpPr>
        <p:spPr>
          <a:xfrm>
            <a:off x="4553712" y="1645920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53712" y="1645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5376672" y="1645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B5C"/>
                </a:solidFill>
              </a:rPr>
              <a:t>停留點會驗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376672" y="2057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廠商申請 → 工務所回覆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53712" y="260604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155"/>
                </a:solidFill>
              </a:rPr>
              <a:t>標示 ★ 的檢驗停留點，廠商判定合格後提出會驗申請，系統 Email 通知；工務所排定時間、到場會驗，合格才放行後續項目。</a:t>
            </a:r>
            <a:endParaRPr lang="en-US" sz="1400" dirty="0"/>
          </a:p>
        </p:txBody>
      </p:sp>
      <p:sp>
        <p:nvSpPr>
          <p:cNvPr id="17" name="arrow"/>
          <p:cNvSpPr/>
          <p:nvPr/>
        </p:nvSpPr>
        <p:spPr>
          <a:xfrm>
            <a:off x="7863840" y="3200400"/>
            <a:ext cx="219456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18" name="mech-card"/>
          <p:cNvSpPr/>
          <p:nvPr/>
        </p:nvSpPr>
        <p:spPr>
          <a:xfrm>
            <a:off x="8101584" y="1371600"/>
            <a:ext cx="3566160" cy="37947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mech-ic"/>
          <p:cNvSpPr/>
          <p:nvPr/>
        </p:nvSpPr>
        <p:spPr>
          <a:xfrm>
            <a:off x="8375904" y="1645920"/>
            <a:ext cx="685800" cy="68580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75904" y="1645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9198864" y="1645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B5C"/>
                </a:solidFill>
              </a:rPr>
              <a:t>品質抽查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198864" y="2057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</a:rPr>
              <a:t>捷運局工務所同仁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375904" y="260604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155"/>
                </a:solidFill>
              </a:rPr>
              <a:t>會驗時自動建立抽查紀錄並帶入廠商自檢數據；亦可隨機抽查。判定有缺失自動建立缺失追蹤，期限內改善後複查結案。</a:t>
            </a:r>
            <a:endParaRPr lang="en-US" sz="1400" dirty="0"/>
          </a:p>
        </p:txBody>
      </p:sp>
      <p:sp>
        <p:nvSpPr>
          <p:cNvPr id="24" name="mech-note"/>
          <p:cNvSpPr/>
          <p:nvPr/>
        </p:nvSpPr>
        <p:spPr>
          <a:xfrm>
            <a:off x="457200" y="5440680"/>
            <a:ext cx="1129284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5440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</a:rPr>
              <a:t>串接重點：</a:t>
            </a:r>
            <a:pPr indent="0" marL="0">
              <a:buNone/>
            </a:pPr>
            <a:r>
              <a:rPr lang="en-US" sz="1400" dirty="0">
                <a:solidFill>
                  <a:srgbClr val="78350F"/>
                </a:solidFill>
              </a:rPr>
              <a:t>停留點未放行，系統會鎖定後續檢查項目；抽查判定直接回寫自主檢查表的停留點狀態；任何「缺失」判定都自動進入缺失追蹤，不需另外登打。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兩個操作入口，共用同一份資料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後台給機關管理與查詢；現場作業給平板／手機在工地填寫，任一端寫入，另一端即時更新</a:t>
            </a:r>
            <a:endParaRPr lang="en-US" sz="1400" dirty="0"/>
          </a:p>
        </p:txBody>
      </p:sp>
      <p:sp>
        <p:nvSpPr>
          <p:cNvPr id="4" name="frame-arch-admin"/>
          <p:cNvSpPr/>
          <p:nvPr/>
        </p:nvSpPr>
        <p:spPr>
          <a:xfrm>
            <a:off x="457200" y="1325880"/>
            <a:ext cx="5394960" cy="3371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arch-admin" descr="img2/a01_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394960" cy="3371850"/>
          </a:xfrm>
          <a:prstGeom prst="rect">
            <a:avLst/>
          </a:prstGeom>
        </p:spPr>
      </p:pic>
      <p:sp>
        <p:nvSpPr>
          <p:cNvPr id="6" name="frame-arch-field"/>
          <p:cNvSpPr/>
          <p:nvPr/>
        </p:nvSpPr>
        <p:spPr>
          <a:xfrm>
            <a:off x="6336792" y="1325880"/>
            <a:ext cx="5394960" cy="3371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shot-arch-field" descr="img2/f01_todo_contracto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1325880"/>
            <a:ext cx="5394960" cy="33718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4800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B5C"/>
                </a:solidFill>
              </a:rPr>
              <a:t>後台管理（桌機）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5193792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查驗總覽、停留點會驗管理、自主檢查／抽查紀錄、缺失追蹤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標案與分項工程、表單範本（線上／PDF）、範本匯入、參考文件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帳號與權限、參數設定（會驗提前時數、回覆時限等）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6336792" y="4800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B5C"/>
                </a:solidFill>
              </a:rPr>
              <a:t>現場作業（平板／手機）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336792" y="5193792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今日待辦：會驗、抽查、缺失複查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自主檢查填寫、拍照、申請會驗、手寫簽認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抽查紀錄、PDF 下載鎖定／上傳簽名／憑證加簽</a:t>
            </a:r>
            <a:endParaRPr lang="en-US" sz="1300" dirty="0"/>
          </a:p>
        </p:txBody>
      </p:sp>
      <p:sp>
        <p:nvSpPr>
          <p:cNvPr id="12" name="sync"/>
          <p:cNvSpPr/>
          <p:nvPr/>
        </p:nvSpPr>
        <p:spPr>
          <a:xfrm>
            <a:off x="5623560" y="2606040"/>
            <a:ext cx="960120" cy="960120"/>
          </a:xfrm>
          <a:prstGeom prst="ellipse">
            <a:avLst/>
          </a:prstGeom>
          <a:solidFill>
            <a:srgbClr val="0B3B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623560" y="2606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即時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同步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表單填寫方式：「線上表單」或「空白範本（PDF）」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同一張自主檢查表／抽查紀錄表，在後台設定填寫方式（二選一）</a:t>
            </a:r>
            <a:endParaRPr lang="en-US" sz="1400" dirty="0"/>
          </a:p>
        </p:txBody>
      </p:sp>
      <p:sp>
        <p:nvSpPr>
          <p:cNvPr id="4" name="cmp"/>
          <p:cNvSpPr/>
          <p:nvPr/>
        </p:nvSpPr>
        <p:spPr>
          <a:xfrm>
            <a:off x="457200" y="1371600"/>
            <a:ext cx="5486400" cy="3337560"/>
          </a:xfrm>
          <a:prstGeom prst="roundRect">
            <a:avLst>
              <a:gd name="adj" fmla="val 2740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97D4"/>
                </a:solidFill>
              </a:rPr>
              <a:t>線上表單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平板上逐項判定 ○ ╳ 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數值輸入自動建議判定、必拍照檢核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支援檢驗停留點、會驗申請、項目鎖定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兩位人員在平板手寫簽認，產生內容雜湊後鎖定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適用：已結構化、要逐項追蹤的表單</a:t>
            </a:r>
            <a:endParaRPr lang="en-US" sz="1400" dirty="0"/>
          </a:p>
        </p:txBody>
      </p:sp>
      <p:sp>
        <p:nvSpPr>
          <p:cNvPr id="7" name="cmp"/>
          <p:cNvSpPr/>
          <p:nvPr/>
        </p:nvSpPr>
        <p:spPr>
          <a:xfrm>
            <a:off x="6172200" y="1371600"/>
            <a:ext cx="5486400" cy="3337560"/>
          </a:xfrm>
          <a:prstGeom prst="roundRect">
            <a:avLst>
              <a:gd name="adj" fmla="val 2740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508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</a:rPr>
              <a:t>空白範本 PDF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05740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後台上傳空白 PDF 範本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現場「下載並鎖定」→ 離線填寫並簽名 → 上傳 PDF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同一時間只有鎖定人能上傳，避免多人改到同一份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自然人憑證／行動自然人憑證（TW FidO）加簽結案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每一版成果檔與辦理軌跡都可下載追溯；無逐項判定與停留點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92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PDF 流程四步驟（貼近紙本作業習慣）</a:t>
            </a:r>
            <a:endParaRPr lang="en-US" sz="1500" dirty="0"/>
          </a:p>
        </p:txBody>
      </p:sp>
      <p:sp>
        <p:nvSpPr>
          <p:cNvPr id="11" name="box"/>
          <p:cNvSpPr/>
          <p:nvPr/>
        </p:nvSpPr>
        <p:spPr>
          <a:xfrm>
            <a:off x="457200" y="5349240"/>
            <a:ext cx="24688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0B3B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" y="534924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B5C"/>
                </a:solidFill>
              </a:rPr>
              <a:t>1．下載鎖定</a:t>
            </a:r>
            <a:endParaRPr lang="en-US" sz="1600" dirty="0"/>
          </a:p>
        </p:txBody>
      </p:sp>
      <p:sp>
        <p:nvSpPr>
          <p:cNvPr id="13" name="arrow"/>
          <p:cNvSpPr/>
          <p:nvPr/>
        </p:nvSpPr>
        <p:spPr>
          <a:xfrm>
            <a:off x="2944368" y="5715000"/>
            <a:ext cx="374904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14" name="box"/>
          <p:cNvSpPr/>
          <p:nvPr/>
        </p:nvSpPr>
        <p:spPr>
          <a:xfrm>
            <a:off x="3337560" y="5349240"/>
            <a:ext cx="24688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0B3B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74136" y="534924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B5C"/>
                </a:solidFill>
              </a:rPr>
              <a:t>2．上傳續填</a:t>
            </a:r>
            <a:endParaRPr lang="en-US" sz="1600" dirty="0"/>
          </a:p>
        </p:txBody>
      </p:sp>
      <p:sp>
        <p:nvSpPr>
          <p:cNvPr id="16" name="arrow"/>
          <p:cNvSpPr/>
          <p:nvPr/>
        </p:nvSpPr>
        <p:spPr>
          <a:xfrm>
            <a:off x="5824728" y="5715000"/>
            <a:ext cx="374904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17" name="box"/>
          <p:cNvSpPr/>
          <p:nvPr/>
        </p:nvSpPr>
        <p:spPr>
          <a:xfrm>
            <a:off x="6217920" y="5349240"/>
            <a:ext cx="24688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0B3B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54496" y="534924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B5C"/>
                </a:solidFill>
              </a:rPr>
              <a:t>3．現地手寫簽名</a:t>
            </a:r>
            <a:endParaRPr lang="en-US" sz="1600" dirty="0"/>
          </a:p>
        </p:txBody>
      </p:sp>
      <p:sp>
        <p:nvSpPr>
          <p:cNvPr id="19" name="arrow"/>
          <p:cNvSpPr/>
          <p:nvPr/>
        </p:nvSpPr>
        <p:spPr>
          <a:xfrm>
            <a:off x="8705088" y="5715000"/>
            <a:ext cx="374904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20" name="box"/>
          <p:cNvSpPr/>
          <p:nvPr/>
        </p:nvSpPr>
        <p:spPr>
          <a:xfrm>
            <a:off x="9098280" y="5349240"/>
            <a:ext cx="2468880" cy="731520"/>
          </a:xfrm>
          <a:prstGeom prst="roundRect">
            <a:avLst>
              <a:gd name="adj" fmla="val 8750"/>
            </a:avLst>
          </a:prstGeom>
          <a:solidFill>
            <a:srgbClr val="0B3B5C"/>
          </a:solidFill>
          <a:ln w="15875">
            <a:solidFill>
              <a:srgbClr val="0B3B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34856" y="534924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4．憑證加簽結案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no"/>
          <p:cNvSpPr/>
          <p:nvPr/>
        </p:nvSpPr>
        <p:spPr>
          <a:xfrm>
            <a:off x="731520" y="2697480"/>
            <a:ext cx="1005840" cy="10058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697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3B5C"/>
                </a:solidFill>
              </a:rPr>
              <a:t>02</a:t>
            </a:r>
            <a:endParaRPr lang="en-US" sz="3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03120" y="265176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角色與權限</a:t>
            </a:r>
            <a:endParaRPr lang="en-US" sz="3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361188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廠商 2 種、捷運局 3 種、另有逾時通知對象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系統角色與職責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分為施工廠商、捷運局工務所、系統管理三方，各角色登入後只看到自己可操作的功能</a:t>
            </a:r>
            <a:endParaRPr lang="en-US" sz="1400" dirty="0"/>
          </a:p>
        </p:txBody>
      </p:sp>
      <p:sp>
        <p:nvSpPr>
          <p:cNvPr id="4" name="role-card"/>
          <p:cNvSpPr/>
          <p:nvPr/>
        </p:nvSpPr>
        <p:spPr>
          <a:xfrm>
            <a:off x="457200" y="132588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role-ic"/>
          <p:cNvSpPr/>
          <p:nvPr/>
        </p:nvSpPr>
        <p:spPr>
          <a:xfrm>
            <a:off x="658368" y="1527048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527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系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904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B5C"/>
                </a:solidFill>
              </a:rPr>
              <a:t>系統管理員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　工程處</a:t>
            </a:r>
            <a:endParaRPr lang="en-US" sz="1700" dirty="0"/>
          </a:p>
        </p:txBody>
      </p:sp>
      <p:sp>
        <p:nvSpPr>
          <p:cNvPr id="8" name="role-tag"/>
          <p:cNvSpPr/>
          <p:nvPr/>
        </p:nvSpPr>
        <p:spPr>
          <a:xfrm>
            <a:off x="4892040" y="1545336"/>
            <a:ext cx="868680" cy="292608"/>
          </a:xfrm>
          <a:prstGeom prst="roundRect">
            <a:avLst>
              <a:gd name="adj" fmla="val 46875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54533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97D4"/>
                </a:solidFill>
              </a:rPr>
              <a:t>後台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892808"/>
            <a:ext cx="4434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維護標案與分項工程、表單範本（線上／PDF）、範本匯入、參考文件、帳號與參數；監看查驗總覽。</a:t>
            </a:r>
            <a:endParaRPr lang="en-US" sz="1200" dirty="0"/>
          </a:p>
        </p:txBody>
      </p:sp>
      <p:sp>
        <p:nvSpPr>
          <p:cNvPr id="11" name="role-card"/>
          <p:cNvSpPr/>
          <p:nvPr/>
        </p:nvSpPr>
        <p:spPr>
          <a:xfrm>
            <a:off x="6172200" y="132588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role-ic"/>
          <p:cNvSpPr/>
          <p:nvPr/>
        </p:nvSpPr>
        <p:spPr>
          <a:xfrm>
            <a:off x="6373368" y="1527048"/>
            <a:ext cx="566928" cy="566928"/>
          </a:xfrm>
          <a:prstGeom prst="ellipse">
            <a:avLst/>
          </a:prstGeom>
          <a:solidFill>
            <a:srgbClr val="1497D4"/>
          </a:solidFill>
          <a:ln w="12700">
            <a:solidFill>
              <a:srgbClr val="1497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73368" y="1527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廠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14904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B5C"/>
                </a:solidFill>
              </a:rPr>
              <a:t>廠商品管人員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　施工廠商（現場工程師）</a:t>
            </a:r>
            <a:endParaRPr lang="en-US" sz="1700" dirty="0"/>
          </a:p>
        </p:txBody>
      </p:sp>
      <p:sp>
        <p:nvSpPr>
          <p:cNvPr id="15" name="role-tag"/>
          <p:cNvSpPr/>
          <p:nvPr/>
        </p:nvSpPr>
        <p:spPr>
          <a:xfrm>
            <a:off x="10607040" y="1545336"/>
            <a:ext cx="868680" cy="292608"/>
          </a:xfrm>
          <a:prstGeom prst="roundRect">
            <a:avLst>
              <a:gd name="adj" fmla="val 46875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07040" y="154533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97D4"/>
                </a:solidFill>
              </a:rPr>
              <a:t>現場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1892808"/>
            <a:ext cx="4434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建立與填寫自主檢查表、拍照、申請停留點會驗、第一位簽認；PDF 表單下載鎖定、上傳簽名、憑證加簽結案；抽查 PDF 上傳廠商簽名；回報缺失改善。</a:t>
            </a:r>
            <a:endParaRPr lang="en-US" sz="1200" dirty="0"/>
          </a:p>
        </p:txBody>
      </p:sp>
      <p:sp>
        <p:nvSpPr>
          <p:cNvPr id="18" name="role-card"/>
          <p:cNvSpPr/>
          <p:nvPr/>
        </p:nvSpPr>
        <p:spPr>
          <a:xfrm>
            <a:off x="457200" y="301752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role-ic"/>
          <p:cNvSpPr/>
          <p:nvPr/>
        </p:nvSpPr>
        <p:spPr>
          <a:xfrm>
            <a:off x="658368" y="3218688"/>
            <a:ext cx="566928" cy="566928"/>
          </a:xfrm>
          <a:prstGeom prst="ellipse">
            <a:avLst/>
          </a:prstGeom>
          <a:solidFill>
            <a:srgbClr val="1497D4"/>
          </a:solidFill>
          <a:ln w="12700">
            <a:solidFill>
              <a:srgbClr val="1497D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3218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工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31821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B5C"/>
                </a:solidFill>
              </a:rPr>
              <a:t>工地授權代表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　施工廠商（工地主任）</a:t>
            </a:r>
            <a:endParaRPr lang="en-US" sz="1700" dirty="0"/>
          </a:p>
        </p:txBody>
      </p:sp>
      <p:sp>
        <p:nvSpPr>
          <p:cNvPr id="22" name="role-tag"/>
          <p:cNvSpPr/>
          <p:nvPr/>
        </p:nvSpPr>
        <p:spPr>
          <a:xfrm>
            <a:off x="4892040" y="3236976"/>
            <a:ext cx="868680" cy="292608"/>
          </a:xfrm>
          <a:prstGeom prst="roundRect">
            <a:avLst>
              <a:gd name="adj" fmla="val 46875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92040" y="323697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97D4"/>
                </a:solidFill>
              </a:rPr>
              <a:t>現場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3584448"/>
            <a:ext cx="4434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自主檢查表第二位簽認（工地授權代表或其授權主管），簽完表單即鎖定。</a:t>
            </a:r>
            <a:endParaRPr lang="en-US" sz="1200" dirty="0"/>
          </a:p>
        </p:txBody>
      </p:sp>
      <p:sp>
        <p:nvSpPr>
          <p:cNvPr id="25" name="role-card"/>
          <p:cNvSpPr/>
          <p:nvPr/>
        </p:nvSpPr>
        <p:spPr>
          <a:xfrm>
            <a:off x="6172200" y="301752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6" name="role-ic"/>
          <p:cNvSpPr/>
          <p:nvPr/>
        </p:nvSpPr>
        <p:spPr>
          <a:xfrm>
            <a:off x="6373368" y="3218688"/>
            <a:ext cx="566928" cy="56692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73368" y="3218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捷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31821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B5C"/>
                </a:solidFill>
              </a:rPr>
              <a:t>捷運局工務所同仁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　監造／抽查人員</a:t>
            </a:r>
            <a:endParaRPr lang="en-US" sz="1700" dirty="0"/>
          </a:p>
        </p:txBody>
      </p:sp>
      <p:sp>
        <p:nvSpPr>
          <p:cNvPr id="29" name="role-tag"/>
          <p:cNvSpPr/>
          <p:nvPr/>
        </p:nvSpPr>
        <p:spPr>
          <a:xfrm>
            <a:off x="10607040" y="3236976"/>
            <a:ext cx="868680" cy="292608"/>
          </a:xfrm>
          <a:prstGeom prst="roundRect">
            <a:avLst>
              <a:gd name="adj" fmla="val 46875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607040" y="323697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97D4"/>
                </a:solidFill>
              </a:rPr>
              <a:t>現場＋後台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086600" y="3584448"/>
            <a:ext cx="4434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回覆會驗申請（排定、改期、退回）、到場會驗、隨機抽查、判定並簽認；PDF 抽查表上傳簽名並選擇下一關；缺失複查結案。自主檢查表僅能檢視。</a:t>
            </a:r>
            <a:endParaRPr lang="en-US" sz="1200" dirty="0"/>
          </a:p>
        </p:txBody>
      </p:sp>
      <p:sp>
        <p:nvSpPr>
          <p:cNvPr id="32" name="role-card"/>
          <p:cNvSpPr/>
          <p:nvPr/>
        </p:nvSpPr>
        <p:spPr>
          <a:xfrm>
            <a:off x="457200" y="470916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3" name="role-ic"/>
          <p:cNvSpPr/>
          <p:nvPr/>
        </p:nvSpPr>
        <p:spPr>
          <a:xfrm>
            <a:off x="658368" y="4910328"/>
            <a:ext cx="566928" cy="56692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8368" y="4910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捷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1371600" y="48737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B5C"/>
                </a:solidFill>
              </a:rPr>
              <a:t>捷運局工務所主任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　工務所主管</a:t>
            </a:r>
            <a:endParaRPr lang="en-US" sz="1700" dirty="0"/>
          </a:p>
        </p:txBody>
      </p:sp>
      <p:sp>
        <p:nvSpPr>
          <p:cNvPr id="36" name="role-tag"/>
          <p:cNvSpPr/>
          <p:nvPr/>
        </p:nvSpPr>
        <p:spPr>
          <a:xfrm>
            <a:off x="4892040" y="4928616"/>
            <a:ext cx="868680" cy="292608"/>
          </a:xfrm>
          <a:prstGeom prst="roundRect">
            <a:avLst>
              <a:gd name="adj" fmla="val 46875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892040" y="492861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97D4"/>
                </a:solidFill>
              </a:rPr>
              <a:t>現場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1371600" y="5276088"/>
            <a:ext cx="4434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PDF 抽查紀錄表的最後一關：以自然人憑證或行動自然人憑證加簽結案。</a:t>
            </a:r>
            <a:endParaRPr lang="en-US" sz="1200" dirty="0"/>
          </a:p>
        </p:txBody>
      </p:sp>
      <p:sp>
        <p:nvSpPr>
          <p:cNvPr id="39" name="role-card"/>
          <p:cNvSpPr/>
          <p:nvPr/>
        </p:nvSpPr>
        <p:spPr>
          <a:xfrm>
            <a:off x="6172200" y="470916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0" name="role-ic"/>
          <p:cNvSpPr/>
          <p:nvPr/>
        </p:nvSpPr>
        <p:spPr>
          <a:xfrm>
            <a:off x="6373368" y="4910328"/>
            <a:ext cx="566928" cy="5669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73368" y="4910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工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7086600" y="48737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B5C"/>
                </a:solidFill>
              </a:rPr>
              <a:t>工程處主管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　主任工程司（通知對象）</a:t>
            </a:r>
            <a:endParaRPr lang="en-US" sz="1700" dirty="0"/>
          </a:p>
        </p:txBody>
      </p:sp>
      <p:sp>
        <p:nvSpPr>
          <p:cNvPr id="43" name="role-tag"/>
          <p:cNvSpPr/>
          <p:nvPr/>
        </p:nvSpPr>
        <p:spPr>
          <a:xfrm>
            <a:off x="10607040" y="4928616"/>
            <a:ext cx="868680" cy="292608"/>
          </a:xfrm>
          <a:prstGeom prst="roundRect">
            <a:avLst>
              <a:gd name="adj" fmla="val 46875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607040" y="492861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97D4"/>
                </a:solidFill>
              </a:rPr>
              <a:t>Email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7086600" y="5276088"/>
            <a:ext cx="4434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工務所逾 8 小時未回覆會驗申請時，系統寄出逾時提醒並往上通知主管。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角色 × 功能權限一覽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● 可操作　○ 僅檢視　— 不適用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92840" cy="914400"/>
        </p:xfrm>
        <a:graphic>
          <a:graphicData uri="http://schemas.openxmlformats.org/drawingml/2006/table">
            <a:tbl>
              <a:tblPr/>
              <a:tblGrid>
                <a:gridCol w="3977640"/>
                <a:gridCol w="1463040"/>
                <a:gridCol w="1463040"/>
                <a:gridCol w="1463040"/>
                <a:gridCol w="146304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功能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系統管理員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廠商品管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工地授權代表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工務所同仁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工務所主任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標案／分項工程、表單範本、範本匯入、帳號參數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新增並填寫自主檢查表（線上）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自主檢查表手寫簽認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 第 1 位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 第 2 位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申請停留點會驗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回覆會驗（排定／改期／退回）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●（後台）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會驗抽查、隨機抽查、抽查判定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抽查紀錄手寫簽認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 隨同人員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 抽查人員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自主檢查 PDF：下載鎖定／上傳簽名／憑證加簽結案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抽查 PDF：下載鎖定／上傳簽名／選下一關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抽查 PDF：上傳廠商簽名版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抽查 PDF：主任加簽結案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取消會驗（檢驗中，須填原因）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●（後台）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缺失：回報改善（說明＋照片）／複查結案或退回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 複查（後台）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 回報改善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 複查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 複查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no"/>
          <p:cNvSpPr/>
          <p:nvPr/>
        </p:nvSpPr>
        <p:spPr>
          <a:xfrm>
            <a:off x="731520" y="2697480"/>
            <a:ext cx="1005840" cy="10058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697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3B5C"/>
                </a:solidFill>
              </a:rPr>
              <a:t>03</a:t>
            </a:r>
            <a:endParaRPr lang="en-US" sz="3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03120" y="265176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業務流程</a:t>
            </a:r>
            <a:endParaRPr lang="en-US" sz="3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361188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先看全貌，再分別說明自主檢查、會驗、抽查、缺失與 PDF 流程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全流程總覽（泳道圖）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以「連續壁單元 P12」為例：從後台建範本，到現場自主檢查、會驗放行、簽認鎖定</a:t>
            </a:r>
            <a:endParaRPr lang="en-US" sz="1400" dirty="0"/>
          </a:p>
        </p:txBody>
      </p:sp>
      <p:sp>
        <p:nvSpPr>
          <p:cNvPr id="4" name="lane"/>
          <p:cNvSpPr/>
          <p:nvPr/>
        </p:nvSpPr>
        <p:spPr>
          <a:xfrm>
            <a:off x="411480" y="1280160"/>
            <a:ext cx="11384280" cy="12161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lane-label"/>
          <p:cNvSpPr/>
          <p:nvPr/>
        </p:nvSpPr>
        <p:spPr>
          <a:xfrm>
            <a:off x="411480" y="1280160"/>
            <a:ext cx="1234440" cy="1216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280160"/>
            <a:ext cx="12344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系統管理員</a:t>
            </a:r>
            <a:endParaRPr lang="en-US" sz="1300" dirty="0"/>
          </a:p>
        </p:txBody>
      </p:sp>
      <p:sp>
        <p:nvSpPr>
          <p:cNvPr id="7" name="lane"/>
          <p:cNvSpPr/>
          <p:nvPr/>
        </p:nvSpPr>
        <p:spPr>
          <a:xfrm>
            <a:off x="411480" y="2496312"/>
            <a:ext cx="1138428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lane-label"/>
          <p:cNvSpPr/>
          <p:nvPr/>
        </p:nvSpPr>
        <p:spPr>
          <a:xfrm>
            <a:off x="411480" y="2496312"/>
            <a:ext cx="1234440" cy="1216152"/>
          </a:xfrm>
          <a:prstGeom prst="rect">
            <a:avLst/>
          </a:prstGeom>
          <a:solidFill>
            <a:srgbClr val="1497D4"/>
          </a:solidFill>
          <a:ln w="12700">
            <a:solidFill>
              <a:srgbClr val="1497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" y="2496312"/>
            <a:ext cx="12344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廠商</a:t>
            </a:r>
            <a:endParaRPr lang="en-US" sz="1300" dirty="0"/>
          </a:p>
        </p:txBody>
      </p:sp>
      <p:sp>
        <p:nvSpPr>
          <p:cNvPr id="10" name="lane"/>
          <p:cNvSpPr/>
          <p:nvPr/>
        </p:nvSpPr>
        <p:spPr>
          <a:xfrm>
            <a:off x="411480" y="3712464"/>
            <a:ext cx="11384280" cy="12161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lane-label"/>
          <p:cNvSpPr/>
          <p:nvPr/>
        </p:nvSpPr>
        <p:spPr>
          <a:xfrm>
            <a:off x="411480" y="3712464"/>
            <a:ext cx="1234440" cy="12161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" y="3712464"/>
            <a:ext cx="12344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工務所同仁</a:t>
            </a:r>
            <a:endParaRPr lang="en-US" sz="1300" dirty="0"/>
          </a:p>
        </p:txBody>
      </p:sp>
      <p:sp>
        <p:nvSpPr>
          <p:cNvPr id="13" name="lane"/>
          <p:cNvSpPr/>
          <p:nvPr/>
        </p:nvSpPr>
        <p:spPr>
          <a:xfrm>
            <a:off x="411480" y="4928616"/>
            <a:ext cx="1138428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lane-label"/>
          <p:cNvSpPr/>
          <p:nvPr/>
        </p:nvSpPr>
        <p:spPr>
          <a:xfrm>
            <a:off x="411480" y="4928616"/>
            <a:ext cx="1234440" cy="1216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4928616"/>
            <a:ext cx="12344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工務所主任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／主管</a:t>
            </a:r>
            <a:endParaRPr lang="en-US" sz="1300" dirty="0"/>
          </a:p>
        </p:txBody>
      </p:sp>
      <p:sp>
        <p:nvSpPr>
          <p:cNvPr id="16" name="box"/>
          <p:cNvSpPr/>
          <p:nvPr/>
        </p:nvSpPr>
        <p:spPr>
          <a:xfrm>
            <a:off x="1755648" y="1522476"/>
            <a:ext cx="9144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792224" y="1522476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①建立標案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分項工程</a:t>
            </a:r>
            <a:endParaRPr lang="en-US" sz="1000" dirty="0"/>
          </a:p>
        </p:txBody>
      </p:sp>
      <p:sp>
        <p:nvSpPr>
          <p:cNvPr id="18" name="box"/>
          <p:cNvSpPr/>
          <p:nvPr/>
        </p:nvSpPr>
        <p:spPr>
          <a:xfrm>
            <a:off x="2756916" y="1522476"/>
            <a:ext cx="9144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93492" y="1522476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②建立範本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線上／PDF</a:t>
            </a:r>
            <a:endParaRPr lang="en-US" sz="1000" dirty="0"/>
          </a:p>
        </p:txBody>
      </p:sp>
      <p:sp>
        <p:nvSpPr>
          <p:cNvPr id="20" name="box"/>
          <p:cNvSpPr/>
          <p:nvPr/>
        </p:nvSpPr>
        <p:spPr>
          <a:xfrm>
            <a:off x="3758184" y="2738628"/>
            <a:ext cx="9144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1497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94760" y="2738628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③新增自檢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掃單元 QR</a:t>
            </a:r>
            <a:endParaRPr lang="en-US" sz="1000" dirty="0"/>
          </a:p>
        </p:txBody>
      </p:sp>
      <p:sp>
        <p:nvSpPr>
          <p:cNvPr id="22" name="box"/>
          <p:cNvSpPr/>
          <p:nvPr/>
        </p:nvSpPr>
        <p:spPr>
          <a:xfrm>
            <a:off x="4759452" y="2738628"/>
            <a:ext cx="9144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1497D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96028" y="2738628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④逐項檢查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量測・拍照</a:t>
            </a:r>
            <a:endParaRPr lang="en-US" sz="1000" dirty="0"/>
          </a:p>
        </p:txBody>
      </p:sp>
      <p:sp>
        <p:nvSpPr>
          <p:cNvPr id="24" name="box"/>
          <p:cNvSpPr/>
          <p:nvPr/>
        </p:nvSpPr>
        <p:spPr>
          <a:xfrm>
            <a:off x="5760720" y="2738628"/>
            <a:ext cx="9144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1497D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797296" y="2738628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⑤停留點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申請會驗</a:t>
            </a:r>
            <a:endParaRPr lang="en-US" sz="1000" dirty="0"/>
          </a:p>
        </p:txBody>
      </p:sp>
      <p:sp>
        <p:nvSpPr>
          <p:cNvPr id="26" name="box"/>
          <p:cNvSpPr/>
          <p:nvPr/>
        </p:nvSpPr>
        <p:spPr>
          <a:xfrm>
            <a:off x="6761988" y="3954780"/>
            <a:ext cx="9144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98564" y="3954780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⑥8 小時內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排定／退回</a:t>
            </a:r>
            <a:endParaRPr lang="en-US" sz="1000" dirty="0"/>
          </a:p>
        </p:txBody>
      </p:sp>
      <p:sp>
        <p:nvSpPr>
          <p:cNvPr id="28" name="box"/>
          <p:cNvSpPr/>
          <p:nvPr/>
        </p:nvSpPr>
        <p:spPr>
          <a:xfrm>
            <a:off x="7763256" y="3954780"/>
            <a:ext cx="9144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99832" y="3954780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⑦到場會驗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抽查・簽認</a:t>
            </a:r>
            <a:endParaRPr lang="en-US" sz="1000" dirty="0"/>
          </a:p>
        </p:txBody>
      </p:sp>
      <p:sp>
        <p:nvSpPr>
          <p:cNvPr id="30" name="box"/>
          <p:cNvSpPr/>
          <p:nvPr/>
        </p:nvSpPr>
        <p:spPr>
          <a:xfrm>
            <a:off x="8764524" y="2738628"/>
            <a:ext cx="9144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1497D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801100" y="2738628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⑧放行後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續填後續項目</a:t>
            </a:r>
            <a:endParaRPr lang="en-US" sz="1000" dirty="0"/>
          </a:p>
        </p:txBody>
      </p:sp>
      <p:sp>
        <p:nvSpPr>
          <p:cNvPr id="32" name="box"/>
          <p:cNvSpPr/>
          <p:nvPr/>
        </p:nvSpPr>
        <p:spPr>
          <a:xfrm>
            <a:off x="9765792" y="2738628"/>
            <a:ext cx="9144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1497D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802368" y="2738628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⑨停留點全放行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兩人簽認鎖定</a:t>
            </a:r>
            <a:endParaRPr lang="en-US" sz="1000" dirty="0"/>
          </a:p>
        </p:txBody>
      </p:sp>
      <p:sp>
        <p:nvSpPr>
          <p:cNvPr id="34" name="box"/>
          <p:cNvSpPr/>
          <p:nvPr/>
        </p:nvSpPr>
        <p:spPr>
          <a:xfrm>
            <a:off x="10767060" y="2738628"/>
            <a:ext cx="9144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1497D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803636" y="2738628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⑪改善回報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說明＋照片</a:t>
            </a:r>
            <a:endParaRPr lang="en-US" sz="1000" dirty="0"/>
          </a:p>
        </p:txBody>
      </p:sp>
      <p:sp>
        <p:nvSpPr>
          <p:cNvPr id="36" name="box"/>
          <p:cNvSpPr/>
          <p:nvPr/>
        </p:nvSpPr>
        <p:spPr>
          <a:xfrm>
            <a:off x="10767060" y="3954780"/>
            <a:ext cx="9144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803636" y="3954780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⑫複查結案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或退回改善</a:t>
            </a:r>
            <a:endParaRPr lang="en-US" sz="1000" dirty="0"/>
          </a:p>
        </p:txBody>
      </p:sp>
      <p:sp>
        <p:nvSpPr>
          <p:cNvPr id="38" name="box"/>
          <p:cNvSpPr/>
          <p:nvPr/>
        </p:nvSpPr>
        <p:spPr>
          <a:xfrm>
            <a:off x="8764524" y="3954780"/>
            <a:ext cx="9144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801100" y="3954780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1C1C"/>
                </a:solidFill>
              </a:rPr>
              <a:t>⑩有缺失→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B91C1C"/>
                </a:solidFill>
              </a:rPr>
              <a:t>自動建缺失</a:t>
            </a:r>
            <a:endParaRPr lang="en-US" sz="1000" dirty="0"/>
          </a:p>
        </p:txBody>
      </p:sp>
      <p:sp>
        <p:nvSpPr>
          <p:cNvPr id="40" name="box"/>
          <p:cNvSpPr/>
          <p:nvPr/>
        </p:nvSpPr>
        <p:spPr>
          <a:xfrm>
            <a:off x="6761988" y="5170932"/>
            <a:ext cx="9144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F59E0B"/>
            </a:solidFill>
            <a:prstDash val="dash"/>
          </a:ln>
        </p:spPr>
      </p:sp>
      <p:sp>
        <p:nvSpPr>
          <p:cNvPr id="41" name="Text 39"/>
          <p:cNvSpPr txBox="1"/>
          <p:nvPr/>
        </p:nvSpPr>
        <p:spPr>
          <a:xfrm>
            <a:off x="6798564" y="5170932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逾時未回覆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通知主管</a:t>
            </a:r>
            <a:endParaRPr lang="en-US" sz="1000" dirty="0"/>
          </a:p>
        </p:txBody>
      </p:sp>
      <p:sp>
        <p:nvSpPr>
          <p:cNvPr id="42" name="box"/>
          <p:cNvSpPr/>
          <p:nvPr/>
        </p:nvSpPr>
        <p:spPr>
          <a:xfrm>
            <a:off x="8764524" y="5170932"/>
            <a:ext cx="9144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801100" y="5170932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PDF 抽查表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主任憑證加簽</a:t>
            </a:r>
            <a:endParaRPr lang="en-US" sz="1000" dirty="0"/>
          </a:p>
        </p:txBody>
      </p:sp>
      <p:sp>
        <p:nvSpPr>
          <p:cNvPr id="44" name="arrow"/>
          <p:cNvSpPr/>
          <p:nvPr/>
        </p:nvSpPr>
        <p:spPr>
          <a:xfrm>
            <a:off x="2670048" y="1888236"/>
            <a:ext cx="86868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5" name="arrow"/>
          <p:cNvSpPr/>
          <p:nvPr/>
        </p:nvSpPr>
        <p:spPr>
          <a:xfrm>
            <a:off x="3214116" y="2253996"/>
            <a:ext cx="1001268" cy="48463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6" name="arrow"/>
          <p:cNvSpPr/>
          <p:nvPr/>
        </p:nvSpPr>
        <p:spPr>
          <a:xfrm>
            <a:off x="4672584" y="3104388"/>
            <a:ext cx="86868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7" name="arrow"/>
          <p:cNvSpPr/>
          <p:nvPr/>
        </p:nvSpPr>
        <p:spPr>
          <a:xfrm>
            <a:off x="5673852" y="3104388"/>
            <a:ext cx="86868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8" name="arrow"/>
          <p:cNvSpPr/>
          <p:nvPr/>
        </p:nvSpPr>
        <p:spPr>
          <a:xfrm>
            <a:off x="6217920" y="3470148"/>
            <a:ext cx="1001268" cy="48463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9" name="arrow"/>
          <p:cNvSpPr/>
          <p:nvPr/>
        </p:nvSpPr>
        <p:spPr>
          <a:xfrm>
            <a:off x="7676388" y="4320540"/>
            <a:ext cx="86868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50" name="arrow"/>
          <p:cNvSpPr/>
          <p:nvPr/>
        </p:nvSpPr>
        <p:spPr>
          <a:xfrm flipV="1">
            <a:off x="8220456" y="3470148"/>
            <a:ext cx="1001268" cy="484632"/>
          </a:xfrm>
          <a:prstGeom prst="line">
            <a:avLst/>
          </a:prstGeom>
          <a:noFill/>
          <a:ln w="1905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51" name="arrow"/>
          <p:cNvSpPr/>
          <p:nvPr/>
        </p:nvSpPr>
        <p:spPr>
          <a:xfrm>
            <a:off x="9678924" y="3104388"/>
            <a:ext cx="86868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52" name="arrow"/>
          <p:cNvSpPr/>
          <p:nvPr/>
        </p:nvSpPr>
        <p:spPr>
          <a:xfrm>
            <a:off x="8677656" y="4320540"/>
            <a:ext cx="86868" cy="914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  <a:tailEnd type="triangle"/>
          </a:ln>
        </p:spPr>
      </p:sp>
      <p:sp>
        <p:nvSpPr>
          <p:cNvPr id="53" name="arrow"/>
          <p:cNvSpPr/>
          <p:nvPr/>
        </p:nvSpPr>
        <p:spPr>
          <a:xfrm flipV="1">
            <a:off x="9678924" y="3424428"/>
            <a:ext cx="1088136" cy="640080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  <a:tailEnd type="triangle"/>
          </a:ln>
        </p:spPr>
      </p:sp>
      <p:sp>
        <p:nvSpPr>
          <p:cNvPr id="54" name="arrow"/>
          <p:cNvSpPr/>
          <p:nvPr/>
        </p:nvSpPr>
        <p:spPr>
          <a:xfrm>
            <a:off x="11224260" y="3470148"/>
            <a:ext cx="914" cy="484632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  <a:tailEnd type="triangle"/>
          </a:ln>
        </p:spPr>
      </p:sp>
      <p:sp>
        <p:nvSpPr>
          <p:cNvPr id="55" name="arrow"/>
          <p:cNvSpPr/>
          <p:nvPr/>
        </p:nvSpPr>
        <p:spPr>
          <a:xfrm>
            <a:off x="7219188" y="4686300"/>
            <a:ext cx="914" cy="484632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  <a:tailEnd type="triangle"/>
          </a:ln>
        </p:spPr>
      </p:sp>
      <p:sp>
        <p:nvSpPr>
          <p:cNvPr id="56" name="arrow"/>
          <p:cNvSpPr/>
          <p:nvPr/>
        </p:nvSpPr>
        <p:spPr>
          <a:xfrm>
            <a:off x="8220456" y="4686300"/>
            <a:ext cx="1001268" cy="484632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  <a:tailEnd type="triangle"/>
          </a:ln>
        </p:spPr>
      </p:sp>
      <p:sp>
        <p:nvSpPr>
          <p:cNvPr id="57" name="Text 55"/>
          <p:cNvSpPr txBox="1"/>
          <p:nvPr/>
        </p:nvSpPr>
        <p:spPr>
          <a:xfrm>
            <a:off x="8037576" y="348843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合格放行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6263640" y="35158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未放行→後續鎖定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流程 A：自主檢查表（線上表單）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由廠商在平板逐項填寫；系統用規則把關，避免跳項、漏拍、未放行先施作</a:t>
            </a:r>
            <a:endParaRPr lang="en-US" sz="1400" dirty="0"/>
          </a:p>
        </p:txBody>
      </p:sp>
      <p:sp>
        <p:nvSpPr>
          <p:cNvPr id="4" name="chain"/>
          <p:cNvSpPr/>
          <p:nvPr/>
        </p:nvSpPr>
        <p:spPr>
          <a:xfrm>
            <a:off x="457200" y="1417320"/>
            <a:ext cx="2053742" cy="868680"/>
          </a:xfrm>
          <a:prstGeom prst="roundRect">
            <a:avLst>
              <a:gd name="adj" fmla="val 8421"/>
            </a:avLst>
          </a:prstGeom>
          <a:solidFill>
            <a:srgbClr val="0B3B5C"/>
          </a:solidFill>
          <a:ln w="12700">
            <a:solidFill>
              <a:srgbClr val="0B3B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" y="1417320"/>
            <a:ext cx="19074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廠商品管</a:t>
            </a:r>
            <a:endParaRPr lang="en-US" sz="10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新增自主檢查</a:t>
            </a:r>
            <a:endParaRPr lang="en-US" sz="1050" dirty="0"/>
          </a:p>
        </p:txBody>
      </p:sp>
      <p:sp>
        <p:nvSpPr>
          <p:cNvPr id="6" name="arrow"/>
          <p:cNvSpPr/>
          <p:nvPr/>
        </p:nvSpPr>
        <p:spPr>
          <a:xfrm>
            <a:off x="2529230" y="1851660"/>
            <a:ext cx="219456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475488" y="2441448"/>
            <a:ext cx="20354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選標案 → 工項 → 表單，輸入或掃描單元 QR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同單元已有填寫中的同一張表，直接開啟，不重複建立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開工前確認：位置、施工圖文號、前置子表單</a:t>
            </a:r>
            <a:endParaRPr lang="en-US" sz="1200" dirty="0"/>
          </a:p>
        </p:txBody>
      </p:sp>
      <p:sp>
        <p:nvSpPr>
          <p:cNvPr id="8" name="chain"/>
          <p:cNvSpPr/>
          <p:nvPr/>
        </p:nvSpPr>
        <p:spPr>
          <a:xfrm>
            <a:off x="2766974" y="1417320"/>
            <a:ext cx="2053742" cy="868680"/>
          </a:xfrm>
          <a:prstGeom prst="roundRect">
            <a:avLst>
              <a:gd name="adj" fmla="val 8421"/>
            </a:avLst>
          </a:prstGeom>
          <a:solidFill>
            <a:srgbClr val="0B3B5C"/>
          </a:solidFill>
          <a:ln w="12700">
            <a:solidFill>
              <a:srgbClr val="0B3B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40126" y="1417320"/>
            <a:ext cx="19074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廠商品管</a:t>
            </a:r>
            <a:endParaRPr lang="en-US" sz="10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分階段逐項檢查</a:t>
            </a:r>
            <a:endParaRPr lang="en-US" sz="1050" dirty="0"/>
          </a:p>
        </p:txBody>
      </p:sp>
      <p:sp>
        <p:nvSpPr>
          <p:cNvPr id="10" name="arrow"/>
          <p:cNvSpPr/>
          <p:nvPr/>
        </p:nvSpPr>
        <p:spPr>
          <a:xfrm>
            <a:off x="4839005" y="1851660"/>
            <a:ext cx="219456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785262" y="2441448"/>
            <a:ext cx="20354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施工前 → 施工中 → 施工後，前一階段完成才開放下一階段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數值欄位自動比對容許範圍，建議 ○ 或 ╳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必拍照項目未拍照不能判 ○</a:t>
            </a:r>
            <a:endParaRPr lang="en-US" sz="1200" dirty="0"/>
          </a:p>
        </p:txBody>
      </p:sp>
      <p:sp>
        <p:nvSpPr>
          <p:cNvPr id="12" name="chain"/>
          <p:cNvSpPr/>
          <p:nvPr/>
        </p:nvSpPr>
        <p:spPr>
          <a:xfrm>
            <a:off x="5076749" y="1417320"/>
            <a:ext cx="2053742" cy="868680"/>
          </a:xfrm>
          <a:prstGeom prst="roundRect">
            <a:avLst>
              <a:gd name="adj" fmla="val 8421"/>
            </a:avLst>
          </a:prstGeom>
          <a:solidFill>
            <a:srgbClr val="0B3B5C"/>
          </a:solidFill>
          <a:ln w="12700">
            <a:solidFill>
              <a:srgbClr val="0B3B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49901" y="1417320"/>
            <a:ext cx="19074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廠商品管</a:t>
            </a:r>
            <a:endParaRPr lang="en-US" sz="10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遇 ★ 停留點</a:t>
            </a:r>
            <a:endParaRPr lang="en-US" sz="1050" dirty="0"/>
          </a:p>
        </p:txBody>
      </p:sp>
      <p:sp>
        <p:nvSpPr>
          <p:cNvPr id="14" name="arrow"/>
          <p:cNvSpPr/>
          <p:nvPr/>
        </p:nvSpPr>
        <p:spPr>
          <a:xfrm>
            <a:off x="7148779" y="1851660"/>
            <a:ext cx="219456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095037" y="2441448"/>
            <a:ext cx="20354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判 ○ 後按「申請會驗」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未放行前，後面項目全部鎖定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判 ╳ 立即建立缺失；改善後重新判 ○ 再申請</a:t>
            </a:r>
            <a:endParaRPr lang="en-US" sz="1200" dirty="0"/>
          </a:p>
        </p:txBody>
      </p:sp>
      <p:sp>
        <p:nvSpPr>
          <p:cNvPr id="16" name="chain"/>
          <p:cNvSpPr/>
          <p:nvPr/>
        </p:nvSpPr>
        <p:spPr>
          <a:xfrm>
            <a:off x="7386523" y="1417320"/>
            <a:ext cx="2053742" cy="868680"/>
          </a:xfrm>
          <a:prstGeom prst="roundRect">
            <a:avLst>
              <a:gd name="adj" fmla="val 8421"/>
            </a:avLst>
          </a:prstGeom>
          <a:solidFill>
            <a:srgbClr val="0B3B5C"/>
          </a:solidFill>
          <a:ln w="12700">
            <a:solidFill>
              <a:srgbClr val="0B3B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59675" y="1417320"/>
            <a:ext cx="19074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廠商品管</a:t>
            </a:r>
            <a:endParaRPr lang="en-US" sz="10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送出前總覽</a:t>
            </a:r>
            <a:endParaRPr lang="en-US" sz="1050" dirty="0"/>
          </a:p>
        </p:txBody>
      </p:sp>
      <p:sp>
        <p:nvSpPr>
          <p:cNvPr id="18" name="arrow"/>
          <p:cNvSpPr/>
          <p:nvPr/>
        </p:nvSpPr>
        <p:spPr>
          <a:xfrm>
            <a:off x="9458554" y="1851660"/>
            <a:ext cx="219456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7404811" y="2441448"/>
            <a:ext cx="20354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統計 ○／╳／╱ 與自動附件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所有停留點須已放行，否則紅字提示、不能送出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有缺失須選「缺失複查結果」</a:t>
            </a:r>
            <a:endParaRPr lang="en-US" sz="1200" dirty="0"/>
          </a:p>
        </p:txBody>
      </p:sp>
      <p:sp>
        <p:nvSpPr>
          <p:cNvPr id="20" name="chain"/>
          <p:cNvSpPr/>
          <p:nvPr/>
        </p:nvSpPr>
        <p:spPr>
          <a:xfrm>
            <a:off x="9696298" y="1417320"/>
            <a:ext cx="2053742" cy="868680"/>
          </a:xfrm>
          <a:prstGeom prst="roundRect">
            <a:avLst>
              <a:gd name="adj" fmla="val 8421"/>
            </a:avLst>
          </a:prstGeom>
          <a:solidFill>
            <a:srgbClr val="0B3B5C"/>
          </a:solidFill>
          <a:ln w="12700">
            <a:solidFill>
              <a:srgbClr val="0B3B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69450" y="1417320"/>
            <a:ext cx="19074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品管＋工地主任</a:t>
            </a:r>
            <a:endParaRPr lang="en-US" sz="10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兩人手寫簽認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714586" y="2441448"/>
            <a:ext cx="20354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現場工程師（檢查人員）先簽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工地授權代表或其授權主管再簽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產生內容雜湊並鎖定；判 ╳ 的項目自動建立缺失追蹤</a:t>
            </a:r>
            <a:endParaRPr lang="en-US" sz="1200" dirty="0"/>
          </a:p>
        </p:txBody>
      </p:sp>
      <p:sp>
        <p:nvSpPr>
          <p:cNvPr id="23" name="rule"/>
          <p:cNvSpPr/>
          <p:nvPr/>
        </p:nvSpPr>
        <p:spPr>
          <a:xfrm>
            <a:off x="457200" y="5120640"/>
            <a:ext cx="11292840" cy="1097280"/>
          </a:xfrm>
          <a:prstGeom prst="roundRect">
            <a:avLst>
              <a:gd name="adj" fmla="val 6667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512064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5C"/>
                </a:solidFill>
              </a:rPr>
              <a:t>系統自動把關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1．前一階段未完成，或前面停留點未放行 → 後續項目鎖定並說明原因　　2．關聯子表單（如表5-4）須是同單元的真實紀錄且已簽認／結案，才能判 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流程 B：停留點會驗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廠商申請 → Email 通知 → 工務所回覆 → 到場會驗 → 放行或不合格；時限由後台參數控制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申請單狀態</a:t>
            </a:r>
            <a:endParaRPr lang="en-US" sz="1500" dirty="0"/>
          </a:p>
        </p:txBody>
      </p:sp>
      <p:sp>
        <p:nvSpPr>
          <p:cNvPr id="5" name="box"/>
          <p:cNvSpPr/>
          <p:nvPr/>
        </p:nvSpPr>
        <p:spPr>
          <a:xfrm>
            <a:off x="914400" y="182880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182880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待回覆</a:t>
            </a:r>
            <a:endParaRPr lang="en-US" sz="1600" dirty="0"/>
          </a:p>
        </p:txBody>
      </p:sp>
      <p:sp>
        <p:nvSpPr>
          <p:cNvPr id="7" name="box"/>
          <p:cNvSpPr/>
          <p:nvPr/>
        </p:nvSpPr>
        <p:spPr>
          <a:xfrm>
            <a:off x="3383280" y="182880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1497D4"/>
          </a:solidFill>
          <a:ln w="15875">
            <a:solidFill>
              <a:srgbClr val="1497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19856" y="182880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已排定</a:t>
            </a:r>
            <a:endParaRPr lang="en-US" sz="1600" dirty="0"/>
          </a:p>
        </p:txBody>
      </p:sp>
      <p:sp>
        <p:nvSpPr>
          <p:cNvPr id="9" name="box"/>
          <p:cNvSpPr/>
          <p:nvPr/>
        </p:nvSpPr>
        <p:spPr>
          <a:xfrm>
            <a:off x="5852160" y="182880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88736" y="182880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檢驗中</a:t>
            </a:r>
            <a:endParaRPr lang="en-US" sz="1600" dirty="0"/>
          </a:p>
        </p:txBody>
      </p:sp>
      <p:sp>
        <p:nvSpPr>
          <p:cNvPr id="11" name="box"/>
          <p:cNvSpPr/>
          <p:nvPr/>
        </p:nvSpPr>
        <p:spPr>
          <a:xfrm>
            <a:off x="8503920" y="132588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15803D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40496" y="132588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合格放行</a:t>
            </a:r>
            <a:endParaRPr lang="en-US" sz="1600" dirty="0"/>
          </a:p>
        </p:txBody>
      </p:sp>
      <p:sp>
        <p:nvSpPr>
          <p:cNvPr id="13" name="box"/>
          <p:cNvSpPr/>
          <p:nvPr/>
        </p:nvSpPr>
        <p:spPr>
          <a:xfrm>
            <a:off x="8503920" y="242316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B91C1C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40496" y="242316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不合格</a:t>
            </a:r>
            <a:endParaRPr lang="en-US" sz="1600" dirty="0"/>
          </a:p>
        </p:txBody>
      </p:sp>
      <p:sp>
        <p:nvSpPr>
          <p:cNvPr id="15" name="box"/>
          <p:cNvSpPr/>
          <p:nvPr/>
        </p:nvSpPr>
        <p:spPr>
          <a:xfrm>
            <a:off x="3383280" y="315468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64748B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19856" y="315468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已退回</a:t>
            </a:r>
            <a:endParaRPr lang="en-US" sz="1600" dirty="0"/>
          </a:p>
        </p:txBody>
      </p:sp>
      <p:sp>
        <p:nvSpPr>
          <p:cNvPr id="17" name="arrow"/>
          <p:cNvSpPr/>
          <p:nvPr/>
        </p:nvSpPr>
        <p:spPr>
          <a:xfrm>
            <a:off x="2743200" y="2148840"/>
            <a:ext cx="640080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2697480" y="1810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排定</a:t>
            </a:r>
            <a:endParaRPr lang="en-US" sz="1050" dirty="0"/>
          </a:p>
        </p:txBody>
      </p:sp>
      <p:sp>
        <p:nvSpPr>
          <p:cNvPr id="19" name="arrow"/>
          <p:cNvSpPr/>
          <p:nvPr/>
        </p:nvSpPr>
        <p:spPr>
          <a:xfrm>
            <a:off x="5212080" y="2148840"/>
            <a:ext cx="640080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5120640" y="18105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開始會驗</a:t>
            </a:r>
            <a:endParaRPr lang="en-US" sz="1050" dirty="0"/>
          </a:p>
        </p:txBody>
      </p:sp>
      <p:sp>
        <p:nvSpPr>
          <p:cNvPr id="21" name="arrow"/>
          <p:cNvSpPr/>
          <p:nvPr/>
        </p:nvSpPr>
        <p:spPr>
          <a:xfrm flipV="1">
            <a:off x="7680960" y="1645920"/>
            <a:ext cx="822960" cy="365760"/>
          </a:xfrm>
          <a:prstGeom prst="line">
            <a:avLst/>
          </a:prstGeom>
          <a:noFill/>
          <a:ln w="1905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2" name="arrow"/>
          <p:cNvSpPr/>
          <p:nvPr/>
        </p:nvSpPr>
        <p:spPr>
          <a:xfrm>
            <a:off x="7680960" y="2286000"/>
            <a:ext cx="822960" cy="457200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  <a:tailEnd type="triangle"/>
          </a:ln>
        </p:spPr>
      </p:sp>
      <p:sp>
        <p:nvSpPr>
          <p:cNvPr id="23" name="arrow"/>
          <p:cNvSpPr/>
          <p:nvPr/>
        </p:nvSpPr>
        <p:spPr>
          <a:xfrm>
            <a:off x="1828800" y="2468880"/>
            <a:ext cx="1554480" cy="10058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1737360" y="3063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退回（填原因）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0424160" y="1325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803D"/>
                </a:solidFill>
              </a:rPr>
              <a:t>後續項目解鎖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0424160" y="2423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1C1C"/>
                </a:solidFill>
              </a:rPr>
              <a:t>建立缺失追蹤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B91C1C"/>
                </a:solidFill>
              </a:rPr>
              <a:t>可重新申請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383280" y="15179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可改期（重新排定）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766560" y="2468880"/>
            <a:ext cx="0" cy="320040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754880" y="2788920"/>
            <a:ext cx="201168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</a:ln>
        </p:spPr>
      </p:sp>
      <p:sp>
        <p:nvSpPr>
          <p:cNvPr id="30" name="arrow"/>
          <p:cNvSpPr/>
          <p:nvPr/>
        </p:nvSpPr>
        <p:spPr>
          <a:xfrm flipV="1">
            <a:off x="4754880" y="2468880"/>
            <a:ext cx="914" cy="320040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5257800" y="28163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C3AED"/>
                </a:solidFill>
              </a:rPr>
              <a:t>取消會驗（填原因，抽查草稿作廢）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14400" y="3767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退回原因會顯示給廠商</a:t>
            </a:r>
            <a:endParaRPr lang="en-US" sz="1050" dirty="0"/>
          </a:p>
        </p:txBody>
      </p:sp>
      <p:sp>
        <p:nvSpPr>
          <p:cNvPr id="33" name="rule-card"/>
          <p:cNvSpPr/>
          <p:nvPr/>
        </p:nvSpPr>
        <p:spPr>
          <a:xfrm>
            <a:off x="457200" y="416052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" y="42702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97D4"/>
                </a:solidFill>
              </a:rPr>
              <a:t>24 小時</a:t>
            </a:r>
            <a:endParaRPr lang="en-US" sz="26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47640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5C"/>
                </a:solidFill>
              </a:rPr>
              <a:t>提前申請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07492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預定會驗時間距申請不足 24 小時，視為「短時間申請」，必須填寫原因，並在申請單上醒目標示。</a:t>
            </a:r>
            <a:endParaRPr lang="en-US" sz="1150" dirty="0"/>
          </a:p>
        </p:txBody>
      </p:sp>
      <p:sp>
        <p:nvSpPr>
          <p:cNvPr id="37" name="rule-card"/>
          <p:cNvSpPr/>
          <p:nvPr/>
        </p:nvSpPr>
        <p:spPr>
          <a:xfrm>
            <a:off x="3291840" y="416052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474720" y="42702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97D4"/>
                </a:solidFill>
              </a:rPr>
              <a:t>8 小時</a:t>
            </a:r>
            <a:endParaRPr lang="en-US" sz="2600" dirty="0"/>
          </a:p>
        </p:txBody>
      </p:sp>
      <p:sp>
        <p:nvSpPr>
          <p:cNvPr id="39" name="Text 37"/>
          <p:cNvSpPr txBox="1"/>
          <p:nvPr/>
        </p:nvSpPr>
        <p:spPr>
          <a:xfrm>
            <a:off x="3474720" y="47640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5C"/>
                </a:solidFill>
              </a:rPr>
              <a:t>回覆時限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3474720" y="507492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工務所需於 8 小時內排定或退回；畫面顯示「剩 X 小時／逾時 X 小時」倒數。</a:t>
            </a:r>
            <a:endParaRPr lang="en-US" sz="1150" dirty="0"/>
          </a:p>
        </p:txBody>
      </p:sp>
      <p:sp>
        <p:nvSpPr>
          <p:cNvPr id="41" name="rule-card"/>
          <p:cNvSpPr/>
          <p:nvPr/>
        </p:nvSpPr>
        <p:spPr>
          <a:xfrm>
            <a:off x="6126480" y="416052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309360" y="42702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97D4"/>
                </a:solidFill>
              </a:rPr>
              <a:t>逾時</a:t>
            </a:r>
            <a:endParaRPr lang="en-US" sz="2600" dirty="0"/>
          </a:p>
        </p:txBody>
      </p:sp>
      <p:sp>
        <p:nvSpPr>
          <p:cNvPr id="43" name="Text 41"/>
          <p:cNvSpPr txBox="1"/>
          <p:nvPr/>
        </p:nvSpPr>
        <p:spPr>
          <a:xfrm>
            <a:off x="6309360" y="47640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5C"/>
                </a:solidFill>
              </a:rPr>
              <a:t>自動升級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6309360" y="507492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到期未回覆：寄出逾時提醒 Email，並往上通知主管（捷運局工務所主任帳號），只通知一次。</a:t>
            </a:r>
            <a:endParaRPr lang="en-US" sz="1150" dirty="0"/>
          </a:p>
        </p:txBody>
      </p:sp>
      <p:sp>
        <p:nvSpPr>
          <p:cNvPr id="45" name="rule-card"/>
          <p:cNvSpPr/>
          <p:nvPr/>
        </p:nvSpPr>
        <p:spPr>
          <a:xfrm>
            <a:off x="8961120" y="416052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144000" y="42702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97D4"/>
                </a:solidFill>
              </a:rPr>
              <a:t>通知</a:t>
            </a:r>
            <a:endParaRPr lang="en-US" sz="2600" dirty="0"/>
          </a:p>
        </p:txBody>
      </p:sp>
      <p:sp>
        <p:nvSpPr>
          <p:cNvPr id="47" name="Text 45"/>
          <p:cNvSpPr txBox="1"/>
          <p:nvPr/>
        </p:nvSpPr>
        <p:spPr>
          <a:xfrm>
            <a:off x="9144000" y="47640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5C"/>
                </a:solidFill>
              </a:rPr>
              <a:t>全程留痕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9144000" y="507492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Email 收件人取自帳號資料；申請、排定、改期、退回、取消、判定結果都記在「通知歷程」。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流程 C：品質抽查（會驗抽查＋隨機抽查）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抽查紀錄由捷運局工務所同仁填寫，與廠商自主檢查表項目對應，結果自動回寫</a:t>
            </a:r>
            <a:endParaRPr lang="en-US" sz="1400" dirty="0"/>
          </a:p>
        </p:txBody>
      </p:sp>
      <p:sp>
        <p:nvSpPr>
          <p:cNvPr id="4" name="chain"/>
          <p:cNvSpPr/>
          <p:nvPr/>
        </p:nvSpPr>
        <p:spPr>
          <a:xfrm>
            <a:off x="457200" y="1417320"/>
            <a:ext cx="2053742" cy="868680"/>
          </a:xfrm>
          <a:prstGeom prst="roundRect">
            <a:avLst>
              <a:gd name="adj" fmla="val 8421"/>
            </a:avLst>
          </a:prstGeom>
          <a:solidFill>
            <a:srgbClr val="0B3B5C"/>
          </a:solidFill>
          <a:ln w="12700">
            <a:solidFill>
              <a:srgbClr val="0B3B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" y="1417320"/>
            <a:ext cx="19074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工務所同仁</a:t>
            </a:r>
            <a:endParaRPr lang="en-US" sz="10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建立抽查紀錄</a:t>
            </a:r>
            <a:endParaRPr lang="en-US" sz="1050" dirty="0"/>
          </a:p>
        </p:txBody>
      </p:sp>
      <p:sp>
        <p:nvSpPr>
          <p:cNvPr id="6" name="arrow"/>
          <p:cNvSpPr/>
          <p:nvPr/>
        </p:nvSpPr>
        <p:spPr>
          <a:xfrm>
            <a:off x="2529230" y="1851660"/>
            <a:ext cx="219456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475488" y="2441448"/>
            <a:ext cx="203545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會驗：按「開始會驗」自動建立，並標示「本次會驗」項目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依項目永久代碼對應，範本改版後仍正確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隨機抽查：「＋新增隨機抽查」</a:t>
            </a:r>
            <a:endParaRPr lang="en-US" sz="1200" dirty="0"/>
          </a:p>
        </p:txBody>
      </p:sp>
      <p:sp>
        <p:nvSpPr>
          <p:cNvPr id="8" name="chain"/>
          <p:cNvSpPr/>
          <p:nvPr/>
        </p:nvSpPr>
        <p:spPr>
          <a:xfrm>
            <a:off x="2766974" y="1417320"/>
            <a:ext cx="2053742" cy="868680"/>
          </a:xfrm>
          <a:prstGeom prst="roundRect">
            <a:avLst>
              <a:gd name="adj" fmla="val 8421"/>
            </a:avLst>
          </a:prstGeom>
          <a:solidFill>
            <a:srgbClr val="0B3B5C"/>
          </a:solidFill>
          <a:ln w="12700">
            <a:solidFill>
              <a:srgbClr val="0B3B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40126" y="1417320"/>
            <a:ext cx="19074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工務所同仁</a:t>
            </a:r>
            <a:endParaRPr lang="en-US" sz="10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對照廠商自檢</a:t>
            </a:r>
            <a:endParaRPr lang="en-US" sz="1050" dirty="0"/>
          </a:p>
        </p:txBody>
      </p:sp>
      <p:sp>
        <p:nvSpPr>
          <p:cNvPr id="10" name="arrow"/>
          <p:cNvSpPr/>
          <p:nvPr/>
        </p:nvSpPr>
        <p:spPr>
          <a:xfrm>
            <a:off x="4839005" y="1851660"/>
            <a:ext cx="219456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785262" y="2441448"/>
            <a:ext cx="203545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同一畫面並列「廠商自檢值」與「抽查實測值」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可拍照、自動建議判定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判定：○ 合格放行／╳ 有缺失／╱ 無此項</a:t>
            </a:r>
            <a:endParaRPr lang="en-US" sz="1200" dirty="0"/>
          </a:p>
        </p:txBody>
      </p:sp>
      <p:sp>
        <p:nvSpPr>
          <p:cNvPr id="12" name="chain"/>
          <p:cNvSpPr/>
          <p:nvPr/>
        </p:nvSpPr>
        <p:spPr>
          <a:xfrm>
            <a:off x="5076749" y="1417320"/>
            <a:ext cx="2053742" cy="868680"/>
          </a:xfrm>
          <a:prstGeom prst="roundRect">
            <a:avLst>
              <a:gd name="adj" fmla="val 8421"/>
            </a:avLst>
          </a:prstGeom>
          <a:solidFill>
            <a:srgbClr val="0B3B5C"/>
          </a:solidFill>
          <a:ln w="12700">
            <a:solidFill>
              <a:srgbClr val="0B3B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49901" y="1417320"/>
            <a:ext cx="19074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工務所同仁</a:t>
            </a:r>
            <a:endParaRPr lang="en-US" sz="10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結果總覽</a:t>
            </a:r>
            <a:endParaRPr lang="en-US" sz="1050" dirty="0"/>
          </a:p>
        </p:txBody>
      </p:sp>
      <p:sp>
        <p:nvSpPr>
          <p:cNvPr id="14" name="arrow"/>
          <p:cNvSpPr/>
          <p:nvPr/>
        </p:nvSpPr>
        <p:spPr>
          <a:xfrm>
            <a:off x="7148779" y="1851660"/>
            <a:ext cx="219456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095037" y="2441448"/>
            <a:ext cx="203545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未抽查項目自動填 ╱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單元計價資料（厚度×長度×深度自動計算）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自動附件：廠商自主檢查表</a:t>
            </a:r>
            <a:endParaRPr lang="en-US" sz="1200" dirty="0"/>
          </a:p>
        </p:txBody>
      </p:sp>
      <p:sp>
        <p:nvSpPr>
          <p:cNvPr id="16" name="chain"/>
          <p:cNvSpPr/>
          <p:nvPr/>
        </p:nvSpPr>
        <p:spPr>
          <a:xfrm>
            <a:off x="7386523" y="1417320"/>
            <a:ext cx="2053742" cy="868680"/>
          </a:xfrm>
          <a:prstGeom prst="roundRect">
            <a:avLst>
              <a:gd name="adj" fmla="val 8421"/>
            </a:avLst>
          </a:prstGeom>
          <a:solidFill>
            <a:srgbClr val="0B3B5C"/>
          </a:solidFill>
          <a:ln w="12700">
            <a:solidFill>
              <a:srgbClr val="0B3B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59675" y="1417320"/>
            <a:ext cx="19074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工務所＋廠商隨同</a:t>
            </a:r>
            <a:endParaRPr lang="en-US" sz="10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手寫簽認</a:t>
            </a:r>
            <a:endParaRPr lang="en-US" sz="1050" dirty="0"/>
          </a:p>
        </p:txBody>
      </p:sp>
      <p:sp>
        <p:nvSpPr>
          <p:cNvPr id="18" name="arrow"/>
          <p:cNvSpPr/>
          <p:nvPr/>
        </p:nvSpPr>
        <p:spPr>
          <a:xfrm>
            <a:off x="9458554" y="1851660"/>
            <a:ext cx="219456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7404811" y="2441448"/>
            <a:ext cx="203545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監造工務所（抽查人員）先簽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施工廠商隨同人員再簽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簽認後產生雜湊、鎖定</a:t>
            </a:r>
            <a:endParaRPr lang="en-US" sz="1200" dirty="0"/>
          </a:p>
        </p:txBody>
      </p:sp>
      <p:sp>
        <p:nvSpPr>
          <p:cNvPr id="20" name="chain"/>
          <p:cNvSpPr/>
          <p:nvPr/>
        </p:nvSpPr>
        <p:spPr>
          <a:xfrm>
            <a:off x="9696298" y="1417320"/>
            <a:ext cx="2053742" cy="868680"/>
          </a:xfrm>
          <a:prstGeom prst="roundRect">
            <a:avLst>
              <a:gd name="adj" fmla="val 8421"/>
            </a:avLst>
          </a:prstGeom>
          <a:solidFill>
            <a:srgbClr val="0B3B5C"/>
          </a:solidFill>
          <a:ln w="12700">
            <a:solidFill>
              <a:srgbClr val="0B3B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69450" y="1417320"/>
            <a:ext cx="19074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系統</a:t>
            </a:r>
            <a:endParaRPr lang="en-US" sz="10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自動回寫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714586" y="2441448"/>
            <a:ext cx="203545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會驗合格 → 申請單「合格放行」、自檢表後續解鎖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同一停留點未結案的缺失自動結案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有缺失 → 「不合格」並建立缺失追蹤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流程 D：缺失追蹤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不需另外登打：缺失判定自動建立；廠商附說明與照片回報，工務所複查後結案或退回</a:t>
            </a:r>
            <a:endParaRPr lang="en-US" sz="1400" dirty="0"/>
          </a:p>
        </p:txBody>
      </p:sp>
      <p:sp>
        <p:nvSpPr>
          <p:cNvPr id="4" name="box"/>
          <p:cNvSpPr/>
          <p:nvPr/>
        </p:nvSpPr>
        <p:spPr>
          <a:xfrm>
            <a:off x="457200" y="1280160"/>
            <a:ext cx="2834640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93776" y="1280160"/>
            <a:ext cx="2761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91C1C"/>
                </a:solidFill>
              </a:rPr>
              <a:t>自主檢查表判 ╳（簽認完成時）</a:t>
            </a:r>
            <a:endParaRPr lang="en-US" sz="1150" dirty="0"/>
          </a:p>
        </p:txBody>
      </p:sp>
      <p:sp>
        <p:nvSpPr>
          <p:cNvPr id="6" name="box"/>
          <p:cNvSpPr/>
          <p:nvPr/>
        </p:nvSpPr>
        <p:spPr>
          <a:xfrm>
            <a:off x="457200" y="1993392"/>
            <a:ext cx="2834640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" y="1993392"/>
            <a:ext cx="2761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91C1C"/>
                </a:solidFill>
              </a:rPr>
              <a:t>★停留點判 ╳（判定當下立即建立）</a:t>
            </a:r>
            <a:endParaRPr lang="en-US" sz="1150" dirty="0"/>
          </a:p>
        </p:txBody>
      </p:sp>
      <p:sp>
        <p:nvSpPr>
          <p:cNvPr id="8" name="box"/>
          <p:cNvSpPr/>
          <p:nvPr/>
        </p:nvSpPr>
        <p:spPr>
          <a:xfrm>
            <a:off x="457200" y="2706624"/>
            <a:ext cx="2834640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" y="2706624"/>
            <a:ext cx="2761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91C1C"/>
                </a:solidFill>
              </a:rPr>
              <a:t>抽查紀錄判「有缺失」（簽認完成時）</a:t>
            </a:r>
            <a:endParaRPr lang="en-US" sz="1150" dirty="0"/>
          </a:p>
        </p:txBody>
      </p:sp>
      <p:sp>
        <p:nvSpPr>
          <p:cNvPr id="10" name="box"/>
          <p:cNvSpPr/>
          <p:nvPr/>
        </p:nvSpPr>
        <p:spPr>
          <a:xfrm>
            <a:off x="457200" y="3419856"/>
            <a:ext cx="2834640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" y="3419856"/>
            <a:ext cx="2761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91C1C"/>
                </a:solidFill>
              </a:rPr>
              <a:t>PDF 表單選「有缺失」（結案時）</a:t>
            </a:r>
            <a:endParaRPr lang="en-US" sz="1150" dirty="0"/>
          </a:p>
        </p:txBody>
      </p:sp>
      <p:sp>
        <p:nvSpPr>
          <p:cNvPr id="12" name="arrow"/>
          <p:cNvSpPr/>
          <p:nvPr/>
        </p:nvSpPr>
        <p:spPr>
          <a:xfrm>
            <a:off x="3310128" y="1572768"/>
            <a:ext cx="621792" cy="804672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  <a:tailEnd type="triangle"/>
          </a:ln>
        </p:spPr>
      </p:sp>
      <p:sp>
        <p:nvSpPr>
          <p:cNvPr id="13" name="arrow"/>
          <p:cNvSpPr/>
          <p:nvPr/>
        </p:nvSpPr>
        <p:spPr>
          <a:xfrm>
            <a:off x="3310128" y="2286000"/>
            <a:ext cx="621792" cy="91440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  <a:tailEnd type="triangle"/>
          </a:ln>
        </p:spPr>
      </p:sp>
      <p:sp>
        <p:nvSpPr>
          <p:cNvPr id="14" name="arrow"/>
          <p:cNvSpPr/>
          <p:nvPr/>
        </p:nvSpPr>
        <p:spPr>
          <a:xfrm flipV="1">
            <a:off x="3310128" y="2377440"/>
            <a:ext cx="621792" cy="621792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  <a:tailEnd type="triangle"/>
          </a:ln>
        </p:spPr>
      </p:sp>
      <p:sp>
        <p:nvSpPr>
          <p:cNvPr id="15" name="arrow"/>
          <p:cNvSpPr/>
          <p:nvPr/>
        </p:nvSpPr>
        <p:spPr>
          <a:xfrm flipV="1">
            <a:off x="3310128" y="2377440"/>
            <a:ext cx="621792" cy="1335024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  <a:tailEnd type="triangle"/>
          </a:ln>
        </p:spPr>
      </p:sp>
      <p:sp>
        <p:nvSpPr>
          <p:cNvPr id="16" name="box"/>
          <p:cNvSpPr/>
          <p:nvPr/>
        </p:nvSpPr>
        <p:spPr>
          <a:xfrm>
            <a:off x="3977640" y="2011680"/>
            <a:ext cx="2194560" cy="731520"/>
          </a:xfrm>
          <a:prstGeom prst="roundRect">
            <a:avLst>
              <a:gd name="adj" fmla="val 8750"/>
            </a:avLst>
          </a:prstGeom>
          <a:solidFill>
            <a:srgbClr val="B91C1C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14216" y="2011680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待改善</a:t>
            </a:r>
            <a:endParaRPr lang="en-US" sz="1600" dirty="0"/>
          </a:p>
        </p:txBody>
      </p:sp>
      <p:sp>
        <p:nvSpPr>
          <p:cNvPr id="18" name="box"/>
          <p:cNvSpPr/>
          <p:nvPr/>
        </p:nvSpPr>
        <p:spPr>
          <a:xfrm>
            <a:off x="6629400" y="2011680"/>
            <a:ext cx="2194560" cy="731520"/>
          </a:xfrm>
          <a:prstGeom prst="roundRect">
            <a:avLst>
              <a:gd name="adj" fmla="val 8750"/>
            </a:avLst>
          </a:prstGeom>
          <a:solidFill>
            <a:srgbClr val="F59E0B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65976" y="2011680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待複查</a:t>
            </a:r>
            <a:endParaRPr lang="en-US" sz="1600" dirty="0"/>
          </a:p>
        </p:txBody>
      </p:sp>
      <p:sp>
        <p:nvSpPr>
          <p:cNvPr id="20" name="box"/>
          <p:cNvSpPr/>
          <p:nvPr/>
        </p:nvSpPr>
        <p:spPr>
          <a:xfrm>
            <a:off x="9281160" y="2011680"/>
            <a:ext cx="2194560" cy="731520"/>
          </a:xfrm>
          <a:prstGeom prst="roundRect">
            <a:avLst>
              <a:gd name="adj" fmla="val 8750"/>
            </a:avLst>
          </a:prstGeom>
          <a:solidFill>
            <a:srgbClr val="15803D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17736" y="2011680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已結案</a:t>
            </a:r>
            <a:endParaRPr lang="en-US" sz="1600" dirty="0"/>
          </a:p>
        </p:txBody>
      </p:sp>
      <p:sp>
        <p:nvSpPr>
          <p:cNvPr id="22" name="arrow"/>
          <p:cNvSpPr/>
          <p:nvPr/>
        </p:nvSpPr>
        <p:spPr>
          <a:xfrm>
            <a:off x="6190488" y="2240280"/>
            <a:ext cx="420624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5760720" y="1417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B5C"/>
                </a:solidFill>
              </a:rPr>
              <a:t>廠商回報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3B5C"/>
                </a:solidFill>
              </a:rPr>
              <a:t>說明＋照片</a:t>
            </a:r>
            <a:endParaRPr lang="en-US" sz="1100" dirty="0"/>
          </a:p>
        </p:txBody>
      </p:sp>
      <p:sp>
        <p:nvSpPr>
          <p:cNvPr id="24" name="arrow"/>
          <p:cNvSpPr/>
          <p:nvPr/>
        </p:nvSpPr>
        <p:spPr>
          <a:xfrm>
            <a:off x="8842248" y="2377440"/>
            <a:ext cx="420624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845820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</a:rPr>
              <a:t>工務所複查合格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26680" y="2743200"/>
            <a:ext cx="0" cy="320040"/>
          </a:xfrm>
          <a:prstGeom prst="line">
            <a:avLst/>
          </a:prstGeom>
          <a:noFill/>
          <a:ln w="19050">
            <a:solidFill>
              <a:srgbClr val="B91C1C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074920" y="3063240"/>
            <a:ext cx="2651760" cy="0"/>
          </a:xfrm>
          <a:prstGeom prst="line">
            <a:avLst/>
          </a:prstGeom>
          <a:noFill/>
          <a:ln w="19050">
            <a:solidFill>
              <a:srgbClr val="B91C1C"/>
            </a:solidFill>
            <a:prstDash val="dash"/>
          </a:ln>
        </p:spPr>
      </p:sp>
      <p:sp>
        <p:nvSpPr>
          <p:cNvPr id="28" name="arrow"/>
          <p:cNvSpPr/>
          <p:nvPr/>
        </p:nvSpPr>
        <p:spPr>
          <a:xfrm flipV="1">
            <a:off x="5074920" y="2743200"/>
            <a:ext cx="914" cy="320040"/>
          </a:xfrm>
          <a:prstGeom prst="line">
            <a:avLst/>
          </a:prstGeom>
          <a:noFill/>
          <a:ln w="19050">
            <a:solidFill>
              <a:srgbClr val="B91C1C"/>
            </a:solidFill>
            <a:prstDash val="dash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5212080" y="3090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1C1C"/>
                </a:solidFill>
              </a:rPr>
              <a:t>退回重新改善（須填原因）</a:t>
            </a:r>
            <a:endParaRPr lang="en-US" sz="1050" dirty="0"/>
          </a:p>
        </p:txBody>
      </p:sp>
      <p:sp>
        <p:nvSpPr>
          <p:cNvPr id="30" name="auto"/>
          <p:cNvSpPr/>
          <p:nvPr/>
        </p:nvSpPr>
        <p:spPr>
          <a:xfrm>
            <a:off x="3977640" y="3520440"/>
            <a:ext cx="777240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14800" y="3520440"/>
            <a:ext cx="7543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</a:rPr>
              <a:t>自動處理：</a:t>
            </a:r>
            <a:pPr indent="0" marL="0">
              <a:buNone/>
            </a:pPr>
            <a:r>
              <a:rPr lang="en-US" sz="1200" dirty="0">
                <a:solidFill>
                  <a:srgbClr val="78350F"/>
                </a:solidFill>
              </a:rPr>
              <a:t>停留點會驗合格 → 該停留點缺失自動結案；自檢表勾選「已完成改善」（須附照片）→ 簽認後直接進入待複查</a:t>
            </a:r>
            <a:endParaRPr lang="en-US" sz="1200" dirty="0"/>
          </a:p>
        </p:txBody>
      </p:sp>
      <p:sp>
        <p:nvSpPr>
          <p:cNvPr id="32" name="frame-def-report"/>
          <p:cNvSpPr/>
          <p:nvPr/>
        </p:nvSpPr>
        <p:spPr>
          <a:xfrm>
            <a:off x="457200" y="4343400"/>
            <a:ext cx="3154680" cy="19716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3" name="shot-def-report" descr="img2/n09_def_repo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343400"/>
            <a:ext cx="3154680" cy="1971675"/>
          </a:xfrm>
          <a:prstGeom prst="rect">
            <a:avLst/>
          </a:prstGeom>
        </p:spPr>
      </p:pic>
      <p:sp>
        <p:nvSpPr>
          <p:cNvPr id="34" name="frame-def-review"/>
          <p:cNvSpPr/>
          <p:nvPr/>
        </p:nvSpPr>
        <p:spPr>
          <a:xfrm>
            <a:off x="3794760" y="4343400"/>
            <a:ext cx="3154680" cy="19716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5" name="shot-def-review" descr="img2/n11_admin_def_review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4343400"/>
            <a:ext cx="3154680" cy="1971675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7178040" y="43434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B3B5C"/>
                </a:solidFill>
              </a:rPr>
              <a:t>後台與現場都看得到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廠商「缺失改善」待辦：填改善說明、至少 1 張照片後送出。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工務所「缺失複查」待辦／後台「缺失追蹤」：看說明與照片後結案或退回。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每一步記在處理歷程；總覽顯示未結案與逾期件數。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流程 E：自主檢查表（空白範本 PDF）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廠商填寫；同一時間只有一人能「鎖定」。含 ★停留點的表單不可設為 PDF</a:t>
            </a:r>
            <a:endParaRPr lang="en-US" sz="1400" dirty="0"/>
          </a:p>
        </p:txBody>
      </p:sp>
      <p:sp>
        <p:nvSpPr>
          <p:cNvPr id="4" name="box"/>
          <p:cNvSpPr/>
          <p:nvPr/>
        </p:nvSpPr>
        <p:spPr>
          <a:xfrm>
            <a:off x="640080" y="1600200"/>
            <a:ext cx="2103120" cy="777240"/>
          </a:xfrm>
          <a:prstGeom prst="roundRect">
            <a:avLst>
              <a:gd name="adj" fmla="val 8235"/>
            </a:avLst>
          </a:prstGeom>
          <a:solidFill>
            <a:srgbClr val="64748B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" y="160020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未開始</a:t>
            </a:r>
            <a:endParaRPr lang="en-US" sz="1800" dirty="0"/>
          </a:p>
        </p:txBody>
      </p:sp>
      <p:sp>
        <p:nvSpPr>
          <p:cNvPr id="6" name="box"/>
          <p:cNvSpPr/>
          <p:nvPr/>
        </p:nvSpPr>
        <p:spPr>
          <a:xfrm>
            <a:off x="3246120" y="1600200"/>
            <a:ext cx="2103120" cy="777240"/>
          </a:xfrm>
          <a:prstGeom prst="roundRect">
            <a:avLst>
              <a:gd name="adj" fmla="val 8235"/>
            </a:avLst>
          </a:prstGeom>
          <a:solidFill>
            <a:srgbClr val="F59E0B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82696" y="160020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鎖定中</a:t>
            </a:r>
            <a:endParaRPr lang="en-US" sz="1800" dirty="0"/>
          </a:p>
        </p:txBody>
      </p:sp>
      <p:sp>
        <p:nvSpPr>
          <p:cNvPr id="8" name="box"/>
          <p:cNvSpPr/>
          <p:nvPr/>
        </p:nvSpPr>
        <p:spPr>
          <a:xfrm>
            <a:off x="5852160" y="1600200"/>
            <a:ext cx="2103120" cy="777240"/>
          </a:xfrm>
          <a:prstGeom prst="roundRect">
            <a:avLst>
              <a:gd name="adj" fmla="val 8235"/>
            </a:avLst>
          </a:prstGeom>
          <a:solidFill>
            <a:srgbClr val="1497D4"/>
          </a:solidFill>
          <a:ln w="15875">
            <a:solidFill>
              <a:srgbClr val="1497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88736" y="160020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待流轉</a:t>
            </a:r>
            <a:endParaRPr lang="en-US" sz="1800" dirty="0"/>
          </a:p>
        </p:txBody>
      </p:sp>
      <p:sp>
        <p:nvSpPr>
          <p:cNvPr id="10" name="box"/>
          <p:cNvSpPr/>
          <p:nvPr/>
        </p:nvSpPr>
        <p:spPr>
          <a:xfrm>
            <a:off x="8458200" y="1600200"/>
            <a:ext cx="2103120" cy="777240"/>
          </a:xfrm>
          <a:prstGeom prst="roundRect">
            <a:avLst>
              <a:gd name="adj" fmla="val 8235"/>
            </a:avLst>
          </a:prstGeom>
          <a:solidFill>
            <a:srgbClr val="15803D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94776" y="160020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已結案</a:t>
            </a:r>
            <a:endParaRPr lang="en-US" sz="1800" dirty="0"/>
          </a:p>
        </p:txBody>
      </p:sp>
      <p:sp>
        <p:nvSpPr>
          <p:cNvPr id="12" name="arrow"/>
          <p:cNvSpPr/>
          <p:nvPr/>
        </p:nvSpPr>
        <p:spPr>
          <a:xfrm>
            <a:off x="2743200" y="1984248"/>
            <a:ext cx="502920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13" name="arrow"/>
          <p:cNvSpPr/>
          <p:nvPr/>
        </p:nvSpPr>
        <p:spPr>
          <a:xfrm>
            <a:off x="5349240" y="1984248"/>
            <a:ext cx="502920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14" name="arrow"/>
          <p:cNvSpPr/>
          <p:nvPr/>
        </p:nvSpPr>
        <p:spPr>
          <a:xfrm>
            <a:off x="7955280" y="1984248"/>
            <a:ext cx="502920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2468880" y="12618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B5C"/>
                </a:solidFill>
              </a:rPr>
              <a:t>下載鎖定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12618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B5C"/>
                </a:solidFill>
              </a:rPr>
              <a:t>上傳並簽名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635240" y="12618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B5C"/>
                </a:solidFill>
              </a:rPr>
              <a:t>憑證加簽</a:t>
            </a:r>
            <a:endParaRPr lang="en-US" sz="1200" dirty="0"/>
          </a:p>
        </p:txBody>
      </p:sp>
      <p:sp>
        <p:nvSpPr>
          <p:cNvPr id="18" name="arrow"/>
          <p:cNvSpPr/>
          <p:nvPr/>
        </p:nvSpPr>
        <p:spPr>
          <a:xfrm flipH="1">
            <a:off x="1691640" y="2395728"/>
            <a:ext cx="2606040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2194560" y="24323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取消鎖定（V0）</a:t>
            </a:r>
            <a:endParaRPr lang="en-US" sz="1050" dirty="0"/>
          </a:p>
        </p:txBody>
      </p:sp>
      <p:sp>
        <p:nvSpPr>
          <p:cNvPr id="20" name="arrow"/>
          <p:cNvSpPr/>
          <p:nvPr/>
        </p:nvSpPr>
        <p:spPr>
          <a:xfrm flipH="1">
            <a:off x="4297680" y="2395728"/>
            <a:ext cx="2606040" cy="301752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475488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他人下載續填（再鎖定）</a:t>
            </a:r>
            <a:endParaRPr lang="en-US" sz="1050" dirty="0"/>
          </a:p>
        </p:txBody>
      </p:sp>
      <p:sp>
        <p:nvSpPr>
          <p:cNvPr id="22" name="arrow"/>
          <p:cNvSpPr/>
          <p:nvPr/>
        </p:nvSpPr>
        <p:spPr>
          <a:xfrm flipH="1">
            <a:off x="6903720" y="2395728"/>
            <a:ext cx="2606040" cy="621792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7498080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解除結案（填原因）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20440"/>
          <a:ext cx="11292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72694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步驟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操作者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系統行為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下載鎖定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廠商品管人員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下載空白範本（或最新版）並鎖定控制權；其他人只能檢視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離線填寫並簽名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廠商品管人員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在紙本或 PDF 工具填寫，現地手寫簽名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上傳並簽名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鎖定人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上傳 PDF（10 MB 內）＋選檢查結果（○／╳）＋手寫簽名，版本 +1，轉「待流轉」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憑證加簽結案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最後上傳人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自然人憑證或行動自然人憑證簽章後結案；判「有缺失」自動建立缺失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解除結案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最後上傳人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必須填寫原因；狀態回「待流轉」，軌跡保留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流程 F：抽查紀錄表（空白範本 PDF）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工務所同仁上傳時決定「下一關」，並選擇判定結果；結案時才決定是否放行、是否建立缺失</a:t>
            </a:r>
            <a:endParaRPr lang="en-US" sz="1400" dirty="0"/>
          </a:p>
        </p:txBody>
      </p:sp>
      <p:sp>
        <p:nvSpPr>
          <p:cNvPr id="4" name="box"/>
          <p:cNvSpPr/>
          <p:nvPr/>
        </p:nvSpPr>
        <p:spPr>
          <a:xfrm>
            <a:off x="457200" y="2377440"/>
            <a:ext cx="1554480" cy="731520"/>
          </a:xfrm>
          <a:prstGeom prst="roundRect">
            <a:avLst>
              <a:gd name="adj" fmla="val 8750"/>
            </a:avLst>
          </a:prstGeom>
          <a:solidFill>
            <a:srgbClr val="64748B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93776" y="2377440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未開始</a:t>
            </a:r>
            <a:endParaRPr lang="en-US" sz="1500" dirty="0"/>
          </a:p>
        </p:txBody>
      </p:sp>
      <p:sp>
        <p:nvSpPr>
          <p:cNvPr id="6" name="box"/>
          <p:cNvSpPr/>
          <p:nvPr/>
        </p:nvSpPr>
        <p:spPr>
          <a:xfrm>
            <a:off x="2514600" y="2377440"/>
            <a:ext cx="1554480" cy="731520"/>
          </a:xfrm>
          <a:prstGeom prst="roundRect">
            <a:avLst>
              <a:gd name="adj" fmla="val 8750"/>
            </a:avLst>
          </a:prstGeom>
          <a:solidFill>
            <a:srgbClr val="F59E0B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51176" y="2377440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鎖定中</a:t>
            </a:r>
            <a:endParaRPr lang="en-US" sz="1500" dirty="0"/>
          </a:p>
        </p:txBody>
      </p:sp>
      <p:sp>
        <p:nvSpPr>
          <p:cNvPr id="8" name="box"/>
          <p:cNvSpPr/>
          <p:nvPr/>
        </p:nvSpPr>
        <p:spPr>
          <a:xfrm>
            <a:off x="5120640" y="1234440"/>
            <a:ext cx="2103120" cy="731520"/>
          </a:xfrm>
          <a:prstGeom prst="roundRect">
            <a:avLst>
              <a:gd name="adj" fmla="val 8750"/>
            </a:avLst>
          </a:prstGeom>
          <a:solidFill>
            <a:srgbClr val="1497D4"/>
          </a:solidFill>
          <a:ln w="15875">
            <a:solidFill>
              <a:srgbClr val="1497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57216" y="1234440"/>
            <a:ext cx="202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待流轉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（其他局內人員續填）</a:t>
            </a:r>
            <a:endParaRPr lang="en-US" sz="1250" dirty="0"/>
          </a:p>
        </p:txBody>
      </p:sp>
      <p:sp>
        <p:nvSpPr>
          <p:cNvPr id="10" name="box"/>
          <p:cNvSpPr/>
          <p:nvPr/>
        </p:nvSpPr>
        <p:spPr>
          <a:xfrm>
            <a:off x="5120640" y="2377440"/>
            <a:ext cx="2103120" cy="731520"/>
          </a:xfrm>
          <a:prstGeom prst="roundRect">
            <a:avLst>
              <a:gd name="adj" fmla="val 8750"/>
            </a:avLst>
          </a:prstGeom>
          <a:solidFill>
            <a:srgbClr val="7C3AED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57216" y="2377440"/>
            <a:ext cx="202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待廠商簽名</a:t>
            </a:r>
            <a:endParaRPr lang="en-US" sz="1500" dirty="0"/>
          </a:p>
        </p:txBody>
      </p:sp>
      <p:sp>
        <p:nvSpPr>
          <p:cNvPr id="12" name="box"/>
          <p:cNvSpPr/>
          <p:nvPr/>
        </p:nvSpPr>
        <p:spPr>
          <a:xfrm>
            <a:off x="7863840" y="2377440"/>
            <a:ext cx="1828800" cy="731520"/>
          </a:xfrm>
          <a:prstGeom prst="roundRect">
            <a:avLst>
              <a:gd name="adj" fmla="val 8750"/>
            </a:avLst>
          </a:prstGeom>
          <a:solidFill>
            <a:srgbClr val="0B3B5C"/>
          </a:solidFill>
          <a:ln w="15875">
            <a:solidFill>
              <a:srgbClr val="0B3B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00416" y="2377440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待主任加簽</a:t>
            </a:r>
            <a:endParaRPr lang="en-US" sz="1500" dirty="0"/>
          </a:p>
        </p:txBody>
      </p:sp>
      <p:sp>
        <p:nvSpPr>
          <p:cNvPr id="14" name="box"/>
          <p:cNvSpPr/>
          <p:nvPr/>
        </p:nvSpPr>
        <p:spPr>
          <a:xfrm>
            <a:off x="10104120" y="2377440"/>
            <a:ext cx="1645920" cy="731520"/>
          </a:xfrm>
          <a:prstGeom prst="roundRect">
            <a:avLst>
              <a:gd name="adj" fmla="val 8750"/>
            </a:avLst>
          </a:prstGeom>
          <a:solidFill>
            <a:srgbClr val="15803D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140696" y="237744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已結案</a:t>
            </a:r>
            <a:endParaRPr lang="en-US" sz="1500" dirty="0"/>
          </a:p>
        </p:txBody>
      </p:sp>
      <p:sp>
        <p:nvSpPr>
          <p:cNvPr id="16" name="arrow"/>
          <p:cNvSpPr/>
          <p:nvPr/>
        </p:nvSpPr>
        <p:spPr>
          <a:xfrm>
            <a:off x="2011680" y="2743200"/>
            <a:ext cx="502920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182880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下載鎖定</a:t>
            </a:r>
            <a:endParaRPr lang="en-US" sz="1050" dirty="0"/>
          </a:p>
        </p:txBody>
      </p:sp>
      <p:sp>
        <p:nvSpPr>
          <p:cNvPr id="18" name="arrow"/>
          <p:cNvSpPr/>
          <p:nvPr/>
        </p:nvSpPr>
        <p:spPr>
          <a:xfrm flipV="1">
            <a:off x="4069080" y="1600200"/>
            <a:ext cx="1051560" cy="1005840"/>
          </a:xfrm>
          <a:prstGeom prst="line">
            <a:avLst/>
          </a:prstGeom>
          <a:noFill/>
          <a:ln w="1905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3840480" y="1554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① 轉局內續填</a:t>
            </a:r>
            <a:endParaRPr lang="en-US" sz="1050" dirty="0"/>
          </a:p>
        </p:txBody>
      </p:sp>
      <p:sp>
        <p:nvSpPr>
          <p:cNvPr id="20" name="arrow"/>
          <p:cNvSpPr/>
          <p:nvPr/>
        </p:nvSpPr>
        <p:spPr>
          <a:xfrm>
            <a:off x="4069080" y="2743200"/>
            <a:ext cx="1051560" cy="914"/>
          </a:xfrm>
          <a:prstGeom prst="line">
            <a:avLst/>
          </a:prstGeom>
          <a:noFill/>
          <a:ln w="1905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4114800" y="2788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② 轉廠商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91840" y="3108960"/>
            <a:ext cx="0" cy="411480"/>
          </a:xfrm>
          <a:prstGeom prst="line">
            <a:avLst/>
          </a:prstGeom>
          <a:noFill/>
          <a:ln w="19050">
            <a:solidFill>
              <a:srgbClr val="0B3B5C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291840" y="3520440"/>
            <a:ext cx="5486400" cy="0"/>
          </a:xfrm>
          <a:prstGeom prst="line">
            <a:avLst/>
          </a:prstGeom>
          <a:noFill/>
          <a:ln w="19050">
            <a:solidFill>
              <a:srgbClr val="0B3B5C"/>
            </a:solidFill>
            <a:prstDash val="dash"/>
          </a:ln>
        </p:spPr>
      </p:sp>
      <p:sp>
        <p:nvSpPr>
          <p:cNvPr id="24" name="arrow"/>
          <p:cNvSpPr/>
          <p:nvPr/>
        </p:nvSpPr>
        <p:spPr>
          <a:xfrm flipV="1">
            <a:off x="8778240" y="3108960"/>
            <a:ext cx="914" cy="411480"/>
          </a:xfrm>
          <a:prstGeom prst="line">
            <a:avLst/>
          </a:prstGeom>
          <a:noFill/>
          <a:ln w="19050">
            <a:solidFill>
              <a:srgbClr val="0B3B5C"/>
            </a:solidFill>
            <a:prstDash val="dash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4754880" y="3547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③ 免廠商簽名，逕轉主任</a:t>
            </a:r>
            <a:endParaRPr lang="en-US" sz="1050" dirty="0"/>
          </a:p>
        </p:txBody>
      </p:sp>
      <p:sp>
        <p:nvSpPr>
          <p:cNvPr id="26" name="arrow"/>
          <p:cNvSpPr/>
          <p:nvPr/>
        </p:nvSpPr>
        <p:spPr>
          <a:xfrm flipH="1">
            <a:off x="3657600" y="1965960"/>
            <a:ext cx="2514600" cy="41148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2011680" y="1783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他人再鎖定續填</a:t>
            </a:r>
            <a:endParaRPr lang="en-US" sz="1050" dirty="0"/>
          </a:p>
        </p:txBody>
      </p:sp>
      <p:sp>
        <p:nvSpPr>
          <p:cNvPr id="28" name="arrow"/>
          <p:cNvSpPr/>
          <p:nvPr/>
        </p:nvSpPr>
        <p:spPr>
          <a:xfrm>
            <a:off x="7223760" y="2743200"/>
            <a:ext cx="640080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7086600" y="2057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廠商上傳</a:t>
            </a:r>
            <a:endParaRPr lang="en-US" sz="1050" dirty="0"/>
          </a:p>
        </p:txBody>
      </p:sp>
      <p:sp>
        <p:nvSpPr>
          <p:cNvPr id="30" name="arrow"/>
          <p:cNvSpPr/>
          <p:nvPr/>
        </p:nvSpPr>
        <p:spPr>
          <a:xfrm>
            <a:off x="9692640" y="2743200"/>
            <a:ext cx="411480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9509760" y="2057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憑證</a:t>
            </a:r>
            <a:endParaRPr lang="en-US" sz="1050" dirty="0"/>
          </a:p>
        </p:txBody>
      </p:sp>
      <p:sp>
        <p:nvSpPr>
          <p:cNvPr id="32" name="pt"/>
          <p:cNvSpPr/>
          <p:nvPr/>
        </p:nvSpPr>
        <p:spPr>
          <a:xfrm>
            <a:off x="457200" y="402336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" y="4023360"/>
            <a:ext cx="5166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5C"/>
                </a:solidFill>
              </a:rPr>
              <a:t>上傳並簽名時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工務所同仁上傳填好的 PDF、手寫簽名，並選「下一關」（三選一）與判定結果「○ 合格／╳ 有缺失」。</a:t>
            </a:r>
            <a:endParaRPr lang="en-US" sz="1400" dirty="0"/>
          </a:p>
        </p:txBody>
      </p:sp>
      <p:sp>
        <p:nvSpPr>
          <p:cNvPr id="34" name="pt"/>
          <p:cNvSpPr/>
          <p:nvPr/>
        </p:nvSpPr>
        <p:spPr>
          <a:xfrm>
            <a:off x="6172200" y="402336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55080" y="4023360"/>
            <a:ext cx="5166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5C"/>
                </a:solidFill>
              </a:rPr>
              <a:t>廠商簽名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狀態為「待廠商簽名」時，廠商品管人員下載最新版、簽名後按「上傳廠商簽名 PDF」，自動轉主任。</a:t>
            </a:r>
            <a:endParaRPr lang="en-US" sz="1400" dirty="0"/>
          </a:p>
        </p:txBody>
      </p:sp>
      <p:sp>
        <p:nvSpPr>
          <p:cNvPr id="36" name="pt"/>
          <p:cNvSpPr/>
          <p:nvPr/>
        </p:nvSpPr>
        <p:spPr>
          <a:xfrm>
            <a:off x="457200" y="5184648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5184648"/>
            <a:ext cx="5166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5C"/>
                </a:solidFill>
              </a:rPr>
              <a:t>主任加簽結案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工務所主任以實體自然人憑證或行動自然人憑證（TW FidO）簽章結案；若為會驗抽查，合格即放行停留點。</a:t>
            </a:r>
            <a:endParaRPr lang="en-US" sz="1400" dirty="0"/>
          </a:p>
        </p:txBody>
      </p:sp>
      <p:sp>
        <p:nvSpPr>
          <p:cNvPr id="38" name="pt"/>
          <p:cNvSpPr/>
          <p:nvPr/>
        </p:nvSpPr>
        <p:spPr>
          <a:xfrm>
            <a:off x="6172200" y="5184648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355080" y="5184648"/>
            <a:ext cx="5166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5C"/>
                </a:solidFill>
              </a:rPr>
              <a:t>有缺失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結案時自動建立缺失追蹤（來源：抽查（PDF））；已放行／已判定的會驗抽查不可解除結案。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業務規則與可調參數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規則寫在系統裡，參數由系統管理員在後台「參數設定」調整</a:t>
            </a:r>
            <a:endParaRPr lang="en-US" sz="1400" dirty="0"/>
          </a:p>
        </p:txBody>
      </p:sp>
      <p:sp>
        <p:nvSpPr>
          <p:cNvPr id="4" name="param"/>
          <p:cNvSpPr/>
          <p:nvPr/>
        </p:nvSpPr>
        <p:spPr>
          <a:xfrm>
            <a:off x="457200" y="13258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0B3B5C"/>
          </a:solidFill>
          <a:ln w="12700">
            <a:solidFill>
              <a:srgbClr val="0B3B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24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 小時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停留點會驗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最少提前申請</a:t>
            </a:r>
            <a:endParaRPr lang="en-US" sz="1300" dirty="0"/>
          </a:p>
        </p:txBody>
      </p:sp>
      <p:sp>
        <p:nvSpPr>
          <p:cNvPr id="7" name="param"/>
          <p:cNvSpPr/>
          <p:nvPr/>
        </p:nvSpPr>
        <p:spPr>
          <a:xfrm>
            <a:off x="3291840" y="13258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0B3B5C"/>
          </a:solidFill>
          <a:ln w="12700">
            <a:solidFill>
              <a:srgbClr val="0B3B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3716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8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 小時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1945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工務所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回覆期限</a:t>
            </a:r>
            <a:endParaRPr lang="en-US" sz="1300" dirty="0"/>
          </a:p>
        </p:txBody>
      </p:sp>
      <p:sp>
        <p:nvSpPr>
          <p:cNvPr id="10" name="param"/>
          <p:cNvSpPr/>
          <p:nvPr/>
        </p:nvSpPr>
        <p:spPr>
          <a:xfrm>
            <a:off x="6126480" y="13258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0B3B5C"/>
          </a:solidFill>
          <a:ln w="12700">
            <a:solidFill>
              <a:srgbClr val="0B3B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3716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400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 KB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1945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現場照片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壓縮上限</a:t>
            </a:r>
            <a:endParaRPr lang="en-US" sz="1300" dirty="0"/>
          </a:p>
        </p:txBody>
      </p:sp>
      <p:sp>
        <p:nvSpPr>
          <p:cNvPr id="13" name="param"/>
          <p:cNvSpPr/>
          <p:nvPr/>
        </p:nvSpPr>
        <p:spPr>
          <a:xfrm>
            <a:off x="8961120" y="13258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0B3B5C"/>
          </a:solidFill>
          <a:ln w="12700">
            <a:solidFill>
              <a:srgbClr val="0B3B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89720" y="13716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7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 天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21945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缺失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改善期限</a:t>
            </a:r>
            <a:endParaRPr lang="en-US" sz="1300" dirty="0"/>
          </a:p>
        </p:txBody>
      </p:sp>
      <p:sp>
        <p:nvSpPr>
          <p:cNvPr id="16" name="dot"/>
          <p:cNvSpPr/>
          <p:nvPr/>
        </p:nvSpPr>
        <p:spPr>
          <a:xfrm>
            <a:off x="502920" y="3236976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31272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5C"/>
                </a:solidFill>
              </a:rPr>
              <a:t>範本版本控管　</a:t>
            </a:r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已被使用的範本修改須另存新版本；項目有永久代碼，改版或調整順序後，會驗仍對應正確項目。</a:t>
            </a:r>
            <a:endParaRPr lang="en-US" sz="1350" dirty="0"/>
          </a:p>
        </p:txBody>
      </p:sp>
      <p:sp>
        <p:nvSpPr>
          <p:cNvPr id="18" name="dot"/>
          <p:cNvSpPr/>
          <p:nvPr/>
        </p:nvSpPr>
        <p:spPr>
          <a:xfrm>
            <a:off x="502920" y="3785616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" y="367588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5C"/>
                </a:solidFill>
              </a:rPr>
              <a:t>防竄改　</a:t>
            </a:r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線上表單簽認、PDF 結案後產生內容雜湊並鎖定；已簽認的表單不再被會驗結果回寫。</a:t>
            </a:r>
            <a:endParaRPr lang="en-US" sz="1350" dirty="0"/>
          </a:p>
        </p:txBody>
      </p:sp>
      <p:sp>
        <p:nvSpPr>
          <p:cNvPr id="20" name="dot"/>
          <p:cNvSpPr/>
          <p:nvPr/>
        </p:nvSpPr>
        <p:spPr>
          <a:xfrm>
            <a:off x="502920" y="4334256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42245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5C"/>
                </a:solidFill>
              </a:rPr>
              <a:t>唯讀控管　</a:t>
            </a:r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工務所只能檢視自主檢查表；抽查紀錄只能由工務所填寫；PDF 僅鎖定人可上傳。</a:t>
            </a:r>
            <a:endParaRPr lang="en-US" sz="1350" dirty="0"/>
          </a:p>
        </p:txBody>
      </p:sp>
      <p:sp>
        <p:nvSpPr>
          <p:cNvPr id="22" name="dot"/>
          <p:cNvSpPr/>
          <p:nvPr/>
        </p:nvSpPr>
        <p:spPr>
          <a:xfrm>
            <a:off x="502920" y="4882896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" y="47731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5C"/>
                </a:solidFill>
              </a:rPr>
              <a:t>關聯子表單　</a:t>
            </a:r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連到同單元的真實紀錄（如表5-4），簽認／結案後主表才可判 ○，送出時自動列為附件。</a:t>
            </a:r>
            <a:endParaRPr lang="en-US" sz="1350" dirty="0"/>
          </a:p>
        </p:txBody>
      </p:sp>
      <p:sp>
        <p:nvSpPr>
          <p:cNvPr id="24" name="dot"/>
          <p:cNvSpPr/>
          <p:nvPr/>
        </p:nvSpPr>
        <p:spPr>
          <a:xfrm>
            <a:off x="502920" y="5431536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532180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5C"/>
                </a:solidFill>
              </a:rPr>
              <a:t>重複與刪除檢查　</a:t>
            </a:r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同單元同表已有填寫中的表單直接開啟；分項工程、參考文件仍被引用時不可刪除。</a:t>
            </a:r>
            <a:endParaRPr lang="en-US" sz="1350" dirty="0"/>
          </a:p>
        </p:txBody>
      </p:sp>
      <p:sp>
        <p:nvSpPr>
          <p:cNvPr id="26" name="dot"/>
          <p:cNvSpPr/>
          <p:nvPr/>
        </p:nvSpPr>
        <p:spPr>
          <a:xfrm>
            <a:off x="502920" y="5980176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0120" y="58704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5C"/>
                </a:solidFill>
              </a:rPr>
              <a:t>人員來自帳號　</a:t>
            </a:r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簽認人、會驗申請人、Email 收件人、逾時通知主管，都取自「帳號與權限」。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no"/>
          <p:cNvSpPr/>
          <p:nvPr/>
        </p:nvSpPr>
        <p:spPr>
          <a:xfrm>
            <a:off x="731520" y="2697480"/>
            <a:ext cx="1005840" cy="10058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697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3B5C"/>
                </a:solidFill>
              </a:rPr>
              <a:t>04</a:t>
            </a:r>
            <a:endParaRPr lang="en-US" sz="3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03120" y="265176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後台管理頁面操作</a:t>
            </a:r>
            <a:endParaRPr lang="en-US" sz="3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361188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對象：系統管理員、捷運局工務所（桌機）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查驗總覽：一頁掌握待辦與風險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登入後首頁，可切換「全部標別／CF624H 水環標／CF671 土建標」</a:t>
            </a:r>
            <a:endParaRPr lang="en-US" sz="1400" dirty="0"/>
          </a:p>
        </p:txBody>
      </p:sp>
      <p:sp>
        <p:nvSpPr>
          <p:cNvPr id="4" name="frame-a01_dashboard"/>
          <p:cNvSpPr/>
          <p:nvPr/>
        </p:nvSpPr>
        <p:spPr>
          <a:xfrm>
            <a:off x="411480" y="1261872"/>
            <a:ext cx="7635240" cy="47720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a01_dashboard" descr="img2/a01_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7635240" cy="477202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1812112" y="2266426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812112" y="226642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1812112" y="302995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812112" y="302995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5591556" y="348329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591556" y="34832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4"/>
          <p:cNvSpPr/>
          <p:nvPr/>
        </p:nvSpPr>
        <p:spPr>
          <a:xfrm>
            <a:off x="6049670" y="302995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49670" y="302995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badge-5"/>
          <p:cNvSpPr/>
          <p:nvPr/>
        </p:nvSpPr>
        <p:spPr>
          <a:xfrm>
            <a:off x="1812112" y="4795599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812112" y="479559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6" name="badge-6"/>
          <p:cNvSpPr/>
          <p:nvPr/>
        </p:nvSpPr>
        <p:spPr>
          <a:xfrm>
            <a:off x="6049670" y="491490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49670" y="49149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18" name="panel"/>
          <p:cNvSpPr/>
          <p:nvPr/>
        </p:nvSpPr>
        <p:spPr>
          <a:xfrm>
            <a:off x="8275320" y="1261872"/>
            <a:ext cx="3502152" cy="4772025"/>
          </a:xfrm>
          <a:prstGeom prst="roundRect">
            <a:avLst>
              <a:gd name="adj" fmla="val 2089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58200" y="13533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97D4"/>
                </a:solidFill>
              </a:rPr>
              <a:t>操作說明</a:t>
            </a:r>
            <a:endParaRPr lang="en-US" sz="1400" dirty="0"/>
          </a:p>
        </p:txBody>
      </p:sp>
      <p:sp>
        <p:nvSpPr>
          <p:cNvPr id="20" name="badge-1"/>
          <p:cNvSpPr/>
          <p:nvPr/>
        </p:nvSpPr>
        <p:spPr>
          <a:xfrm>
            <a:off x="8458200" y="1801368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869680" y="1746504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四張統計卡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待回覆申請、未來 7 天會驗、未結案缺失、自檢表張數與抽查率（同一張表只算一次）</a:t>
            </a:r>
            <a:endParaRPr lang="en-US" sz="1300" dirty="0"/>
          </a:p>
        </p:txBody>
      </p:sp>
      <p:sp>
        <p:nvSpPr>
          <p:cNvPr id="23" name="badge-2"/>
          <p:cNvSpPr/>
          <p:nvPr/>
        </p:nvSpPr>
        <p:spPr>
          <a:xfrm>
            <a:off x="8458200" y="2493073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458200" y="24930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869680" y="2438209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待處理停留點申請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依回覆期限排序，逾時以紅底標示</a:t>
            </a:r>
            <a:endParaRPr lang="en-US" sz="1300" dirty="0"/>
          </a:p>
        </p:txBody>
      </p:sp>
      <p:sp>
        <p:nvSpPr>
          <p:cNvPr id="26" name="badge-3"/>
          <p:cNvSpPr/>
          <p:nvPr/>
        </p:nvSpPr>
        <p:spPr>
          <a:xfrm>
            <a:off x="8458200" y="3184779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458200" y="31847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869680" y="3129915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「處理」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直接進入停留點會驗管理該筆申請</a:t>
            </a:r>
            <a:endParaRPr lang="en-US" sz="1300" dirty="0"/>
          </a:p>
        </p:txBody>
      </p:sp>
      <p:sp>
        <p:nvSpPr>
          <p:cNvPr id="29" name="badge-4"/>
          <p:cNvSpPr/>
          <p:nvPr/>
        </p:nvSpPr>
        <p:spPr>
          <a:xfrm>
            <a:off x="8458200" y="3876484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458200" y="38764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8869680" y="3821620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未結案缺失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顯示逾期天數／待複查／改善中</a:t>
            </a:r>
            <a:endParaRPr lang="en-US" sz="1300" dirty="0"/>
          </a:p>
        </p:txBody>
      </p:sp>
      <p:sp>
        <p:nvSpPr>
          <p:cNvPr id="32" name="badge-5"/>
          <p:cNvSpPr/>
          <p:nvPr/>
        </p:nvSpPr>
        <p:spPr>
          <a:xfrm>
            <a:off x="8458200" y="4568190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458200" y="45681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8869680" y="4513326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分項工程查驗進度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各工項的自檢表、抽查表、停留點、抽查合格率</a:t>
            </a:r>
            <a:endParaRPr lang="en-US" sz="1300" dirty="0"/>
          </a:p>
        </p:txBody>
      </p:sp>
      <p:sp>
        <p:nvSpPr>
          <p:cNvPr id="35" name="badge-6"/>
          <p:cNvSpPr/>
          <p:nvPr/>
        </p:nvSpPr>
        <p:spPr>
          <a:xfrm>
            <a:off x="8458200" y="5259895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5259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8869680" y="5205031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今日會驗與抽查行程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依時間排列今日現場行程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標案與分項工程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先建立「標案 → 分項工程」架構，表單範本掛在分項工程底下</a:t>
            </a:r>
            <a:endParaRPr lang="en-US" sz="1400" dirty="0"/>
          </a:p>
        </p:txBody>
      </p:sp>
      <p:sp>
        <p:nvSpPr>
          <p:cNvPr id="4" name="frame-a07_projects"/>
          <p:cNvSpPr/>
          <p:nvPr/>
        </p:nvSpPr>
        <p:spPr>
          <a:xfrm>
            <a:off x="411480" y="1261872"/>
            <a:ext cx="7635240" cy="47720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a07_projects" descr="img2/a07_projec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7635240" cy="477202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1850288" y="2314146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850288" y="231414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3530041" y="240958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30041" y="240958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3682746" y="3578733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82746" y="357873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4"/>
          <p:cNvSpPr/>
          <p:nvPr/>
        </p:nvSpPr>
        <p:spPr>
          <a:xfrm>
            <a:off x="6813194" y="388891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13194" y="388891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badge-5"/>
          <p:cNvSpPr/>
          <p:nvPr/>
        </p:nvSpPr>
        <p:spPr>
          <a:xfrm>
            <a:off x="7271309" y="438997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271309" y="438997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6" name="badge-6"/>
          <p:cNvSpPr/>
          <p:nvPr/>
        </p:nvSpPr>
        <p:spPr>
          <a:xfrm>
            <a:off x="5591556" y="5081921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591556" y="508192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18" name="panel"/>
          <p:cNvSpPr/>
          <p:nvPr/>
        </p:nvSpPr>
        <p:spPr>
          <a:xfrm>
            <a:off x="8275320" y="1261872"/>
            <a:ext cx="3502152" cy="4772025"/>
          </a:xfrm>
          <a:prstGeom prst="roundRect">
            <a:avLst>
              <a:gd name="adj" fmla="val 2089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58200" y="13533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97D4"/>
                </a:solidFill>
              </a:rPr>
              <a:t>操作說明</a:t>
            </a:r>
            <a:endParaRPr lang="en-US" sz="1400" dirty="0"/>
          </a:p>
        </p:txBody>
      </p:sp>
      <p:sp>
        <p:nvSpPr>
          <p:cNvPr id="20" name="badge-1"/>
          <p:cNvSpPr/>
          <p:nvPr/>
        </p:nvSpPr>
        <p:spPr>
          <a:xfrm>
            <a:off x="8458200" y="1801368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869680" y="1746504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標案架構樹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區段標 → 標案 → 分項工程，點選切換</a:t>
            </a:r>
            <a:endParaRPr lang="en-US" sz="1300" dirty="0"/>
          </a:p>
        </p:txBody>
      </p:sp>
      <p:sp>
        <p:nvSpPr>
          <p:cNvPr id="23" name="badge-2"/>
          <p:cNvSpPr/>
          <p:nvPr/>
        </p:nvSpPr>
        <p:spPr>
          <a:xfrm>
            <a:off x="8458200" y="2493073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458200" y="24930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869680" y="2438209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標案基本資料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承包商、監造單位、工期；「編輯標案」修改</a:t>
            </a:r>
            <a:endParaRPr lang="en-US" sz="1300" dirty="0"/>
          </a:p>
        </p:txBody>
      </p:sp>
      <p:sp>
        <p:nvSpPr>
          <p:cNvPr id="26" name="badge-3"/>
          <p:cNvSpPr/>
          <p:nvPr/>
        </p:nvSpPr>
        <p:spPr>
          <a:xfrm>
            <a:off x="8458200" y="3184779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458200" y="31847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869680" y="3129915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分項工程清單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項次、數量單位、狀態，可搜尋與篩選</a:t>
            </a:r>
            <a:endParaRPr lang="en-US" sz="1300" dirty="0"/>
          </a:p>
        </p:txBody>
      </p:sp>
      <p:sp>
        <p:nvSpPr>
          <p:cNvPr id="29" name="badge-4"/>
          <p:cNvSpPr/>
          <p:nvPr/>
        </p:nvSpPr>
        <p:spPr>
          <a:xfrm>
            <a:off x="8458200" y="3876484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458200" y="38764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8869680" y="3821620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匯入範本／新增分項工程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批次匯入 Excel，或手動新增</a:t>
            </a:r>
            <a:endParaRPr lang="en-US" sz="1300" dirty="0"/>
          </a:p>
        </p:txBody>
      </p:sp>
      <p:sp>
        <p:nvSpPr>
          <p:cNvPr id="32" name="badge-5"/>
          <p:cNvSpPr/>
          <p:nvPr/>
        </p:nvSpPr>
        <p:spPr>
          <a:xfrm>
            <a:off x="8458200" y="4568190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458200" y="45681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8869680" y="4513326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範本／編輯／刪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「範本」直接跳到該工項的表單範本</a:t>
            </a:r>
            <a:endParaRPr lang="en-US" sz="1300" dirty="0"/>
          </a:p>
        </p:txBody>
      </p:sp>
      <p:sp>
        <p:nvSpPr>
          <p:cNvPr id="35" name="badge-6"/>
          <p:cNvSpPr/>
          <p:nvPr/>
        </p:nvSpPr>
        <p:spPr>
          <a:xfrm>
            <a:off x="8458200" y="5259895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5259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8869680" y="5205031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範本設定數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顯示自主檢查表、抽查表數與 PDF 數，未設定會提示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表單範本（一）：線上表單設定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以「表5-5 連續壁施工自主檢查表」為例；範本來源可對應施工計畫書頁次</a:t>
            </a:r>
            <a:endParaRPr lang="en-US" sz="1400" dirty="0"/>
          </a:p>
        </p:txBody>
      </p:sp>
      <p:sp>
        <p:nvSpPr>
          <p:cNvPr id="4" name="frame-a08_tpl_online"/>
          <p:cNvSpPr/>
          <p:nvPr/>
        </p:nvSpPr>
        <p:spPr>
          <a:xfrm>
            <a:off x="411480" y="1261872"/>
            <a:ext cx="7635240" cy="47720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a08_tpl_online" descr="img2/a08_tpl_onli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7635240" cy="477202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1163117" y="252888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63117" y="252888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4446270" y="2791349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46270" y="279134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3453689" y="305381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53689" y="305381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4"/>
          <p:cNvSpPr/>
          <p:nvPr/>
        </p:nvSpPr>
        <p:spPr>
          <a:xfrm>
            <a:off x="7538542" y="305381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538542" y="305381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badge-5"/>
          <p:cNvSpPr/>
          <p:nvPr/>
        </p:nvSpPr>
        <p:spPr>
          <a:xfrm>
            <a:off x="4980737" y="453313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980737" y="45331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6" name="panel"/>
          <p:cNvSpPr/>
          <p:nvPr/>
        </p:nvSpPr>
        <p:spPr>
          <a:xfrm>
            <a:off x="8275320" y="1261872"/>
            <a:ext cx="3502152" cy="4772025"/>
          </a:xfrm>
          <a:prstGeom prst="roundRect">
            <a:avLst>
              <a:gd name="adj" fmla="val 2089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58200" y="13533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97D4"/>
                </a:solidFill>
              </a:rPr>
              <a:t>操作說明</a:t>
            </a:r>
            <a:endParaRPr lang="en-US" sz="1400" dirty="0"/>
          </a:p>
        </p:txBody>
      </p:sp>
      <p:sp>
        <p:nvSpPr>
          <p:cNvPr id="18" name="badge-1"/>
          <p:cNvSpPr/>
          <p:nvPr/>
        </p:nvSpPr>
        <p:spPr>
          <a:xfrm>
            <a:off x="8458200" y="1801368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5820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869680" y="1746504"/>
            <a:ext cx="2788920" cy="81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範本清單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依分項工程分「自主檢查表（廠商）」「抽查紀錄表（監造）」，可拖曳排序</a:t>
            </a:r>
            <a:endParaRPr lang="en-US" sz="1300" dirty="0"/>
          </a:p>
        </p:txBody>
      </p:sp>
      <p:sp>
        <p:nvSpPr>
          <p:cNvPr id="21" name="badge-2"/>
          <p:cNvSpPr/>
          <p:nvPr/>
        </p:nvSpPr>
        <p:spPr>
          <a:xfrm>
            <a:off x="8458200" y="2631415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458200" y="26314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869680" y="2576551"/>
            <a:ext cx="2788920" cy="81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填寫方式（二選一）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線上表單／空白範本（PDF）</a:t>
            </a:r>
            <a:endParaRPr lang="en-US" sz="1300" dirty="0"/>
          </a:p>
        </p:txBody>
      </p:sp>
      <p:sp>
        <p:nvSpPr>
          <p:cNvPr id="24" name="badge-3"/>
          <p:cNvSpPr/>
          <p:nvPr/>
        </p:nvSpPr>
        <p:spPr>
          <a:xfrm>
            <a:off x="8458200" y="3461461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458200" y="346146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869680" y="3406597"/>
            <a:ext cx="2788920" cy="81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工具列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匯出 Excel／CSV、匯入檢查項目、預覽表單；抽查表可從自檢表同步</a:t>
            </a:r>
            <a:endParaRPr lang="en-US" sz="1300" dirty="0"/>
          </a:p>
        </p:txBody>
      </p:sp>
      <p:sp>
        <p:nvSpPr>
          <p:cNvPr id="27" name="badge-4"/>
          <p:cNvSpPr/>
          <p:nvPr/>
        </p:nvSpPr>
        <p:spPr>
          <a:xfrm>
            <a:off x="8458200" y="4291508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42915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869680" y="4236644"/>
            <a:ext cx="2788920" cy="81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另存新版本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已被使用的範本修改時另存新版本</a:t>
            </a:r>
            <a:endParaRPr lang="en-US" sz="1300" dirty="0"/>
          </a:p>
        </p:txBody>
      </p:sp>
      <p:sp>
        <p:nvSpPr>
          <p:cNvPr id="30" name="badge-5"/>
          <p:cNvSpPr/>
          <p:nvPr/>
        </p:nvSpPr>
        <p:spPr>
          <a:xfrm>
            <a:off x="8458200" y="5121554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512155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869680" y="5066690"/>
            <a:ext cx="2788920" cy="81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檢查項目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每項設定階段、標準、判定類型（選項／數值／關聯表單）、★停留點、必拍照、引用文件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表單範本（二）：檢查項目明細與預覽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設定完成可先「預覽表單」，確認列印版面與判定欄位</a:t>
            </a:r>
            <a:endParaRPr lang="en-US" sz="1400" dirty="0"/>
          </a:p>
        </p:txBody>
      </p:sp>
      <p:sp>
        <p:nvSpPr>
          <p:cNvPr id="4" name="frame-a08b_tpl_online_items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a08b_tpl_online_items" descr="img2/a08b_tpl_online_item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檢查項目逐列設定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分施工前／施工中／施工後三段，▲▼ 調整順序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判定類型選「數值」時，可設定多個欄位、單位與上下限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★停留點、必拍照用勾選；可引用參考文件編號</a:t>
            </a:r>
            <a:endParaRPr lang="en-US" sz="1250" dirty="0"/>
          </a:p>
        </p:txBody>
      </p:sp>
      <p:sp>
        <p:nvSpPr>
          <p:cNvPr id="10" name="frame-a08c_tpl_preview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shot-a08c_tpl_preview" descr="img2/a08c_tpl_preview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2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預覽表單（列印版）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呈現紙本格式：項目、檢查標準、實際檢查情形、判定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數值欄位顯示容許範圍與「必拍照」標記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另可設定表頭欄位、簽認欄、計價欄位與表尾備註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表單範本（三）：空白範本 PDF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以「表5-7 穩定液自主檢查紀錄表」為例，改為 PDF 填寫</a:t>
            </a:r>
            <a:endParaRPr lang="en-US" sz="1400" dirty="0"/>
          </a:p>
        </p:txBody>
      </p:sp>
      <p:sp>
        <p:nvSpPr>
          <p:cNvPr id="4" name="frame-a09_tpl_pdf"/>
          <p:cNvSpPr/>
          <p:nvPr/>
        </p:nvSpPr>
        <p:spPr>
          <a:xfrm>
            <a:off x="411480" y="1261872"/>
            <a:ext cx="7635240" cy="47720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a09_tpl_pdf" descr="img2/a09_tpl_pd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7635240" cy="477202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4980737" y="248116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980737" y="248116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1392174" y="400821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392174" y="400821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4675327" y="381733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75327" y="381733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4"/>
          <p:cNvSpPr/>
          <p:nvPr/>
        </p:nvSpPr>
        <p:spPr>
          <a:xfrm>
            <a:off x="6813194" y="381733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13194" y="381733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panel"/>
          <p:cNvSpPr/>
          <p:nvPr/>
        </p:nvSpPr>
        <p:spPr>
          <a:xfrm>
            <a:off x="8275320" y="1261872"/>
            <a:ext cx="3502152" cy="4772025"/>
          </a:xfrm>
          <a:prstGeom prst="roundRect">
            <a:avLst>
              <a:gd name="adj" fmla="val 2089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58200" y="13533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97D4"/>
                </a:solidFill>
              </a:rPr>
              <a:t>操作說明</a:t>
            </a:r>
            <a:endParaRPr lang="en-US" sz="1400" dirty="0"/>
          </a:p>
        </p:txBody>
      </p:sp>
      <p:sp>
        <p:nvSpPr>
          <p:cNvPr id="16" name="badge-1"/>
          <p:cNvSpPr/>
          <p:nvPr/>
        </p:nvSpPr>
        <p:spPr>
          <a:xfrm>
            <a:off x="8458200" y="1801368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5820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869680" y="1746504"/>
            <a:ext cx="2788920" cy="1019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切換「空白範本（PDF）」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在範本編輯頁選擇填寫方式</a:t>
            </a:r>
            <a:endParaRPr lang="en-US" sz="1300" dirty="0"/>
          </a:p>
        </p:txBody>
      </p:sp>
      <p:sp>
        <p:nvSpPr>
          <p:cNvPr id="19" name="badge-2"/>
          <p:cNvSpPr/>
          <p:nvPr/>
        </p:nvSpPr>
        <p:spPr>
          <a:xfrm>
            <a:off x="8458200" y="2838926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58200" y="283892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869680" y="2784062"/>
            <a:ext cx="2788920" cy="1019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清單標示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範本清單出現「空白範本 PDF」標籤，一眼可辨</a:t>
            </a:r>
            <a:endParaRPr lang="en-US" sz="1300" dirty="0"/>
          </a:p>
        </p:txBody>
      </p:sp>
      <p:sp>
        <p:nvSpPr>
          <p:cNvPr id="22" name="badge-3"/>
          <p:cNvSpPr/>
          <p:nvPr/>
        </p:nvSpPr>
        <p:spPr>
          <a:xfrm>
            <a:off x="8458200" y="3876484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458200" y="38764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869680" y="3821620"/>
            <a:ext cx="2788920" cy="1019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上傳空白 PDF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上傳後顯示檔名、大小、上傳時間</a:t>
            </a:r>
            <a:endParaRPr lang="en-US" sz="1300" dirty="0"/>
          </a:p>
        </p:txBody>
      </p:sp>
      <p:sp>
        <p:nvSpPr>
          <p:cNvPr id="25" name="badge-4"/>
          <p:cNvSpPr/>
          <p:nvPr/>
        </p:nvSpPr>
        <p:spPr>
          <a:xfrm>
            <a:off x="8458200" y="4914043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491404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869680" y="4859179"/>
            <a:ext cx="2788920" cy="1019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預覽／下載／重新上傳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可直接在頁面預覽 PDF；更新範本另存新版本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範本匯入：Excel 批次建立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把施工計畫書中的檢查表整理成 Excel，一次匯入多張範本</a:t>
            </a:r>
            <a:endParaRPr lang="en-US" sz="1400" dirty="0"/>
          </a:p>
        </p:txBody>
      </p:sp>
      <p:sp>
        <p:nvSpPr>
          <p:cNvPr id="4" name="frame-a10_import"/>
          <p:cNvSpPr/>
          <p:nvPr/>
        </p:nvSpPr>
        <p:spPr>
          <a:xfrm>
            <a:off x="411480" y="1261872"/>
            <a:ext cx="7635240" cy="47720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a10_import" descr="img2/a10_impo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7635240" cy="477202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6813194" y="1717643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13194" y="171764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4064508" y="205168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064508" y="205168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1621231" y="2862929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621231" y="286292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4"/>
          <p:cNvSpPr/>
          <p:nvPr/>
        </p:nvSpPr>
        <p:spPr>
          <a:xfrm>
            <a:off x="4980737" y="348329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80737" y="34832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badge-5"/>
          <p:cNvSpPr/>
          <p:nvPr/>
        </p:nvSpPr>
        <p:spPr>
          <a:xfrm>
            <a:off x="7271309" y="434225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271309" y="434225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6" name="badge-6"/>
          <p:cNvSpPr/>
          <p:nvPr/>
        </p:nvSpPr>
        <p:spPr>
          <a:xfrm>
            <a:off x="7118604" y="5058061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18604" y="505806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18" name="panel"/>
          <p:cNvSpPr/>
          <p:nvPr/>
        </p:nvSpPr>
        <p:spPr>
          <a:xfrm>
            <a:off x="8275320" y="1261872"/>
            <a:ext cx="3502152" cy="4772025"/>
          </a:xfrm>
          <a:prstGeom prst="roundRect">
            <a:avLst>
              <a:gd name="adj" fmla="val 2089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58200" y="13533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97D4"/>
                </a:solidFill>
              </a:rPr>
              <a:t>操作說明</a:t>
            </a:r>
            <a:endParaRPr lang="en-US" sz="1400" dirty="0"/>
          </a:p>
        </p:txBody>
      </p:sp>
      <p:sp>
        <p:nvSpPr>
          <p:cNvPr id="20" name="badge-1"/>
          <p:cNvSpPr/>
          <p:nvPr/>
        </p:nvSpPr>
        <p:spPr>
          <a:xfrm>
            <a:off x="8458200" y="1801368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869680" y="1746504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下載標準匯入樣本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提供 .xlsx 與 .csv 格式</a:t>
            </a:r>
            <a:endParaRPr lang="en-US" sz="1300" dirty="0"/>
          </a:p>
        </p:txBody>
      </p:sp>
      <p:sp>
        <p:nvSpPr>
          <p:cNvPr id="23" name="badge-2"/>
          <p:cNvSpPr/>
          <p:nvPr/>
        </p:nvSpPr>
        <p:spPr>
          <a:xfrm>
            <a:off x="8458200" y="2493073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458200" y="24930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869680" y="2438209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四步驟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下載樣本 → 上傳檔案 → 預覽與驗證 → 確認匯入</a:t>
            </a:r>
            <a:endParaRPr lang="en-US" sz="1300" dirty="0"/>
          </a:p>
        </p:txBody>
      </p:sp>
      <p:sp>
        <p:nvSpPr>
          <p:cNvPr id="26" name="badge-3"/>
          <p:cNvSpPr/>
          <p:nvPr/>
        </p:nvSpPr>
        <p:spPr>
          <a:xfrm>
            <a:off x="8458200" y="3184779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458200" y="31847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869680" y="3129915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解析結果與匯入方式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建立新範本，或匯入為既有範本的新版本</a:t>
            </a:r>
            <a:endParaRPr lang="en-US" sz="1300" dirty="0"/>
          </a:p>
        </p:txBody>
      </p:sp>
      <p:sp>
        <p:nvSpPr>
          <p:cNvPr id="29" name="badge-4"/>
          <p:cNvSpPr/>
          <p:nvPr/>
        </p:nvSpPr>
        <p:spPr>
          <a:xfrm>
            <a:off x="8458200" y="3876484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458200" y="38764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8869680" y="3821620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預覽與驗證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逐列顯示驗證結果</a:t>
            </a:r>
            <a:endParaRPr lang="en-US" sz="1300" dirty="0"/>
          </a:p>
        </p:txBody>
      </p:sp>
      <p:sp>
        <p:nvSpPr>
          <p:cNvPr id="32" name="badge-5"/>
          <p:cNvSpPr/>
          <p:nvPr/>
        </p:nvSpPr>
        <p:spPr>
          <a:xfrm>
            <a:off x="8458200" y="4568190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458200" y="45681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8869680" y="4513326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錯誤提示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例如判定型別不符、引用文件不存在，標紅說明原因</a:t>
            </a:r>
            <a:endParaRPr lang="en-US" sz="1300" dirty="0"/>
          </a:p>
        </p:txBody>
      </p:sp>
      <p:sp>
        <p:nvSpPr>
          <p:cNvPr id="35" name="badge-6"/>
          <p:cNvSpPr/>
          <p:nvPr/>
        </p:nvSpPr>
        <p:spPr>
          <a:xfrm>
            <a:off x="8458200" y="5259895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5259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8869680" y="5205031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匯入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只匯入驗證通過的列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停留點會驗管理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工務所在後台處理會驗申請；也可切換「日曆檢視」</a:t>
            </a:r>
            <a:endParaRPr lang="en-US" sz="1400" dirty="0"/>
          </a:p>
        </p:txBody>
      </p:sp>
      <p:sp>
        <p:nvSpPr>
          <p:cNvPr id="4" name="frame-a02_holds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a02_holds" descr="img2/a02_hold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1353312" y="196167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353312" y="196167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1906524" y="2549461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906524" y="254946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4672584" y="216912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72584" y="2169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待回覆清單與申請詳情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頁籤：待回覆／已排定／檢驗中／合格放行／不合格／已退回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清單顯示預定會驗時間與回覆倒數，逾時紅字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詳情：檢查標準、廠商自檢數據、照片、短時間申請原因、通知歷程</a:t>
            </a:r>
            <a:endParaRPr lang="en-US" sz="1250" dirty="0"/>
          </a:p>
        </p:txBody>
      </p:sp>
      <p:sp>
        <p:nvSpPr>
          <p:cNvPr id="16" name="frame-a02c_holds_scheduled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shot-a02c_holds_scheduled" descr="img2/a02c_holds_schedule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8" name="badge-1"/>
          <p:cNvSpPr/>
          <p:nvPr/>
        </p:nvSpPr>
        <p:spPr>
          <a:xfrm>
            <a:off x="10727741" y="341385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0727741" y="341385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badge-2"/>
          <p:cNvSpPr/>
          <p:nvPr/>
        </p:nvSpPr>
        <p:spPr>
          <a:xfrm>
            <a:off x="10727741" y="398435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0727741" y="398435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排定、改期、退回、開始會驗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排定會驗時間與人員（下拉選工務所同仁）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按鈕：改期、退回（須填原因）、開始會驗（建立抽查紀錄）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每個動作都寫入通知歷程，並 Email 通知廠商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自主檢查紀錄查詢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後台查詢廠商送出的自主檢查表（含 PDF 版本）</a:t>
            </a:r>
            <a:endParaRPr lang="en-US" sz="1400" dirty="0"/>
          </a:p>
        </p:txBody>
      </p:sp>
      <p:sp>
        <p:nvSpPr>
          <p:cNvPr id="4" name="frame-a03b_selfchecks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a03b_selfchecks" descr="img2/a03b_selfcheck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紀錄清單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編號、表單版本、分項／單元位置、日期、進度、狀態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PDF 表單有「PDF」標籤，狀態顯示已結案／待流轉等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點選列開啟詳情</a:t>
            </a:r>
            <a:endParaRPr lang="en-US" sz="1250" dirty="0"/>
          </a:p>
        </p:txBody>
      </p:sp>
      <p:sp>
        <p:nvSpPr>
          <p:cNvPr id="10" name="frame-a03c_sc_detail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shot-a03c_sc_detail" descr="img2/a03c_sc_detai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2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紀錄詳情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逐項顯示實測值、判定、照片數、停留點放行狀態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底部顯示簽認人、時間與內容雜湊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PDF 表單則顯示辦理軌跡與各版成果檔下載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抽查紀錄查詢與 PDF 辦理軌跡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會驗抽查與隨機抽查都在這裡查</a:t>
            </a:r>
            <a:endParaRPr lang="en-US" sz="1400" dirty="0"/>
          </a:p>
        </p:txBody>
      </p:sp>
      <p:sp>
        <p:nvSpPr>
          <p:cNvPr id="4" name="frame-a04_spots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a04_spots" descr="img2/a04_spo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抽查紀錄清單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抽查時機：檢驗停留點（★項目）或隨機抽查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抽查結果：○／╳／╱ 統計，PDF 顯示「已結案・合格」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狀態：已簽認／已結案</a:t>
            </a:r>
            <a:endParaRPr lang="en-US" sz="1250" dirty="0"/>
          </a:p>
        </p:txBody>
      </p:sp>
      <p:sp>
        <p:nvSpPr>
          <p:cNvPr id="10" name="frame-a04b_spot_pdf_log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shot-a04b_spot_pdf_log" descr="img2/a04b_spot_pdf_lo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2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PDF 抽查表辦理軌跡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目前成果檔（V3）可直接下載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軌跡：下載鎖定 → 上傳並簽名 → 廠商簽名確認 → 主任加簽結案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每一筆記錄人員、時間、說明與當時版本檔案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缺失追蹤與複查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自動建立的缺失在此管考；廠商回報改善後才能複查結案</a:t>
            </a:r>
            <a:endParaRPr lang="en-US" sz="1400" dirty="0"/>
          </a:p>
        </p:txBody>
      </p:sp>
      <p:sp>
        <p:nvSpPr>
          <p:cNvPr id="4" name="frame-a05_defects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a05_defects" descr="img2/a05_defec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1408633" y="1754219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408633" y="175421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2349094" y="223828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349094" y="2238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3898087" y="223828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98087" y="2238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4"/>
          <p:cNvSpPr/>
          <p:nvPr/>
        </p:nvSpPr>
        <p:spPr>
          <a:xfrm>
            <a:off x="5115154" y="223828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115154" y="2238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缺失清單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未結案／已結案／全部；可依標別篩選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缺失名稱、位置、來源（自主檢查／停留點／抽查／PDF）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改善期限，逾期紅字「逾期 N 天」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④ 待複查顯示「複查」；待改善顯示「待廠商改善」</a:t>
            </a:r>
            <a:endParaRPr lang="en-US" sz="1250" dirty="0"/>
          </a:p>
        </p:txBody>
      </p:sp>
      <p:sp>
        <p:nvSpPr>
          <p:cNvPr id="18" name="frame-n11_admin_def_review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9" name="shot-n11_admin_def_review" descr="img2/n11_admin_def_review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20" name="badge-1"/>
          <p:cNvSpPr/>
          <p:nvPr/>
        </p:nvSpPr>
        <p:spPr>
          <a:xfrm>
            <a:off x="9731959" y="168506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731959" y="16850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2" name="badge-2"/>
          <p:cNvSpPr/>
          <p:nvPr/>
        </p:nvSpPr>
        <p:spPr>
          <a:xfrm>
            <a:off x="9731959" y="1996249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731959" y="199624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4" name="badge-3"/>
          <p:cNvSpPr/>
          <p:nvPr/>
        </p:nvSpPr>
        <p:spPr>
          <a:xfrm>
            <a:off x="10672420" y="4416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0672420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badge-4"/>
          <p:cNvSpPr/>
          <p:nvPr/>
        </p:nvSpPr>
        <p:spPr>
          <a:xfrm>
            <a:off x="11336274" y="4416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11336274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複查視窗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廠商改善說明與回報人、時間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改善後照片與處理歷程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「退回重新改善」（須填原因）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④ 「複查合格・結案」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參考文件、帳號與權限、參數設定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基本資料與系統設定</a:t>
            </a:r>
            <a:endParaRPr lang="en-US" sz="1400" dirty="0"/>
          </a:p>
        </p:txBody>
      </p:sp>
      <p:sp>
        <p:nvSpPr>
          <p:cNvPr id="4" name="frame-a11_docs"/>
          <p:cNvSpPr/>
          <p:nvPr/>
        </p:nvSpPr>
        <p:spPr>
          <a:xfrm>
            <a:off x="457200" y="1371600"/>
            <a:ext cx="3611880" cy="22574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a11_docs" descr="img2/a11_doc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611880" cy="22574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857625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B5C"/>
                </a:solidFill>
              </a:rPr>
              <a:t>參考文件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269105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施工計畫書、施工圖、規範編號；範本項目可引用，現場可點開查閱</a:t>
            </a:r>
            <a:endParaRPr lang="en-US" sz="1300" dirty="0"/>
          </a:p>
        </p:txBody>
      </p:sp>
      <p:sp>
        <p:nvSpPr>
          <p:cNvPr id="8" name="frame-a12_users"/>
          <p:cNvSpPr/>
          <p:nvPr/>
        </p:nvSpPr>
        <p:spPr>
          <a:xfrm>
            <a:off x="4279392" y="1371600"/>
            <a:ext cx="3611880" cy="22574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shot-a12_users" descr="img2/a12_user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1371600"/>
            <a:ext cx="3611880" cy="225742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279392" y="3857625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B5C"/>
                </a:solidFill>
              </a:rPr>
              <a:t>帳號與權限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4279392" y="4269105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姓名、角色、單位、Email；角色決定可操作功能與 Email 通知對象</a:t>
            </a:r>
            <a:endParaRPr lang="en-US" sz="1300" dirty="0"/>
          </a:p>
        </p:txBody>
      </p:sp>
      <p:sp>
        <p:nvSpPr>
          <p:cNvPr id="12" name="frame-a13_params"/>
          <p:cNvSpPr/>
          <p:nvPr/>
        </p:nvSpPr>
        <p:spPr>
          <a:xfrm>
            <a:off x="8101584" y="1371600"/>
            <a:ext cx="3611880" cy="22574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shot-a13_params" descr="img2/a13_param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4" y="1371600"/>
            <a:ext cx="3611880" cy="225742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101584" y="3857625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B5C"/>
                </a:solidFill>
              </a:rPr>
              <a:t>參數設定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8101584" y="4269105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會驗提前時數、回覆時限、照片上限、缺失改善天數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no"/>
          <p:cNvSpPr/>
          <p:nvPr/>
        </p:nvSpPr>
        <p:spPr>
          <a:xfrm>
            <a:off x="731520" y="2697480"/>
            <a:ext cx="1005840" cy="10058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697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3B5C"/>
                </a:solidFill>
              </a:rPr>
              <a:t>05</a:t>
            </a:r>
            <a:endParaRPr lang="en-US" sz="3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03120" y="265176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現場作業頁面操作</a:t>
            </a:r>
            <a:endParaRPr lang="en-US" sz="3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361188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對象：廠商品管人員、捷運局工務所同仁（平板／手機）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廠商：今日待辦與自主檢查清單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平板左側（手機在底部）導覽：待辦、自主檢查、抽查紀錄、停留點、參考文件</a:t>
            </a:r>
            <a:endParaRPr lang="en-US" sz="1400" dirty="0"/>
          </a:p>
        </p:txBody>
      </p:sp>
      <p:sp>
        <p:nvSpPr>
          <p:cNvPr id="4" name="frame-f01_todo_contractor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f01_todo_contractor" descr="img2/f01_todo_contract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1132027" y="1512189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32027" y="151218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910742" y="2134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0742" y="2134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今日待辦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頁籤：會驗／表單簽辦／缺失改善，數字為待辦件數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會驗卡片依時間排列，顯示狀態（已排定／待回覆）與逾時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右上可「掃描單元 QR Code」直接開啟該單元表單</a:t>
            </a:r>
            <a:endParaRPr lang="en-US" sz="1250" dirty="0"/>
          </a:p>
        </p:txBody>
      </p:sp>
      <p:sp>
        <p:nvSpPr>
          <p:cNvPr id="14" name="frame-f02_checks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5" name="shot-f02_checks" descr="img2/f02_check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6" name="badge-1"/>
          <p:cNvSpPr/>
          <p:nvPr/>
        </p:nvSpPr>
        <p:spPr>
          <a:xfrm>
            <a:off x="11170310" y="1512189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1170310" y="151218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8" name="badge-2"/>
          <p:cNvSpPr/>
          <p:nvPr/>
        </p:nvSpPr>
        <p:spPr>
          <a:xfrm>
            <a:off x="7740396" y="178879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740396" y="178879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自主檢查清單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「＋新增自主檢查」「掃描 QR」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卡片顯示表單、單元、日期、已判定進度與狀態（填寫中／已簽認）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點卡片進入填寫畫面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廠商：掃描 QR 與表單簽辦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單元有多張表時讓使用者選；PDF 表單只列出輪到自己辦理的</a:t>
            </a:r>
            <a:endParaRPr lang="en-US" sz="1400" dirty="0"/>
          </a:p>
        </p:txBody>
      </p:sp>
      <p:sp>
        <p:nvSpPr>
          <p:cNvPr id="4" name="frame-n02_qr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n02_qr" descr="img2/n02_q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4617263" y="171964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617263" y="17196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4617263" y="2134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17263" y="2134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4617263" y="341385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17263" y="341385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掃描單元 QR Code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輸入或掃描單元編號（例：P12）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列出該單元所有表單與狀態，點選開啟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「新增此單元的其他表單」</a:t>
            </a:r>
            <a:endParaRPr lang="en-US" sz="1250" dirty="0"/>
          </a:p>
        </p:txBody>
      </p:sp>
      <p:sp>
        <p:nvSpPr>
          <p:cNvPr id="16" name="frame-n01_todo_pdf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shot-n01_todo_pdf" descr="img2/n01_todo_pdf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8" name="badge-1"/>
          <p:cNvSpPr/>
          <p:nvPr/>
        </p:nvSpPr>
        <p:spPr>
          <a:xfrm>
            <a:off x="7131863" y="171964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131863" y="17196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badge-2"/>
          <p:cNvSpPr/>
          <p:nvPr/>
        </p:nvSpPr>
        <p:spPr>
          <a:xfrm>
            <a:off x="6633972" y="1996249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633972" y="199624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badge-3"/>
          <p:cNvSpPr/>
          <p:nvPr/>
        </p:nvSpPr>
        <p:spPr>
          <a:xfrm>
            <a:off x="6633972" y="220370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633972" y="2203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今日待辦：表單簽辦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「表單簽辦」分頁：PDF 表單待辦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依身分只列輪到自己的表單（如待廠商簽名）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提示下一步動作，按「開啟表單」辦理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廠商：新增自主檢查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三層下拉選單避免選錯表單；同單元同一張表不會重複建立</a:t>
            </a:r>
            <a:endParaRPr lang="en-US" sz="1400" dirty="0"/>
          </a:p>
        </p:txBody>
      </p:sp>
      <p:sp>
        <p:nvSpPr>
          <p:cNvPr id="4" name="frame-f03_new_sc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f03_new_sc" descr="img2/f03_new_s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4783226" y="1736931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783226" y="173693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4783226" y="203082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783226" y="203082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4783226" y="2324719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83226" y="232471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4"/>
          <p:cNvSpPr/>
          <p:nvPr/>
        </p:nvSpPr>
        <p:spPr>
          <a:xfrm>
            <a:off x="4783226" y="2618613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83226" y="261861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新增自主檢查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選標案　② 選工項（分項工程）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選表單：只列已發布範本，註明線上或 PDF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④ 單元編號與位置，可用 QR Code 帶入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按「建立並開始」產生編號、進入填寫</a:t>
            </a:r>
            <a:endParaRPr lang="en-US" sz="1250" dirty="0"/>
          </a:p>
        </p:txBody>
      </p:sp>
      <p:sp>
        <p:nvSpPr>
          <p:cNvPr id="18" name="frame-n03_dup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9" name="shot-n03_dup" descr="img2/n03_du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20" name="badge-1"/>
          <p:cNvSpPr/>
          <p:nvPr/>
        </p:nvSpPr>
        <p:spPr>
          <a:xfrm>
            <a:off x="10506456" y="2998946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0506456" y="299894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2" name="badge-2"/>
          <p:cNvSpPr/>
          <p:nvPr/>
        </p:nvSpPr>
        <p:spPr>
          <a:xfrm>
            <a:off x="11280953" y="4416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1280953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4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重複建表提示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已有填寫中的同一張表 → 直接開啟；已有簽認完成的 → 提示紀錄編號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若為重新檢查，按「仍要建立」才會新增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廠商：逐項檢查（施工前）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左邊項目清單、右邊填寫區；每個項目都看得到檢查標準</a:t>
            </a:r>
            <a:endParaRPr lang="en-US" sz="1400" dirty="0"/>
          </a:p>
        </p:txBody>
      </p:sp>
      <p:sp>
        <p:nvSpPr>
          <p:cNvPr id="4" name="frame-f04_form_item2"/>
          <p:cNvSpPr/>
          <p:nvPr/>
        </p:nvSpPr>
        <p:spPr>
          <a:xfrm>
            <a:off x="411480" y="1261872"/>
            <a:ext cx="7635240" cy="47720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f04_form_item2" descr="img2/f04_form_item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7635240" cy="477202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2613812" y="1622203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613812" y="162220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934060" y="252888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34060" y="252888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4446270" y="214712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46270" y="214712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4"/>
          <p:cNvSpPr/>
          <p:nvPr/>
        </p:nvSpPr>
        <p:spPr>
          <a:xfrm>
            <a:off x="4446270" y="424681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46270" y="424681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badge-5"/>
          <p:cNvSpPr/>
          <p:nvPr/>
        </p:nvSpPr>
        <p:spPr>
          <a:xfrm>
            <a:off x="3300984" y="491490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300984" y="49149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6" name="badge-6"/>
          <p:cNvSpPr/>
          <p:nvPr/>
        </p:nvSpPr>
        <p:spPr>
          <a:xfrm>
            <a:off x="3682746" y="5392103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682746" y="539210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18" name="panel"/>
          <p:cNvSpPr/>
          <p:nvPr/>
        </p:nvSpPr>
        <p:spPr>
          <a:xfrm>
            <a:off x="8275320" y="1261872"/>
            <a:ext cx="3502152" cy="4772025"/>
          </a:xfrm>
          <a:prstGeom prst="roundRect">
            <a:avLst>
              <a:gd name="adj" fmla="val 2089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58200" y="13533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97D4"/>
                </a:solidFill>
              </a:rPr>
              <a:t>操作說明</a:t>
            </a:r>
            <a:endParaRPr lang="en-US" sz="1400" dirty="0"/>
          </a:p>
        </p:txBody>
      </p:sp>
      <p:sp>
        <p:nvSpPr>
          <p:cNvPr id="20" name="badge-1"/>
          <p:cNvSpPr/>
          <p:nvPr/>
        </p:nvSpPr>
        <p:spPr>
          <a:xfrm>
            <a:off x="8458200" y="1801368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869680" y="1746504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階段頁籤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施工前／施工中／施工後／總覽，顯示各階段完成數</a:t>
            </a:r>
            <a:endParaRPr lang="en-US" sz="1300" dirty="0"/>
          </a:p>
        </p:txBody>
      </p:sp>
      <p:sp>
        <p:nvSpPr>
          <p:cNvPr id="23" name="badge-2"/>
          <p:cNvSpPr/>
          <p:nvPr/>
        </p:nvSpPr>
        <p:spPr>
          <a:xfrm>
            <a:off x="8458200" y="2493073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458200" y="24930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869680" y="2438209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項目清單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○ 已判定、🔒 鎖定、★ 停留點，一目了然</a:t>
            </a:r>
            <a:endParaRPr lang="en-US" sz="1300" dirty="0"/>
          </a:p>
        </p:txBody>
      </p:sp>
      <p:sp>
        <p:nvSpPr>
          <p:cNvPr id="26" name="badge-3"/>
          <p:cNvSpPr/>
          <p:nvPr/>
        </p:nvSpPr>
        <p:spPr>
          <a:xfrm>
            <a:off x="8458200" y="3184779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458200" y="31847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869680" y="3129915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開工前確認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掃描單元 QR 確認位置、施工圖核准文號、關聯表單完成狀態</a:t>
            </a:r>
            <a:endParaRPr lang="en-US" sz="1300" dirty="0"/>
          </a:p>
        </p:txBody>
      </p:sp>
      <p:sp>
        <p:nvSpPr>
          <p:cNvPr id="29" name="badge-4"/>
          <p:cNvSpPr/>
          <p:nvPr/>
        </p:nvSpPr>
        <p:spPr>
          <a:xfrm>
            <a:off x="8458200" y="3876484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458200" y="38764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8869680" y="3821620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數值輸入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輸入量測值，系統比對容許範圍</a:t>
            </a:r>
            <a:endParaRPr lang="en-US" sz="1300" dirty="0"/>
          </a:p>
        </p:txBody>
      </p:sp>
      <p:sp>
        <p:nvSpPr>
          <p:cNvPr id="32" name="badge-5"/>
          <p:cNvSpPr/>
          <p:nvPr/>
        </p:nvSpPr>
        <p:spPr>
          <a:xfrm>
            <a:off x="8458200" y="4568190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458200" y="45681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8869680" y="4513326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拍照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📷 相機拍照（自動壓縮、加註標案單元與項目）</a:t>
            </a:r>
            <a:endParaRPr lang="en-US" sz="1300" dirty="0"/>
          </a:p>
        </p:txBody>
      </p:sp>
      <p:sp>
        <p:nvSpPr>
          <p:cNvPr id="35" name="badge-6"/>
          <p:cNvSpPr/>
          <p:nvPr/>
        </p:nvSpPr>
        <p:spPr>
          <a:xfrm>
            <a:off x="8458200" y="5259895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5259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8869680" y="5205031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判定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○ 合格／╳ 缺失／╱ 無此項；底部「暫存」與「送出」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廠商：停留點與項目鎖定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★ 停留點項目判 ○ 後申請會驗；未放行前，後面項目自動上鎖</a:t>
            </a:r>
            <a:endParaRPr lang="en-US" sz="1400" dirty="0"/>
          </a:p>
        </p:txBody>
      </p:sp>
      <p:sp>
        <p:nvSpPr>
          <p:cNvPr id="4" name="frame-f05_form_item10_hold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f05_form_item10_hold" descr="img2/f05_form_item10_hol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3898087" y="306809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898087" y="306809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2791663" y="3379279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791663" y="337927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3898087" y="4001643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98087" y="400164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停留點項目（已申請、待回覆）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實測值在容許範圍內，系統建議判定 ○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必拍照項目已附 3 張照片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檢驗停留點卡：申請編號、預定時間、回覆期限倒數</a:t>
            </a:r>
            <a:endParaRPr lang="en-US" sz="1250" dirty="0"/>
          </a:p>
        </p:txBody>
      </p:sp>
      <p:sp>
        <p:nvSpPr>
          <p:cNvPr id="16" name="frame-f06_form_item11_locked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shot-f06_form_item11_locked" descr="img2/f06_form_item11_locke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8" name="badge-1"/>
          <p:cNvSpPr/>
          <p:nvPr/>
        </p:nvSpPr>
        <p:spPr>
          <a:xfrm>
            <a:off x="7408469" y="331012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408469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badge-2"/>
          <p:cNvSpPr/>
          <p:nvPr/>
        </p:nvSpPr>
        <p:spPr>
          <a:xfrm>
            <a:off x="9178747" y="234200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178747" y="234200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後續項目鎖定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清單中鎖頭圖示的項目暫時不能填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點開會說明原因：「待 ☆鋼筋籠吊放高程及位置確認 監造放行」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工務所會驗合格後自動解鎖，不需人工通知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廠商：停留點判缺失與被退回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停留點不合格或申請被退回時，系統告訴廠商下一步怎麼做</a:t>
            </a:r>
            <a:endParaRPr lang="en-US" sz="1400" dirty="0"/>
          </a:p>
        </p:txBody>
      </p:sp>
      <p:sp>
        <p:nvSpPr>
          <p:cNvPr id="4" name="frame-n06_hold_ng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n06_hold_ng" descr="img2/n06_hold_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800100" y="2514886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0100" y="251488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4008730" y="282606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008730" y="282606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3898087" y="331012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98087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停留點判 ╳ 缺失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清單紅色 ╳，後續項目鎖定並說明「待缺失改善、重新判定」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判定缺失當下立即建立缺失追蹤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改善後重新判 ○（缺失轉待複查）再申請會驗，會驗合格缺失自動結案</a:t>
            </a:r>
            <a:endParaRPr lang="en-US" sz="1250" dirty="0"/>
          </a:p>
        </p:txBody>
      </p:sp>
      <p:sp>
        <p:nvSpPr>
          <p:cNvPr id="16" name="frame-n07_rejected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shot-n07_rejected" descr="img2/n07_rejecte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8" name="badge-1"/>
          <p:cNvSpPr/>
          <p:nvPr/>
        </p:nvSpPr>
        <p:spPr>
          <a:xfrm>
            <a:off x="9731959" y="3275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731959" y="3275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badge-2"/>
          <p:cNvSpPr/>
          <p:nvPr/>
        </p:nvSpPr>
        <p:spPr>
          <a:xfrm>
            <a:off x="9731959" y="355215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731959" y="355215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會驗申請被退回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停留點顯示「已退回」、退回時間與原因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修正後可直接重新申請會驗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待辦「會驗」分頁也會出現已退回卡片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廠商：申請停留點會驗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在停留點項目按「申請會驗（Email 通知監造）」</a:t>
            </a:r>
            <a:endParaRPr lang="en-US" sz="1400" dirty="0"/>
          </a:p>
        </p:txBody>
      </p:sp>
      <p:sp>
        <p:nvSpPr>
          <p:cNvPr id="4" name="frame-f07_apply_modal"/>
          <p:cNvSpPr/>
          <p:nvPr/>
        </p:nvSpPr>
        <p:spPr>
          <a:xfrm>
            <a:off x="411480" y="1261872"/>
            <a:ext cx="7635240" cy="47720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f07_apply_modal" descr="img2/f07_apply_mod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7635240" cy="477202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6202375" y="190852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02375" y="19085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6202375" y="248116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02375" y="248116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6202375" y="295837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02375" y="295837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4"/>
          <p:cNvSpPr/>
          <p:nvPr/>
        </p:nvSpPr>
        <p:spPr>
          <a:xfrm>
            <a:off x="6202375" y="343557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02375" y="34355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badge-5"/>
          <p:cNvSpPr/>
          <p:nvPr/>
        </p:nvSpPr>
        <p:spPr>
          <a:xfrm>
            <a:off x="7500366" y="5415963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500366" y="541596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6" name="panel"/>
          <p:cNvSpPr/>
          <p:nvPr/>
        </p:nvSpPr>
        <p:spPr>
          <a:xfrm>
            <a:off x="8275320" y="1261872"/>
            <a:ext cx="3502152" cy="4772025"/>
          </a:xfrm>
          <a:prstGeom prst="roundRect">
            <a:avLst>
              <a:gd name="adj" fmla="val 2089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58200" y="13533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97D4"/>
                </a:solidFill>
              </a:rPr>
              <a:t>操作說明</a:t>
            </a:r>
            <a:endParaRPr lang="en-US" sz="1400" dirty="0"/>
          </a:p>
        </p:txBody>
      </p:sp>
      <p:sp>
        <p:nvSpPr>
          <p:cNvPr id="18" name="badge-1"/>
          <p:cNvSpPr/>
          <p:nvPr/>
        </p:nvSpPr>
        <p:spPr>
          <a:xfrm>
            <a:off x="8458200" y="1801368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5820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869680" y="1746504"/>
            <a:ext cx="2788920" cy="81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預定會驗時間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選日期時間</a:t>
            </a:r>
            <a:endParaRPr lang="en-US" sz="1300" dirty="0"/>
          </a:p>
        </p:txBody>
      </p:sp>
      <p:sp>
        <p:nvSpPr>
          <p:cNvPr id="21" name="badge-2"/>
          <p:cNvSpPr/>
          <p:nvPr/>
        </p:nvSpPr>
        <p:spPr>
          <a:xfrm>
            <a:off x="8458200" y="2631415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458200" y="26314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869680" y="2576551"/>
            <a:ext cx="2788920" cy="81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短時間申請警示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距預定時間不足 24 小時，系統提醒並要求填原因</a:t>
            </a:r>
            <a:endParaRPr lang="en-US" sz="1300" dirty="0"/>
          </a:p>
        </p:txBody>
      </p:sp>
      <p:sp>
        <p:nvSpPr>
          <p:cNvPr id="24" name="badge-3"/>
          <p:cNvSpPr/>
          <p:nvPr/>
        </p:nvSpPr>
        <p:spPr>
          <a:xfrm>
            <a:off x="8458200" y="3461461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458200" y="346146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869680" y="3406597"/>
            <a:ext cx="2788920" cy="81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原因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例：配合混凝土車預約時段</a:t>
            </a:r>
            <a:endParaRPr lang="en-US" sz="1300" dirty="0"/>
          </a:p>
        </p:txBody>
      </p:sp>
      <p:sp>
        <p:nvSpPr>
          <p:cNvPr id="27" name="badge-4"/>
          <p:cNvSpPr/>
          <p:nvPr/>
        </p:nvSpPr>
        <p:spPr>
          <a:xfrm>
            <a:off x="8458200" y="4291508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42915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869680" y="4236644"/>
            <a:ext cx="2788920" cy="81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檢查位置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預帶單元位置，可修改</a:t>
            </a:r>
            <a:endParaRPr lang="en-US" sz="1300" dirty="0"/>
          </a:p>
        </p:txBody>
      </p:sp>
      <p:sp>
        <p:nvSpPr>
          <p:cNvPr id="30" name="badge-5"/>
          <p:cNvSpPr/>
          <p:nvPr/>
        </p:nvSpPr>
        <p:spPr>
          <a:xfrm>
            <a:off x="8458200" y="5121554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512155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869680" y="5066690"/>
            <a:ext cx="2788920" cy="81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送出會驗申請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產生申請編號，Email 通知工務所並開始 8 小時回覆倒數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廠商：送出前總覽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全部項目判定後進入「總覽」；停留點全部放行才能送出簽認</a:t>
            </a:r>
            <a:endParaRPr lang="en-US" sz="1400" dirty="0"/>
          </a:p>
        </p:txBody>
      </p:sp>
      <p:sp>
        <p:nvSpPr>
          <p:cNvPr id="4" name="frame-f08_form_summary"/>
          <p:cNvSpPr/>
          <p:nvPr/>
        </p:nvSpPr>
        <p:spPr>
          <a:xfrm>
            <a:off x="411480" y="1261872"/>
            <a:ext cx="7635240" cy="47720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f08_form_summary" descr="img2/f08_form_summar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7635240" cy="477202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5744261" y="248116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44261" y="248116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5744261" y="310153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744261" y="310153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5744261" y="453313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44261" y="45331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4"/>
          <p:cNvSpPr/>
          <p:nvPr/>
        </p:nvSpPr>
        <p:spPr>
          <a:xfrm>
            <a:off x="5744261" y="486718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744261" y="48671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badge-5"/>
          <p:cNvSpPr/>
          <p:nvPr/>
        </p:nvSpPr>
        <p:spPr>
          <a:xfrm>
            <a:off x="7118604" y="572614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18604" y="5726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6" name="panel"/>
          <p:cNvSpPr/>
          <p:nvPr/>
        </p:nvSpPr>
        <p:spPr>
          <a:xfrm>
            <a:off x="8275320" y="1261872"/>
            <a:ext cx="3502152" cy="4772025"/>
          </a:xfrm>
          <a:prstGeom prst="roundRect">
            <a:avLst>
              <a:gd name="adj" fmla="val 2089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58200" y="13533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97D4"/>
                </a:solidFill>
              </a:rPr>
              <a:t>操作說明</a:t>
            </a:r>
            <a:endParaRPr lang="en-US" sz="1400" dirty="0"/>
          </a:p>
        </p:txBody>
      </p:sp>
      <p:sp>
        <p:nvSpPr>
          <p:cNvPr id="18" name="badge-1"/>
          <p:cNvSpPr/>
          <p:nvPr/>
        </p:nvSpPr>
        <p:spPr>
          <a:xfrm>
            <a:off x="8458200" y="1801368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5820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869680" y="1746504"/>
            <a:ext cx="2788920" cy="81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結果統計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○ 合格／╳ 缺失／╱ 無此項</a:t>
            </a:r>
            <a:endParaRPr lang="en-US" sz="1300" dirty="0"/>
          </a:p>
        </p:txBody>
      </p:sp>
      <p:sp>
        <p:nvSpPr>
          <p:cNvPr id="21" name="badge-2"/>
          <p:cNvSpPr/>
          <p:nvPr/>
        </p:nvSpPr>
        <p:spPr>
          <a:xfrm>
            <a:off x="8458200" y="2631415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458200" y="26314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869680" y="2576551"/>
            <a:ext cx="2788920" cy="81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停留點放行狀態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已放行／待回覆／未放行</a:t>
            </a:r>
            <a:endParaRPr lang="en-US" sz="1300" dirty="0"/>
          </a:p>
        </p:txBody>
      </p:sp>
      <p:sp>
        <p:nvSpPr>
          <p:cNvPr id="24" name="badge-3"/>
          <p:cNvSpPr/>
          <p:nvPr/>
        </p:nvSpPr>
        <p:spPr>
          <a:xfrm>
            <a:off x="8458200" y="3461461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458200" y="346146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869680" y="3406597"/>
            <a:ext cx="2788920" cy="81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未放行提示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仍有停留點未放行時紅字列出，不能送出</a:t>
            </a:r>
            <a:endParaRPr lang="en-US" sz="1300" dirty="0"/>
          </a:p>
        </p:txBody>
      </p:sp>
      <p:sp>
        <p:nvSpPr>
          <p:cNvPr id="27" name="badge-4"/>
          <p:cNvSpPr/>
          <p:nvPr/>
        </p:nvSpPr>
        <p:spPr>
          <a:xfrm>
            <a:off x="8458200" y="4291508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42915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869680" y="4236644"/>
            <a:ext cx="2788920" cy="81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自動附件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已完成的關聯子表單與現場照片</a:t>
            </a:r>
            <a:endParaRPr lang="en-US" sz="1300" dirty="0"/>
          </a:p>
        </p:txBody>
      </p:sp>
      <p:sp>
        <p:nvSpPr>
          <p:cNvPr id="30" name="badge-5"/>
          <p:cNvSpPr/>
          <p:nvPr/>
        </p:nvSpPr>
        <p:spPr>
          <a:xfrm>
            <a:off x="8458200" y="5121554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512155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869680" y="5066690"/>
            <a:ext cx="2788920" cy="81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送出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依序由現場工程師、工地授權代表手寫簽認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廠商：關聯子表單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主表的連結項目對應同一單元的真實子表單，簽認／結案後主表才可判 ○</a:t>
            </a:r>
            <a:endParaRPr lang="en-US" sz="1400" dirty="0"/>
          </a:p>
        </p:txBody>
      </p:sp>
      <p:sp>
        <p:nvSpPr>
          <p:cNvPr id="4" name="frame-n04_link_exist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n04_link_exist" descr="img2/n04_link_exi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4783226" y="1512189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783226" y="151218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4783226" y="1823371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783226" y="182337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5557723" y="4416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557723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已有子表單紀錄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顯示子表單編號與狀態（已簽認／已結案／填寫中）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說明完成條件與自動附件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「開啟表5-7」，看完返回主表</a:t>
            </a:r>
            <a:endParaRPr lang="en-US" sz="1250" dirty="0"/>
          </a:p>
        </p:txBody>
      </p:sp>
      <p:sp>
        <p:nvSpPr>
          <p:cNvPr id="16" name="frame-n05_link_create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shot-n05_link_create" descr="img2/n05_link_creat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8" name="badge-1"/>
          <p:cNvSpPr/>
          <p:nvPr/>
        </p:nvSpPr>
        <p:spPr>
          <a:xfrm>
            <a:off x="10506456" y="1512189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0506456" y="151218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badge-2"/>
          <p:cNvSpPr/>
          <p:nvPr/>
        </p:nvSpPr>
        <p:spPr>
          <a:xfrm>
            <a:off x="11059668" y="4416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1059668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尚未建立子表單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提示「單元 P30 尚未建立表5-4」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直接「建立表5-4（單元 P30）」，填完返回主表自動帶入完成狀態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工務所：今日待辦與會驗申請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捷運局工務所同仁的現場畫面</a:t>
            </a:r>
            <a:endParaRPr lang="en-US" sz="1400" dirty="0"/>
          </a:p>
        </p:txBody>
      </p:sp>
      <p:sp>
        <p:nvSpPr>
          <p:cNvPr id="4" name="frame-f09_todo_supervisor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f09_todo_supervisor" descr="img2/f09_todo_supervis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1132027" y="1512189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32027" y="151218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1906524" y="196167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906524" y="196167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今日待辦（工務所）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會驗／抽查／缺失複查待辦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已排定的會驗直接顯示「開始會驗」；待回覆的顯示「查看申請」</a:t>
            </a:r>
            <a:endParaRPr lang="en-US" sz="1250" dirty="0"/>
          </a:p>
        </p:txBody>
      </p:sp>
      <p:sp>
        <p:nvSpPr>
          <p:cNvPr id="14" name="frame-f10_hold_detail_sup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5" name="shot-f10_hold_detail_sup" descr="img2/f10_hold_detail_su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6" name="badge-1"/>
          <p:cNvSpPr/>
          <p:nvPr/>
        </p:nvSpPr>
        <p:spPr>
          <a:xfrm>
            <a:off x="9510674" y="2134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510674" y="2134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8" name="badge-2"/>
          <p:cNvSpPr/>
          <p:nvPr/>
        </p:nvSpPr>
        <p:spPr>
          <a:xfrm>
            <a:off x="10506456" y="306809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0506456" y="306809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badge-3"/>
          <p:cNvSpPr/>
          <p:nvPr/>
        </p:nvSpPr>
        <p:spPr>
          <a:xfrm>
            <a:off x="10949026" y="407079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0949026" y="407079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會驗申請詳情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廠商自主檢查：檢查標準、自檢數據、照片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短時間申請原因、後續鎖定項目提示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現場也能「退回」「改期」「開始會驗」；檢驗中可「取消會驗」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取消會驗與退回待辦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檢驗中可取消並作廢抽查草稿；被退回的申請會出現在廠商待辦</a:t>
            </a:r>
            <a:endParaRPr lang="en-US" sz="1400" dirty="0"/>
          </a:p>
        </p:txBody>
      </p:sp>
      <p:sp>
        <p:nvSpPr>
          <p:cNvPr id="4" name="frame-n08_cancel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n08_cancel" descr="img2/n08_cance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4230014" y="393249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230014" y="39324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4119372" y="417452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9372" y="417452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工務所：取消會驗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填寫取消原因（例：儀器故障改期）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確認後回到「已排定」，抽查草稿作廢，可改期或重新開始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取消紀錄寫入通知歷程</a:t>
            </a:r>
            <a:endParaRPr lang="en-US" sz="1250" dirty="0"/>
          </a:p>
        </p:txBody>
      </p:sp>
      <p:sp>
        <p:nvSpPr>
          <p:cNvPr id="14" name="frame-n07b_rejected_todo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5" name="shot-n07b_rejected_todo" descr="img2/n07b_rejected_tod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6" name="badge-1"/>
          <p:cNvSpPr/>
          <p:nvPr/>
        </p:nvSpPr>
        <p:spPr>
          <a:xfrm>
            <a:off x="6910578" y="393249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910578" y="39324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8" name="badge-2"/>
          <p:cNvSpPr/>
          <p:nvPr/>
        </p:nvSpPr>
        <p:spPr>
          <a:xfrm>
            <a:off x="7187184" y="431282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187184" y="431282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廠商：已退回待辦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「已退回」卡片顯示退回原因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「修正後重新申請」直接開啟自主檢查表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工務所：填寫抽查紀錄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按「開始會驗」後自動建立抽查紀錄，並跳到「本次會驗」項目</a:t>
            </a:r>
            <a:endParaRPr lang="en-US" sz="1400" dirty="0"/>
          </a:p>
        </p:txBody>
      </p:sp>
      <p:sp>
        <p:nvSpPr>
          <p:cNvPr id="4" name="frame-f11_spot_form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f11_spot_form" descr="img2/f11_spot_for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3898087" y="185794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898087" y="185794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3732124" y="241115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732124" y="241115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5115154" y="241115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115154" y="241115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對照廠商自檢值填寫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標示「本次會驗」項目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左欄帶入廠商自檢值，右欄填抽查實測值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判定：○ 合格放行／╳ 有缺失／╱ 無此項</a:t>
            </a:r>
            <a:endParaRPr lang="en-US" sz="1250" dirty="0"/>
          </a:p>
        </p:txBody>
      </p:sp>
      <p:sp>
        <p:nvSpPr>
          <p:cNvPr id="16" name="frame-f12_spot_sum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shot-f12_spot_sum" descr="img2/f12_spot_sum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8" name="badge-1"/>
          <p:cNvSpPr/>
          <p:nvPr/>
        </p:nvSpPr>
        <p:spPr>
          <a:xfrm>
            <a:off x="9953244" y="171964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953244" y="17196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badge-2"/>
          <p:cNvSpPr/>
          <p:nvPr/>
        </p:nvSpPr>
        <p:spPr>
          <a:xfrm>
            <a:off x="9953244" y="2653189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953244" y="265318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badge-3"/>
          <p:cNvSpPr/>
          <p:nvPr/>
        </p:nvSpPr>
        <p:spPr>
          <a:xfrm>
            <a:off x="9953244" y="393249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953244" y="39324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抽查結果總覽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○／╳／╱ 統計（未抽查項目送出時自動填 ╱）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單元計價資料：厚度、長度、深度，自動計算計價面積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自動附件：廠商自主檢查表、現場照片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手寫簽認（抽查紀錄為例）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左側確認簽認內容與雜湊，右側畫布手寫；依序由兩位人員簽名</a:t>
            </a:r>
            <a:endParaRPr lang="en-US" sz="1400" dirty="0"/>
          </a:p>
        </p:txBody>
      </p:sp>
      <p:sp>
        <p:nvSpPr>
          <p:cNvPr id="4" name="frame-f14_sign_drawn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f14_sign_drawn" descr="img2/f14_sign_draw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910742" y="196167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0742" y="196167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910742" y="317182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0742" y="317182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3842766" y="248031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42766" y="248031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4"/>
          <p:cNvSpPr/>
          <p:nvPr/>
        </p:nvSpPr>
        <p:spPr>
          <a:xfrm>
            <a:off x="2459736" y="362131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459736" y="362131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第 1 位：監造工務所（抽查人員）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簽認內容：結果、抽查時機、照片數、自動附件、內容雜湊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簽認人員順序與狀態（簽名中／待簽／已簽）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手寫簽名區，可「清除重簽」「套用已存簽名」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④ 勾選確認聲明，可儲存簽名下次套用</a:t>
            </a:r>
            <a:endParaRPr lang="en-US" sz="1250" dirty="0"/>
          </a:p>
        </p:txBody>
      </p:sp>
      <p:sp>
        <p:nvSpPr>
          <p:cNvPr id="18" name="frame-f15_sign_second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9" name="shot-f15_sign_second" descr="img2/f15_sign_secon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20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第 2 位：施工廠商隨同人員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第 1 位簽完自動切換下一位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最後一位按「確認簽名並完成」：產生雜湊、鎖定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會驗項目合格 → 停留點放行；有缺失 → 建立缺失追蹤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自主檢查表流程相同，簽認人為：現場工程師 → 工地授權代表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會驗合格後：自動放行、自動解鎖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抽查簽認完成的那一刻，後台與現場同步更新</a:t>
            </a:r>
            <a:endParaRPr lang="en-US" sz="1400" dirty="0"/>
          </a:p>
        </p:txBody>
      </p:sp>
      <p:sp>
        <p:nvSpPr>
          <p:cNvPr id="4" name="frame-f17_item10_passed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f17_item10_passed" descr="img2/f17_item10_pass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1574597" y="258403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574597" y="258403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1574597" y="292979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574597" y="292979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3898087" y="4001643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98087" y="400164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廠商端：停留點「已合格放行」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停留點項目顯示「已放行」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原本鎖定的「特密管安裝」解鎖可填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停留點卡片顯示「已合格放行」與時間</a:t>
            </a:r>
            <a:endParaRPr lang="en-US" sz="1250" dirty="0"/>
          </a:p>
        </p:txBody>
      </p:sp>
      <p:sp>
        <p:nvSpPr>
          <p:cNvPr id="16" name="frame-a02d_holds_passed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shot-a02d_holds_passed" descr="img2/a02d_holds_passe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8" name="badge-1"/>
          <p:cNvSpPr/>
          <p:nvPr/>
        </p:nvSpPr>
        <p:spPr>
          <a:xfrm>
            <a:off x="8127644" y="196167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127644" y="196167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badge-2"/>
          <p:cNvSpPr/>
          <p:nvPr/>
        </p:nvSpPr>
        <p:spPr>
          <a:xfrm>
            <a:off x="10949026" y="165049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0949026" y="16504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後台：申請單轉「合格放行」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「合格放行」頁籤計數增加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申請詳情狀態更新，通知歷程記錄「抽查完成，合格放行（後續項目解鎖）」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缺失改善與複查（現場）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廠商附說明與照片回報；工務所看過後結案或退回</a:t>
            </a:r>
            <a:endParaRPr lang="en-US" sz="1400" dirty="0"/>
          </a:p>
        </p:txBody>
      </p:sp>
      <p:sp>
        <p:nvSpPr>
          <p:cNvPr id="4" name="frame-n09_def_report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n09_def_report" descr="img2/n09_def_repo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4672584" y="196167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672584" y="196167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3898087" y="248031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898087" y="248031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5447081" y="4416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47081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廠商：回報改善完成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改善說明（必填）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改善後照片（至少 1 張，可現場拍照）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送出後轉「待複查」</a:t>
            </a:r>
            <a:endParaRPr lang="en-US" sz="1250" dirty="0"/>
          </a:p>
        </p:txBody>
      </p:sp>
      <p:sp>
        <p:nvSpPr>
          <p:cNvPr id="16" name="frame-n10_def_review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shot-n10_def_review" descr="img2/n10_def_review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8" name="badge-1"/>
          <p:cNvSpPr/>
          <p:nvPr/>
        </p:nvSpPr>
        <p:spPr>
          <a:xfrm>
            <a:off x="10506456" y="178879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0506456" y="178879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badge-2"/>
          <p:cNvSpPr/>
          <p:nvPr/>
        </p:nvSpPr>
        <p:spPr>
          <a:xfrm>
            <a:off x="9621317" y="216912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621317" y="2169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badge-3"/>
          <p:cNvSpPr/>
          <p:nvPr/>
        </p:nvSpPr>
        <p:spPr>
          <a:xfrm>
            <a:off x="10893704" y="4416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0893704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badge-4"/>
          <p:cNvSpPr/>
          <p:nvPr/>
        </p:nvSpPr>
        <p:spPr>
          <a:xfrm>
            <a:off x="11446916" y="4416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1446916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工務所：缺失複查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廠商改善說明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改善照片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退回重新改善（須填原因）　④ 複查合格・結案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no"/>
          <p:cNvSpPr/>
          <p:nvPr/>
        </p:nvSpPr>
        <p:spPr>
          <a:xfrm>
            <a:off x="731520" y="2697480"/>
            <a:ext cx="1005840" cy="10058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697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3B5C"/>
                </a:solidFill>
              </a:rPr>
              <a:t>06</a:t>
            </a:r>
            <a:endParaRPr lang="en-US" sz="3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03120" y="265176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空白範本 PDF 操作</a:t>
            </a:r>
            <a:endParaRPr lang="en-US" sz="3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361188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自主檢查表（廠商）與抽查紀錄表（工務所 → 廠商 → 主任）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PDF 自主檢查（1/3）：下載並鎖定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新增「表5-7 穩定液自主檢查紀錄表」（PDF 範本）後的畫面</a:t>
            </a:r>
            <a:endParaRPr lang="en-US" sz="1400" dirty="0"/>
          </a:p>
        </p:txBody>
      </p:sp>
      <p:sp>
        <p:nvSpPr>
          <p:cNvPr id="4" name="frame-p01_self_pdf_new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p01_self_pdf_new" descr="img2/p01_self_pdf_ne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1629918" y="130473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629918" y="130473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1353312" y="178879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353312" y="178879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1906524" y="272234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06524" y="27223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未開始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標題顯示「空白範本 PDF」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辦理狀態列：下載鎖定 → 上傳續填・現地手寫簽名 → 憑證加簽結案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表單檔案：空白範本可預覽、下載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按「下載並鎖定」：下載空白範本並取得控制權</a:t>
            </a:r>
            <a:endParaRPr lang="en-US" sz="1250" dirty="0"/>
          </a:p>
        </p:txBody>
      </p:sp>
      <p:sp>
        <p:nvSpPr>
          <p:cNvPr id="16" name="frame-p02_self_locked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shot-p02_self_locked" descr="img2/p02_self_locke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8" name="badge-1"/>
          <p:cNvSpPr/>
          <p:nvPr/>
        </p:nvSpPr>
        <p:spPr>
          <a:xfrm>
            <a:off x="6744614" y="189252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744614" y="189252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badge-2"/>
          <p:cNvSpPr/>
          <p:nvPr/>
        </p:nvSpPr>
        <p:spPr>
          <a:xfrm>
            <a:off x="6965899" y="216912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965899" y="2169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badge-3"/>
          <p:cNvSpPr/>
          <p:nvPr/>
        </p:nvSpPr>
        <p:spPr>
          <a:xfrm>
            <a:off x="7463790" y="334470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463790" y="3344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鎖定中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狀態「鎖定中・V0・鎖定人 示範品管」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鎖定人可「上傳並簽名」或「取消鎖定」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辦理軌跡開始記錄（下載鎖定）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其他人此時只能檢視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PDF 自主檢查（2/3）：上傳並簽名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離線填寫並簽名後，回到系統上傳成果檔</a:t>
            </a:r>
            <a:endParaRPr lang="en-US" sz="1400" dirty="0"/>
          </a:p>
        </p:txBody>
      </p:sp>
      <p:sp>
        <p:nvSpPr>
          <p:cNvPr id="4" name="frame-p03_self_upload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p03_self_upload" descr="img2/p03_self_uploa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3676802" y="168506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76802" y="16850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3676802" y="2134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76802" y="2134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3676802" y="2895219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76802" y="289521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4"/>
          <p:cNvSpPr/>
          <p:nvPr/>
        </p:nvSpPr>
        <p:spPr>
          <a:xfrm>
            <a:off x="5391760" y="4416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91760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上傳並簽名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選擇填寫後的 PDF（10 MB 以內）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檢查結果 ○ 合格／╳ 有缺失（有缺失結案後自動建立缺失）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現地手寫簽名（簽名人＝目前登入者）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④ 按「上傳並簽名」，版本 V0 → V1</a:t>
            </a:r>
            <a:endParaRPr lang="en-US" sz="1250" dirty="0"/>
          </a:p>
        </p:txBody>
      </p:sp>
      <p:sp>
        <p:nvSpPr>
          <p:cNvPr id="18" name="frame-p04_self_waiting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9" name="shot-p04_self_waiting" descr="img2/p04_self_waitin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20" name="badge-1"/>
          <p:cNvSpPr/>
          <p:nvPr/>
        </p:nvSpPr>
        <p:spPr>
          <a:xfrm>
            <a:off x="6744614" y="189252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744614" y="189252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2" name="badge-2"/>
          <p:cNvSpPr/>
          <p:nvPr/>
        </p:nvSpPr>
        <p:spPr>
          <a:xfrm>
            <a:off x="7187184" y="216912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187184" y="2169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4" name="badge-3"/>
          <p:cNvSpPr/>
          <p:nvPr/>
        </p:nvSpPr>
        <p:spPr>
          <a:xfrm>
            <a:off x="7740396" y="306809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40396" y="306809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待流轉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狀態「待流轉・V1・最後辦理 示範品管」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「下載續填並鎖定」（他人接手）或「憑證加簽結案」（最後上傳人）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目前版本檔可下載；軌跡附手寫簽名縮圖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PDF 自主檢查（3/3）：憑證加簽結案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最後上傳人以憑證數位簽章，表單正式結案</a:t>
            </a:r>
            <a:endParaRPr lang="en-US" sz="1400" dirty="0"/>
          </a:p>
        </p:txBody>
      </p:sp>
      <p:sp>
        <p:nvSpPr>
          <p:cNvPr id="4" name="frame-p05b_cert_fido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p05b_cert_fido" descr="img2/p05b_cert_fid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4561942" y="1477613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61942" y="147761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4561942" y="234200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61942" y="234200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5336438" y="4416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336438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選擇憑證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顯示表單、單元、簽章人與成果檔版本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實體自然人憑證（讀卡機）或行動自然人憑證（TW FidO，手機 App 確認）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「以憑證簽章並結案」</a:t>
            </a:r>
            <a:endParaRPr lang="en-US" sz="1250" dirty="0"/>
          </a:p>
        </p:txBody>
      </p:sp>
      <p:sp>
        <p:nvSpPr>
          <p:cNvPr id="16" name="frame-p06b_self_closed_log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shot-p06b_self_closed_log" descr="img2/p06b_self_closed_lo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8" name="badge-1"/>
          <p:cNvSpPr/>
          <p:nvPr/>
        </p:nvSpPr>
        <p:spPr>
          <a:xfrm>
            <a:off x="6744614" y="144303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744614" y="14430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badge-2"/>
          <p:cNvSpPr/>
          <p:nvPr/>
        </p:nvSpPr>
        <p:spPr>
          <a:xfrm>
            <a:off x="6744614" y="171964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744614" y="17196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badge-3"/>
          <p:cNvSpPr/>
          <p:nvPr/>
        </p:nvSpPr>
        <p:spPr>
          <a:xfrm>
            <a:off x="6744614" y="3448431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744614" y="344843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已結案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狀態「已結案」，表單鎖定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最後辦理人可「解除結案」（須填原因）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軌跡完整：下載鎖定 → 上傳並簽名 → 憑證加簽結案，各版可下載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雛型中憑證簽章為模擬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PDF 抽查（1/3）：工務所上傳並選下一關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工務所同仁下載鎖定、離線填寫後上傳</a:t>
            </a:r>
            <a:endParaRPr lang="en-US" sz="1400" dirty="0"/>
          </a:p>
        </p:txBody>
      </p:sp>
      <p:sp>
        <p:nvSpPr>
          <p:cNvPr id="4" name="frame-q02_spot_upload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q02_spot_upload" descr="img2/q02_spot_uploa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3676802" y="1823371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76802" y="182337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3676802" y="234200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76802" y="234200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3676802" y="2860643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76802" y="286064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4"/>
          <p:cNvSpPr/>
          <p:nvPr/>
        </p:nvSpPr>
        <p:spPr>
          <a:xfrm>
            <a:off x="3676802" y="362131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76802" y="362131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上傳並簽名（抽查表）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上傳填寫後的 PDF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抽查判定結果：○ 合格／╳ 有缺失（必選）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下一關：其他局內人員續填／轉施工廠商簽名／免廠商簽名逕轉主任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④ 現地手寫簽名</a:t>
            </a:r>
            <a:endParaRPr lang="en-US" sz="1250" dirty="0"/>
          </a:p>
        </p:txBody>
      </p:sp>
      <p:sp>
        <p:nvSpPr>
          <p:cNvPr id="18" name="frame-q03_wait_vendor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9" name="shot-q03_wait_vendor" descr="img2/q03_wait_vendo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20" name="badge-1"/>
          <p:cNvSpPr/>
          <p:nvPr/>
        </p:nvSpPr>
        <p:spPr>
          <a:xfrm>
            <a:off x="6744614" y="189252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744614" y="189252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2" name="badge-2"/>
          <p:cNvSpPr/>
          <p:nvPr/>
        </p:nvSpPr>
        <p:spPr>
          <a:xfrm>
            <a:off x="7740396" y="334470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740396" y="3344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4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待廠商簽名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狀態「待廠商簽名・V1」並顯示「抽查判定：合格」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軌跡記錄「轉施工廠商辦理簽名確認」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此時工務所等待廠商回傳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PDF 抽查（2/3）：廠商簽名後上傳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施工廠商品管人員的畫面</a:t>
            </a:r>
            <a:endParaRPr lang="en-US" sz="1400" dirty="0"/>
          </a:p>
        </p:txBody>
      </p:sp>
      <p:sp>
        <p:nvSpPr>
          <p:cNvPr id="4" name="frame-q04_vendor_view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q04_vendor_view" descr="img2/q04_vendor_vie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910742" y="189252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0742" y="189252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966064" y="216912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6064" y="2169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2072488" y="292979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072488" y="292979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廠商看到待辦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狀態「待廠商簽名」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按「上傳廠商簽名 PDF」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先下載目前版本，由廠商簽名</a:t>
            </a:r>
            <a:endParaRPr lang="en-US" sz="1250" dirty="0"/>
          </a:p>
        </p:txBody>
      </p:sp>
      <p:sp>
        <p:nvSpPr>
          <p:cNvPr id="16" name="frame-q05_vendor_upload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shot-q05_vendor_upload" descr="img2/q05_vendor_uploa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8" name="badge-1"/>
          <p:cNvSpPr/>
          <p:nvPr/>
        </p:nvSpPr>
        <p:spPr>
          <a:xfrm>
            <a:off x="10395814" y="178879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0395814" y="178879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badge-2"/>
          <p:cNvSpPr/>
          <p:nvPr/>
        </p:nvSpPr>
        <p:spPr>
          <a:xfrm>
            <a:off x="11225632" y="4416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1225632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上傳廠商簽名版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選擇簽名後的 PDF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「上傳並轉主任」：版本號 +1，狀態轉「待主任加簽」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PDF 抽查（3/3）：工務所主任加簽結案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捷運局工務所主任的畫面</a:t>
            </a:r>
            <a:endParaRPr lang="en-US" sz="1400" dirty="0"/>
          </a:p>
        </p:txBody>
      </p:sp>
      <p:sp>
        <p:nvSpPr>
          <p:cNvPr id="4" name="frame-q07_director_cert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q07_director_cert" descr="img2/q07_director_ce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4561942" y="1477613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61942" y="147761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4561942" y="234200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61942" y="234200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5336438" y="4416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336438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主任加簽結案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確認成果檔為廠商已簽名的最新版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選實體自然人憑證或行動自然人憑證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「以憑證簽章並結案」</a:t>
            </a:r>
            <a:endParaRPr lang="en-US" sz="1250" dirty="0"/>
          </a:p>
        </p:txBody>
      </p:sp>
      <p:sp>
        <p:nvSpPr>
          <p:cNvPr id="16" name="frame-q08b_spot_closed_log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shot-q08b_spot_closed_log" descr="img2/q08b_spot_closed_lo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8" name="badge-1"/>
          <p:cNvSpPr/>
          <p:nvPr/>
        </p:nvSpPr>
        <p:spPr>
          <a:xfrm>
            <a:off x="6744614" y="144303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744614" y="14430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badge-2"/>
          <p:cNvSpPr/>
          <p:nvPr/>
        </p:nvSpPr>
        <p:spPr>
          <a:xfrm>
            <a:off x="7740396" y="2998946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740396" y="299894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已結案（V3）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「已結案・V3・抽查判定：合格」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軌跡：下載鎖定 → 上傳並簽名 → 廠商簽名確認 → 主任加簽結案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若判「有缺失」，結案時自動建立缺失追蹤；會驗抽查合格則放行停留點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現場：參考文件查閱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填寫時隨時對照施工計畫書、施工圖與規範，不必帶紙本</a:t>
            </a:r>
            <a:endParaRPr lang="en-US" sz="1400" dirty="0"/>
          </a:p>
        </p:txBody>
      </p:sp>
      <p:sp>
        <p:nvSpPr>
          <p:cNvPr id="4" name="frame-f21_docs"/>
          <p:cNvSpPr/>
          <p:nvPr/>
        </p:nvSpPr>
        <p:spPr>
          <a:xfrm>
            <a:off x="411480" y="1261872"/>
            <a:ext cx="7635240" cy="47720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f21_docs" descr="img2/f21_doc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7635240" cy="477202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1163117" y="186080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63117" y="18608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panel"/>
          <p:cNvSpPr/>
          <p:nvPr/>
        </p:nvSpPr>
        <p:spPr>
          <a:xfrm>
            <a:off x="8275320" y="1261872"/>
            <a:ext cx="3502152" cy="4772025"/>
          </a:xfrm>
          <a:prstGeom prst="roundRect">
            <a:avLst>
              <a:gd name="adj" fmla="val 2089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58200" y="13533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97D4"/>
                </a:solidFill>
              </a:rPr>
              <a:t>操作說明</a:t>
            </a:r>
            <a:endParaRPr lang="en-US" sz="1400" dirty="0"/>
          </a:p>
        </p:txBody>
      </p:sp>
      <p:sp>
        <p:nvSpPr>
          <p:cNvPr id="10" name="badge-1"/>
          <p:cNvSpPr/>
          <p:nvPr/>
        </p:nvSpPr>
        <p:spPr>
          <a:xfrm>
            <a:off x="8458200" y="1801368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5820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869680" y="1746504"/>
            <a:ext cx="2788920" cy="1365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文件清單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施工計畫書、施工圖、施工規範，顯示文件編號與摘要</a:t>
            </a:r>
            <a:endParaRPr lang="en-US" sz="1300" dirty="0"/>
          </a:p>
        </p:txBody>
      </p:sp>
      <p:sp>
        <p:nvSpPr>
          <p:cNvPr id="13" name="badge-2"/>
          <p:cNvSpPr/>
          <p:nvPr/>
        </p:nvSpPr>
        <p:spPr>
          <a:xfrm>
            <a:off x="8458200" y="3184779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58200" y="31847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869680" y="3129915"/>
            <a:ext cx="2788920" cy="1365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填寫時對照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在檢查項目右上點「參考文件」即可開啟</a:t>
            </a:r>
            <a:endParaRPr lang="en-US" sz="1300" dirty="0"/>
          </a:p>
        </p:txBody>
      </p:sp>
      <p:sp>
        <p:nvSpPr>
          <p:cNvPr id="16" name="badge-3"/>
          <p:cNvSpPr/>
          <p:nvPr/>
        </p:nvSpPr>
        <p:spPr>
          <a:xfrm>
            <a:off x="8458200" y="4568190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58200" y="45681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869680" y="4513326"/>
            <a:ext cx="2788920" cy="1365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後台維護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文件清單由後台「參考文件」統一維護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B3B5C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簡報結束　敬請指教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後台管理（桌機）＋ 現場作業（平板／手機），資料即時同步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8580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55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RT QMS">
  <a:themeElements>
    <a:clrScheme name="MRT QMS">
      <a:dk1>
        <a:srgbClr val="1F2937"/>
      </a:dk1>
      <a:lt1>
        <a:srgbClr val="FFFFFF"/>
      </a:lt1>
      <a:dk2>
        <a:srgbClr val="0B3B5C"/>
      </a:dk2>
      <a:lt2>
        <a:srgbClr val="EEF5FA"/>
      </a:lt2>
      <a:accent1>
        <a:srgbClr val="1497D4"/>
      </a:accent1>
      <a:accent2>
        <a:srgbClr val="F59E0B"/>
      </a:accent2>
      <a:accent3>
        <a:srgbClr val="15803D"/>
      </a:accent3>
      <a:accent4>
        <a:srgbClr val="B91C1C"/>
      </a:accent4>
      <a:accent5>
        <a:srgbClr val="64748B"/>
      </a:accent5>
      <a:accent6>
        <a:srgbClr val="7C3AED"/>
      </a:accent6>
      <a:hlink>
        <a:srgbClr val="1497D4"/>
      </a:hlink>
      <a:folHlink>
        <a:srgbClr val="7C3AED"/>
      </a:folHlink>
    </a:clrScheme>
    <a:fontScheme name="MRT QMS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捷運施工查驗系統 全流程說明</dc:title>
  <dc:subject>PptxGenJS Presentation</dc:subject>
  <dc:creator>Brian</dc:creator>
  <cp:lastModifiedBy>Brian</cp:lastModifiedBy>
  <cp:revision>1</cp:revision>
  <dcterms:created xsi:type="dcterms:W3CDTF">2026-10-13T08:11:03Z</dcterms:created>
  <dcterms:modified xsi:type="dcterms:W3CDTF">2026-10-13T08:11:03Z</dcterms:modified>
</cp:coreProperties>
</file>