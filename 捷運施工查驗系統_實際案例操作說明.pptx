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09150b78-0504-a0d3-7b12-98a1ea6aab6a}">
          <p14:sldIdLst>
            <p14:sldId id="256"/>
            <p14:sldId id="257"/>
            <p14:sldId id="258"/>
          </p14:sldIdLst>
        </p14:section>
        <p14:section name="0 準備：建立表單範本" id="{7b40b13f-51d8-4e66-1a09-d62714bae968}">
          <p14:sldIdLst>
            <p14:sldId id="259"/>
            <p14:sldId id="260"/>
            <p14:sldId id="261"/>
            <p14:sldId id="262"/>
          </p14:sldIdLst>
        </p14:section>
        <p14:section name="A 線上表單流程" id="{711c848d-5b36-8c93-4736-2b9b27ff653a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 空白範本 PDF 流程" id="{ddbd8ff6-0c3c-3d1b-ed82-bbc59dee8533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這份簡報用一個真實的操作案例，從頭到尾走一次：CF671 土建標、連續壁工程、單元 P25。所有畫面都是系統實際操作的截圖。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以表5-5 為例：每個檢查項目都可以設定數值容許範圍，例如第 7 項溝底 EL 不得高於 98.5、第 8 項垂直度 1/N 的 N 不得小於 300。勾選停留點的項目，現場判 ○ 後就會出現申請會驗按鈕。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停留點會驗本身就是對改善結果的複查，所以會驗合格時缺失自動結案，不需要工務所再操作一次。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3B5C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4748B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114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捷運施工查驗系統｜實際案例操作說明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案五｜115 年度捷運工程資訊管理系統智慧 e 化案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實際案例：連續壁單元 P25 從建表到結案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自主檢查表怎麼建、填寫時有缺失怎麼處理、遇到檢驗停留點怎麼串到抽查表——線上表單與空白範本 PDF 兩條流程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捷運施工查驗系統　操作案例說明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案例設定：CF671 土建標・連續壁工程・單元 P25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一個單元、五張表單、四種角色；所有畫面都是系統實際操作截圖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928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2103120"/>
                <a:gridCol w="4160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填寫方式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填寫者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在本案例的角色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表5-5 連續壁施工自主檢查表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97D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線上表單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主表，16 項；第 8～12、16 項為 ★檢驗停留點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表5-4、5-6（導溝、鋼筋籠）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97D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線上表單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主表第 1、3 項的前置子表單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表5-7 穩定液自主檢查紀錄表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空白範本 PDF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主表第 9 項 ★穩定液檢測 的前置子表單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SP-5 連續壁施工品質抽查記錄表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97D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線上表單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工務所同仁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8 項 ★垂直度 會驗用的抽查表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SP-7 連續壁穩定液施工品質抽查記錄表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空白範本 PDF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工務所同仁→廠商→主任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9 項 ★穩定液檢測 會驗用的抽查表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登場人物</a:t>
            </a:r>
            <a:endParaRPr lang="en-US" sz="1600" dirty="0"/>
          </a:p>
        </p:txBody>
      </p:sp>
      <p:sp>
        <p:nvSpPr>
          <p:cNvPr id="6" name="ppl"/>
          <p:cNvSpPr/>
          <p:nvPr/>
        </p:nvSpPr>
        <p:spPr>
          <a:xfrm>
            <a:off x="457200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7" name="ppl-ic"/>
          <p:cNvSpPr/>
          <p:nvPr/>
        </p:nvSpPr>
        <p:spPr>
          <a:xfrm>
            <a:off x="640080" y="4965192"/>
            <a:ext cx="548640" cy="548640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廠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廠商品管人員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示範品管</a:t>
            </a:r>
            <a:endParaRPr lang="en-US" sz="1400" dirty="0"/>
          </a:p>
        </p:txBody>
      </p:sp>
      <p:sp>
        <p:nvSpPr>
          <p:cNvPr id="10" name="ppl"/>
          <p:cNvSpPr/>
          <p:nvPr/>
        </p:nvSpPr>
        <p:spPr>
          <a:xfrm>
            <a:off x="3291840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1" name="ppl-ic"/>
          <p:cNvSpPr/>
          <p:nvPr/>
        </p:nvSpPr>
        <p:spPr>
          <a:xfrm>
            <a:off x="3474720" y="4965192"/>
            <a:ext cx="548640" cy="548640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工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工地授權代表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示範工地主任</a:t>
            </a:r>
            <a:endParaRPr lang="en-US" sz="1400" dirty="0"/>
          </a:p>
        </p:txBody>
      </p:sp>
      <p:sp>
        <p:nvSpPr>
          <p:cNvPr id="14" name="ppl"/>
          <p:cNvSpPr/>
          <p:nvPr/>
        </p:nvSpPr>
        <p:spPr>
          <a:xfrm>
            <a:off x="6126480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5" name="ppl-ic"/>
          <p:cNvSpPr/>
          <p:nvPr/>
        </p:nvSpPr>
        <p:spPr>
          <a:xfrm>
            <a:off x="6309360" y="4965192"/>
            <a:ext cx="548640" cy="5486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捷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捷運局工務所同仁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示範工務所同仁</a:t>
            </a:r>
            <a:endParaRPr lang="en-US" sz="1400" dirty="0"/>
          </a:p>
        </p:txBody>
      </p:sp>
      <p:sp>
        <p:nvSpPr>
          <p:cNvPr id="18" name="ppl"/>
          <p:cNvSpPr/>
          <p:nvPr/>
        </p:nvSpPr>
        <p:spPr>
          <a:xfrm>
            <a:off x="8961120" y="4800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ppl-ic"/>
          <p:cNvSpPr/>
          <p:nvPr/>
        </p:nvSpPr>
        <p:spPr>
          <a:xfrm>
            <a:off x="9144000" y="496519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捷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829800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捷運局工務所主任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示範工務所主任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585216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</a:rPr>
              <a:t>重點規則：含 ★停留點的自主檢查表只能用線上表單；PDF 表單可以當作前置子表單或會驗抽查表使用。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案例流程地圖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同一個單元 P25，先走線上表單流程（第 7、8 項），再走 PDF 流程（第 9 項）</a:t>
            </a:r>
            <a:endParaRPr lang="en-US" sz="1400" dirty="0"/>
          </a:p>
        </p:txBody>
      </p:sp>
      <p:sp>
        <p:nvSpPr>
          <p:cNvPr id="4" name="lane"/>
          <p:cNvSpPr/>
          <p:nvPr/>
        </p:nvSpPr>
        <p:spPr>
          <a:xfrm>
            <a:off x="457200" y="141732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線上表單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流程</a:t>
            </a:r>
            <a:endParaRPr lang="en-US" sz="1500" dirty="0"/>
          </a:p>
        </p:txBody>
      </p:sp>
      <p:sp>
        <p:nvSpPr>
          <p:cNvPr id="6" name="step"/>
          <p:cNvSpPr/>
          <p:nvPr/>
        </p:nvSpPr>
        <p:spPr>
          <a:xfrm>
            <a:off x="2011680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57400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A1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新增表5-5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建子表單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094101" y="2011680"/>
            <a:ext cx="146304" cy="914"/>
          </a:xfrm>
          <a:prstGeom prst="line">
            <a:avLst/>
          </a:prstGeom>
          <a:noFill/>
          <a:ln w="22225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9" name="step"/>
          <p:cNvSpPr/>
          <p:nvPr/>
        </p:nvSpPr>
        <p:spPr>
          <a:xfrm>
            <a:off x="3249549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5269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A2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一般項目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判 ╳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4331970" y="2011680"/>
            <a:ext cx="146304" cy="914"/>
          </a:xfrm>
          <a:prstGeom prst="line">
            <a:avLst/>
          </a:prstGeom>
          <a:noFill/>
          <a:ln w="22225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12" name="step"/>
          <p:cNvSpPr/>
          <p:nvPr/>
        </p:nvSpPr>
        <p:spPr>
          <a:xfrm>
            <a:off x="4487418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3138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A3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★停留點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判 ╳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569839" y="2011680"/>
            <a:ext cx="146304" cy="914"/>
          </a:xfrm>
          <a:prstGeom prst="line">
            <a:avLst/>
          </a:prstGeom>
          <a:noFill/>
          <a:ln w="22225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15" name="step"/>
          <p:cNvSpPr/>
          <p:nvPr/>
        </p:nvSpPr>
        <p:spPr>
          <a:xfrm>
            <a:off x="5725287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71007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A4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改善後判 ○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申請會驗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6807708" y="2011680"/>
            <a:ext cx="146304" cy="914"/>
          </a:xfrm>
          <a:prstGeom prst="line">
            <a:avLst/>
          </a:prstGeom>
          <a:noFill/>
          <a:ln w="22225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18" name="step"/>
          <p:cNvSpPr/>
          <p:nvPr/>
        </p:nvSpPr>
        <p:spPr>
          <a:xfrm>
            <a:off x="6963156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08876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A5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工務所會驗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線上抽查表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8045577" y="2011680"/>
            <a:ext cx="146304" cy="914"/>
          </a:xfrm>
          <a:prstGeom prst="line">
            <a:avLst/>
          </a:prstGeom>
          <a:noFill/>
          <a:ln w="22225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21" name="step"/>
          <p:cNvSpPr/>
          <p:nvPr/>
        </p:nvSpPr>
        <p:spPr>
          <a:xfrm>
            <a:off x="8201025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46745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A6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合格放行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缺失自動結案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9283446" y="2011680"/>
            <a:ext cx="146304" cy="914"/>
          </a:xfrm>
          <a:prstGeom prst="line">
            <a:avLst/>
          </a:prstGeom>
          <a:noFill/>
          <a:ln w="22225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24" name="step"/>
          <p:cNvSpPr/>
          <p:nvPr/>
        </p:nvSpPr>
        <p:spPr>
          <a:xfrm>
            <a:off x="9438894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84614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A7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總覽・簽認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建立缺失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10521315" y="2011680"/>
            <a:ext cx="146304" cy="914"/>
          </a:xfrm>
          <a:prstGeom prst="line">
            <a:avLst/>
          </a:prstGeom>
          <a:noFill/>
          <a:ln w="22225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27" name="step"/>
          <p:cNvSpPr/>
          <p:nvPr/>
        </p:nvSpPr>
        <p:spPr>
          <a:xfrm>
            <a:off x="10676763" y="1417320"/>
            <a:ext cx="1073277" cy="1188720"/>
          </a:xfrm>
          <a:prstGeom prst="roundRect">
            <a:avLst>
              <a:gd name="adj" fmla="val 6816"/>
            </a:avLst>
          </a:prstGeom>
          <a:solidFill>
            <a:srgbClr val="FFFFFF"/>
          </a:solidFill>
          <a:ln w="19050">
            <a:solidFill>
              <a:srgbClr val="1497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722483" y="1417320"/>
            <a:ext cx="9818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A8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回報改善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複查結案</a:t>
            </a:r>
            <a:endParaRPr lang="en-US" sz="1400" dirty="0"/>
          </a:p>
        </p:txBody>
      </p:sp>
      <p:sp>
        <p:nvSpPr>
          <p:cNvPr id="29" name="lane"/>
          <p:cNvSpPr/>
          <p:nvPr/>
        </p:nvSpPr>
        <p:spPr>
          <a:xfrm>
            <a:off x="457200" y="3154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154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PDF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流程</a:t>
            </a:r>
            <a:endParaRPr lang="en-US" sz="1500" dirty="0"/>
          </a:p>
        </p:txBody>
      </p:sp>
      <p:sp>
        <p:nvSpPr>
          <p:cNvPr id="31" name="step"/>
          <p:cNvSpPr/>
          <p:nvPr/>
        </p:nvSpPr>
        <p:spPr>
          <a:xfrm>
            <a:off x="2011680" y="3154680"/>
            <a:ext cx="12501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57400" y="3154680"/>
            <a:ext cx="11586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B1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第 9 項需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表5-7(PDF)</a:t>
            </a:r>
            <a:endParaRPr lang="en-US" sz="1400" dirty="0"/>
          </a:p>
        </p:txBody>
      </p:sp>
      <p:sp>
        <p:nvSpPr>
          <p:cNvPr id="33" name="arrow"/>
          <p:cNvSpPr/>
          <p:nvPr/>
        </p:nvSpPr>
        <p:spPr>
          <a:xfrm>
            <a:off x="3270939" y="3749040"/>
            <a:ext cx="146304" cy="914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4" name="step"/>
          <p:cNvSpPr/>
          <p:nvPr/>
        </p:nvSpPr>
        <p:spPr>
          <a:xfrm>
            <a:off x="3426387" y="3154680"/>
            <a:ext cx="12501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2107" y="3154680"/>
            <a:ext cx="11586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B2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PDF 下載鎖定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上傳判 ╳</a:t>
            </a:r>
            <a:endParaRPr lang="en-US" sz="1400" dirty="0"/>
          </a:p>
        </p:txBody>
      </p:sp>
      <p:sp>
        <p:nvSpPr>
          <p:cNvPr id="36" name="arrow"/>
          <p:cNvSpPr/>
          <p:nvPr/>
        </p:nvSpPr>
        <p:spPr>
          <a:xfrm>
            <a:off x="4685647" y="3749040"/>
            <a:ext cx="146304" cy="914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7" name="step"/>
          <p:cNvSpPr/>
          <p:nvPr/>
        </p:nvSpPr>
        <p:spPr>
          <a:xfrm>
            <a:off x="4841095" y="3154680"/>
            <a:ext cx="12501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86815" y="3154680"/>
            <a:ext cx="11586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B3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加簽結案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缺失改善</a:t>
            </a:r>
            <a:endParaRPr lang="en-US" sz="1400" dirty="0"/>
          </a:p>
        </p:txBody>
      </p:sp>
      <p:sp>
        <p:nvSpPr>
          <p:cNvPr id="39" name="arrow"/>
          <p:cNvSpPr/>
          <p:nvPr/>
        </p:nvSpPr>
        <p:spPr>
          <a:xfrm>
            <a:off x="6100354" y="3749040"/>
            <a:ext cx="146304" cy="914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0" name="step"/>
          <p:cNvSpPr/>
          <p:nvPr/>
        </p:nvSpPr>
        <p:spPr>
          <a:xfrm>
            <a:off x="6255802" y="3154680"/>
            <a:ext cx="12501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1522" y="3154680"/>
            <a:ext cx="11586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B4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主表判 ○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申請會驗</a:t>
            </a:r>
            <a:endParaRPr lang="en-US" sz="1400" dirty="0"/>
          </a:p>
        </p:txBody>
      </p:sp>
      <p:sp>
        <p:nvSpPr>
          <p:cNvPr id="42" name="arrow"/>
          <p:cNvSpPr/>
          <p:nvPr/>
        </p:nvSpPr>
        <p:spPr>
          <a:xfrm>
            <a:off x="7515062" y="3749040"/>
            <a:ext cx="146304" cy="914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3" name="step"/>
          <p:cNvSpPr/>
          <p:nvPr/>
        </p:nvSpPr>
        <p:spPr>
          <a:xfrm>
            <a:off x="7670510" y="3154680"/>
            <a:ext cx="12501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16230" y="3154680"/>
            <a:ext cx="11586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B5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會驗選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PDF 抽查表</a:t>
            </a:r>
            <a:endParaRPr lang="en-US" sz="1400" dirty="0"/>
          </a:p>
        </p:txBody>
      </p:sp>
      <p:sp>
        <p:nvSpPr>
          <p:cNvPr id="45" name="arrow"/>
          <p:cNvSpPr/>
          <p:nvPr/>
        </p:nvSpPr>
        <p:spPr>
          <a:xfrm>
            <a:off x="8929769" y="3749040"/>
            <a:ext cx="146304" cy="914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6" name="step"/>
          <p:cNvSpPr/>
          <p:nvPr/>
        </p:nvSpPr>
        <p:spPr>
          <a:xfrm>
            <a:off x="9085217" y="3154680"/>
            <a:ext cx="12501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30937" y="3154680"/>
            <a:ext cx="11586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B6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上傳判定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轉廠商簽名</a:t>
            </a:r>
            <a:endParaRPr lang="en-US" sz="1400" dirty="0"/>
          </a:p>
        </p:txBody>
      </p:sp>
      <p:sp>
        <p:nvSpPr>
          <p:cNvPr id="48" name="arrow"/>
          <p:cNvSpPr/>
          <p:nvPr/>
        </p:nvSpPr>
        <p:spPr>
          <a:xfrm>
            <a:off x="10344477" y="3749040"/>
            <a:ext cx="146304" cy="914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9" name="step"/>
          <p:cNvSpPr/>
          <p:nvPr/>
        </p:nvSpPr>
        <p:spPr>
          <a:xfrm>
            <a:off x="10499925" y="3154680"/>
            <a:ext cx="12501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45645" y="3154680"/>
            <a:ext cx="11586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B7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主任加簽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B5C"/>
                </a:solidFill>
              </a:rPr>
              <a:t>停留點放行</a:t>
            </a:r>
            <a:endParaRPr lang="en-US" sz="1400" dirty="0"/>
          </a:p>
        </p:txBody>
      </p:sp>
      <p:sp>
        <p:nvSpPr>
          <p:cNvPr id="51" name="note"/>
          <p:cNvSpPr/>
          <p:nvPr/>
        </p:nvSpPr>
        <p:spPr>
          <a:xfrm>
            <a:off x="457200" y="4754880"/>
            <a:ext cx="11292840" cy="1463040"/>
          </a:xfrm>
          <a:prstGeom prst="roundRect">
            <a:avLst>
              <a:gd name="adj" fmla="val 5000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4800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3B5C"/>
                </a:solidFill>
              </a:rPr>
              <a:t>本案例會看到的三種「缺失」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① 一般項目缺失（第 7 項溝底沉泥）：送出簽認時建立缺失 → 廠商回報改善 → 工務所複查結案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② 停留點缺失（第 8 項垂直度）：判 ╳ 當下建立缺失 → 改善後重新判 ○ → 會驗合格自動結案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③ PDF 表單缺失（表5-7 穩定液比重）：上傳時選「有缺失」→ 結案時建立缺失 → 回報改善 → 複查結案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準備：建立表單範本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系統管理員在後台建好自主檢查表與抽查表，現場才能填寫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建立線上自主檢查表：表5-5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後台「表單範本」→ 選分項工程「五、連續壁工程」→ 自主檢查表</a:t>
            </a:r>
            <a:endParaRPr lang="en-US" sz="1400" dirty="0"/>
          </a:p>
        </p:txBody>
      </p:sp>
      <p:sp>
        <p:nvSpPr>
          <p:cNvPr id="4" name="frame-c01_tpl55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c01_tpl55" descr="img2/c01_tpl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63117" y="252888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63117" y="25288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446270" y="27913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6270" y="27913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453689" y="30538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3689" y="30538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3682746" y="424681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82746" y="424681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6202375" y="424681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02375" y="424681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8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174650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範本清單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依分項工程列出自主檢查表與抽查表</a:t>
            </a:r>
            <a:endParaRPr lang="en-US" sz="1300" dirty="0"/>
          </a:p>
        </p:txBody>
      </p:sp>
      <p:sp>
        <p:nvSpPr>
          <p:cNvPr id="21" name="badge-2"/>
          <p:cNvSpPr/>
          <p:nvPr/>
        </p:nvSpPr>
        <p:spPr>
          <a:xfrm>
            <a:off x="8458200" y="263141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6314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576551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填寫方式：線上表單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含 ★停留點的表一定要選線上表單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8458200" y="3461461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4614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406597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工具列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可匯入 Excel、預覽表單；已被使用時「另存新版本」</a:t>
            </a:r>
            <a:endParaRPr lang="en-US" sz="1300" dirty="0"/>
          </a:p>
        </p:txBody>
      </p:sp>
      <p:sp>
        <p:nvSpPr>
          <p:cNvPr id="27" name="badge-4"/>
          <p:cNvSpPr/>
          <p:nvPr/>
        </p:nvSpPr>
        <p:spPr>
          <a:xfrm>
            <a:off x="8458200" y="429150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4291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23664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設定檢查項目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每項設定階段、標準、判定類型；數值項目設定上下限，系統自動建議 ○╳</a:t>
            </a:r>
            <a:endParaRPr lang="en-US" sz="1300" dirty="0"/>
          </a:p>
        </p:txBody>
      </p:sp>
      <p:sp>
        <p:nvSpPr>
          <p:cNvPr id="30" name="badge-5"/>
          <p:cNvSpPr/>
          <p:nvPr/>
        </p:nvSpPr>
        <p:spPr>
          <a:xfrm>
            <a:off x="8458200" y="512155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512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5066690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勾選 ★停留點、必拍照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第 8～12、16 項勾停留點；連結表單項目指定子表單（如表5-4）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建立抽查表：線上 SP-5 與 PDF SP-7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抽查表由工務所使用；同一分項工程可以同時有線上與 PDF 抽查表</a:t>
            </a:r>
            <a:endParaRPr lang="en-US" sz="1400" dirty="0"/>
          </a:p>
        </p:txBody>
      </p:sp>
      <p:sp>
        <p:nvSpPr>
          <p:cNvPr id="4" name="frame-c02_tplsp5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c02_tplsp5" descr="img2/c02_tplsp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898087" y="251488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98087" y="25148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676802" y="358673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76802" y="35867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線上抽查表 SP-5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「從自主檢查表同步項目」：帶入表5-5 的項目與停留點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項目以永久代碼對應，表5-5 改版後會驗仍對到正確項目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會驗時自動帶入廠商自檢值，供工務所對照</a:t>
            </a:r>
            <a:endParaRPr lang="en-US" sz="1250" dirty="0"/>
          </a:p>
        </p:txBody>
      </p:sp>
      <p:sp>
        <p:nvSpPr>
          <p:cNvPr id="14" name="frame-c04_tplsp7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c04_tplsp7" descr="img2/c04_tplsp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9123426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23426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8736178" y="341385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736178" y="34138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PDF 抽查表 SP-7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填寫方式選「空白範本（PDF）」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上傳空白 PDF，可預覽、下載、重新上傳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會驗時工務所可選用此表（見 B5）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建立 PDF 自主檢查表：表5-7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格式複雜、習慣紙本填寫的表單，用空白範本 PDF</a:t>
            </a:r>
            <a:endParaRPr lang="en-US" sz="1400" dirty="0"/>
          </a:p>
        </p:txBody>
      </p:sp>
      <p:sp>
        <p:nvSpPr>
          <p:cNvPr id="4" name="frame-c03_tpl57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c03_tpl57" descr="img2/c03_tpl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980737" y="24811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80737" y="24811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675327" y="381733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75327" y="38173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1392174" y="39604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92174" y="39604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4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1746504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選「空白範本（PDF）」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在範本編輯頁切換填寫方式</a:t>
            </a:r>
            <a:endParaRPr lang="en-US" sz="1300" dirty="0"/>
          </a:p>
        </p:txBody>
      </p:sp>
      <p:sp>
        <p:nvSpPr>
          <p:cNvPr id="17" name="badge-2"/>
          <p:cNvSpPr/>
          <p:nvPr/>
        </p:nvSpPr>
        <p:spPr>
          <a:xfrm>
            <a:off x="8458200" y="2838926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58200" y="28389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2784062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上傳空白 PDF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顯示檔名、大小、上傳時間，可預覽</a:t>
            </a:r>
            <a:endParaRPr lang="en-US" sz="1300" dirty="0"/>
          </a:p>
        </p:txBody>
      </p:sp>
      <p:sp>
        <p:nvSpPr>
          <p:cNvPr id="20" name="badge-3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3821620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清單標示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範本清單出現「空白範本 PDF」標籤</a:t>
            </a:r>
            <a:endParaRPr lang="en-US" sz="1300" dirty="0"/>
          </a:p>
        </p:txBody>
      </p:sp>
      <p:sp>
        <p:nvSpPr>
          <p:cNvPr id="23" name="badge-4"/>
          <p:cNvSpPr/>
          <p:nvPr/>
        </p:nvSpPr>
        <p:spPr>
          <a:xfrm>
            <a:off x="8458200" y="491404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4914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4859179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限制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PDF 表沒有逐項判定，不能設 ★停留點；本案例中表5-7 作為主表第 9 項的前置子表單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線上表單流程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表5-5 第 7 項（一般缺失）與第 8 項 ★垂直度（停留點缺失 → 會驗 → 線上抽查表）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A1　新增表5-5，建立前置子表單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廠商品管人員在平板「＋新增自主檢查」</a:t>
            </a:r>
            <a:endParaRPr lang="en-US" sz="1400" dirty="0"/>
          </a:p>
        </p:txBody>
      </p:sp>
      <p:sp>
        <p:nvSpPr>
          <p:cNvPr id="4" name="frame-a01_new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1_new" descr="img2/a01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672584" y="168506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72584" y="1685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672584" y="2030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72584" y="2030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672584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72584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672584" y="268776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72584" y="26877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新增自主檢查（單元 P25）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標號 CF671 土建標　② 工項：連續壁工程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表單：表5-5（線上表單・16 項）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單元 P25（可掃 QR 帶入）、位置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同單元已有填寫中的表5-5 時，系統直接開啟，不會重複建立</a:t>
            </a:r>
            <a:endParaRPr lang="en-US" sz="1250" dirty="0"/>
          </a:p>
        </p:txBody>
      </p:sp>
      <p:sp>
        <p:nvSpPr>
          <p:cNvPr id="18" name="frame-a02_link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a02_link" descr="img2/a02_lin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9123426" y="3171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123426" y="3171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10506456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506456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1105966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05966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前置子表單表5-4 尚未建立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第 1 項「導溝施作」連結表5-4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系統提示「單元 P25 尚未建立表5-4」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直接「建立表5-4（單元 P25）」，填完簽認後主表第 1 項才能判 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A2　一般項目有缺失：第 7 項溝底沉泥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輸入實測值，系統自動比對容許範圍並建議判定</a:t>
            </a:r>
            <a:endParaRPr lang="en-US" sz="1400" dirty="0"/>
          </a:p>
        </p:txBody>
      </p:sp>
      <p:sp>
        <p:nvSpPr>
          <p:cNvPr id="4" name="frame-a03_item7_sugg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3_item7_sugg" descr="img2/a03_item7_sug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676802" y="227285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6802" y="227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676802" y="251488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76802" y="25148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輸入實測值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S1 溝底 EL 輸入 98.62（標準：≦ 98.5）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系統提示「實測值超出容許範圍，建議判定 ╳」</a:t>
            </a:r>
            <a:endParaRPr lang="en-US" sz="1250" dirty="0"/>
          </a:p>
        </p:txBody>
      </p:sp>
      <p:sp>
        <p:nvSpPr>
          <p:cNvPr id="14" name="frame-a04_item7_n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a04_item7_ng" descr="img2/a04_item7_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6468008" y="230743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68008" y="230743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9787280" y="27914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787280" y="2791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判定 ╳ 缺失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項目清單顯示紅色 ╳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判定「╳ 缺失」；一般項目不會鎖住後續，可繼續填寫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缺失在表單送出簽認時自動建立（見 A7）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A3　★停留點有缺失：第 8 項垂直度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停留點判 ╳ 時，系統立即建立缺失並鎖住後續項目</a:t>
            </a:r>
            <a:endParaRPr lang="en-US" sz="1400" dirty="0"/>
          </a:p>
        </p:txBody>
      </p:sp>
      <p:sp>
        <p:nvSpPr>
          <p:cNvPr id="4" name="frame-a05_item8_ng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5_item8_ng" descr="img2/a05_item8_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676802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6802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953408" y="3033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53408" y="3033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351758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35175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垂直度 N=250（標準 ≧ 300）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輸入 1/N 的 N＝250，系統建議 ╳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拍照後判「╳ 缺失」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停留點卡片：已建立缺失追蹤 DF-0006，改善後請重新判 ○ 並申請會驗</a:t>
            </a:r>
            <a:endParaRPr lang="en-US" sz="1250" dirty="0"/>
          </a:p>
        </p:txBody>
      </p:sp>
      <p:sp>
        <p:nvSpPr>
          <p:cNvPr id="16" name="frame-a05b_item9_lock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05b_item9_locked" descr="img2/a05b_item9_lock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9400032" y="209997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400032" y="20999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7740396" y="28260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40396" y="28260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後續項目鎖定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第 9 項顯示「待 ☆垂直度 缺失改善、重新判定並經監造放行」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第 9 項以後全部上鎖，避免未放行就繼續施工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A4　改善後重新判 ○，申請會驗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重新檢測合格後判 ○，缺失轉「待複查」，接著申請停留點會驗</a:t>
            </a:r>
            <a:endParaRPr lang="en-US" sz="1400" dirty="0"/>
          </a:p>
        </p:txBody>
      </p:sp>
      <p:sp>
        <p:nvSpPr>
          <p:cNvPr id="4" name="frame-a06_item8_fixe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6_item8_fixed" descr="img2/a06_item8_fix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676802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6802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2736342" y="3033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36342" y="3033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365588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36558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重新檢測 N=420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重新檢測，N＝420，系統建議 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判「○ 合格」，缺失 DF-0006 自動轉「待複查」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出現「申請會驗（Email 通知監造）」</a:t>
            </a:r>
            <a:endParaRPr lang="en-US" sz="1250" dirty="0"/>
          </a:p>
        </p:txBody>
      </p:sp>
      <p:sp>
        <p:nvSpPr>
          <p:cNvPr id="16" name="frame-a06b_apply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06b_apply" descr="img2/a06b_app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39581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39581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0395814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395814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10395814" y="254946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395814" y="25494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4"/>
          <p:cNvSpPr/>
          <p:nvPr/>
        </p:nvSpPr>
        <p:spPr>
          <a:xfrm>
            <a:off x="11336274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336274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申請停留點會驗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預定會驗時間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不足 24 小時，系統提示為短時間申請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填寫原因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送出：Email 通知工務所，開始 8 小時回覆倒數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A5　工務所排定並開始會驗（線上抽查表）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工務所同仁在申請詳情排定時間，按「開始會驗」自動建立抽查紀錄</a:t>
            </a:r>
            <a:endParaRPr lang="en-US" sz="1400" dirty="0"/>
          </a:p>
        </p:txBody>
      </p:sp>
      <p:sp>
        <p:nvSpPr>
          <p:cNvPr id="4" name="frame-a07_sup_start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7_sup_start" descr="img2/a07_sup_st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178912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78912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566160" y="372503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372503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059832" y="39670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59832" y="39670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119372" y="42782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9372" y="42782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會驗申請詳情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帶入廠商自檢值 N 420 與照片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確認會驗時間（可改期、退回）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「開始會驗」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會驗使用的抽查表：預設線上 SP-5</a:t>
            </a:r>
            <a:endParaRPr lang="en-US" sz="1250" dirty="0"/>
          </a:p>
        </p:txBody>
      </p:sp>
      <p:sp>
        <p:nvSpPr>
          <p:cNvPr id="18" name="frame-a08_spot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a08_spot" descr="img2/a08_spo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9400032" y="230743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400032" y="230743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10395814" y="230743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395814" y="230743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9123426" y="320640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123426" y="32064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badge-4"/>
          <p:cNvSpPr/>
          <p:nvPr/>
        </p:nvSpPr>
        <p:spPr>
          <a:xfrm>
            <a:off x="1105966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105966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SP-5 抽查紀錄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「本次會驗」項目自動帶入廠商自檢 420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工務所填抽查實測 415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判「○ 合格放行」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「簽認並完成」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A6　抽查簽認 → 停留點放行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兩人手寫簽認後，結果自動回寫到廠商的自主檢查表</a:t>
            </a:r>
            <a:endParaRPr lang="en-US" sz="1400" dirty="0"/>
          </a:p>
        </p:txBody>
      </p:sp>
      <p:sp>
        <p:nvSpPr>
          <p:cNvPr id="4" name="frame-a09_sign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9_sign" descr="img2/a09_sig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910742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0742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10742" y="3171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0742" y="3171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42766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2766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抽查紀錄手寫簽認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簽認內容：抽查結果、停留點、照片、內容雜湊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依序：監造工務所（抽查人員）→ 施工廠商隨同人員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手寫簽名</a:t>
            </a:r>
            <a:endParaRPr lang="en-US" sz="1250" dirty="0"/>
          </a:p>
        </p:txBody>
      </p:sp>
      <p:sp>
        <p:nvSpPr>
          <p:cNvPr id="16" name="frame-a10_pass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10_passed" descr="img2/a10_pass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7740396" y="251488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40396" y="25148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7463790" y="275691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63790" y="27569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9731959" y="334470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731959" y="3344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廠商端自動更新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第 8 項顯示「已放行」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第 9 項解鎖，可以繼續填寫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停留點卡片「已合格放行」與時間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A6　停留點缺失自動結案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後台「缺失追蹤」可看到 DF-0006 的完整處理歷程，不需人工結案</a:t>
            </a:r>
            <a:endParaRPr lang="en-US" sz="1400" dirty="0"/>
          </a:p>
        </p:txBody>
      </p:sp>
      <p:sp>
        <p:nvSpPr>
          <p:cNvPr id="4" name="frame-a11_def_auto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1_def_auto" descr="img2/a11_def_au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5057089" y="205168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57089" y="20516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5057089" y="224256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57089" y="22425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057089" y="243344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57089" y="243344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4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1746504"/>
            <a:ext cx="2788920" cy="13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判 ╳ 時自動建立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來源「自主檢查（停留點）」，改善期限 7 天</a:t>
            </a:r>
            <a:endParaRPr lang="en-US" sz="1300" dirty="0"/>
          </a:p>
        </p:txBody>
      </p:sp>
      <p:sp>
        <p:nvSpPr>
          <p:cNvPr id="17" name="badge-2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3129915"/>
            <a:ext cx="2788920" cy="13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改善後重新判 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缺失自動轉「待複查」</a:t>
            </a:r>
            <a:endParaRPr lang="en-US" sz="1300" dirty="0"/>
          </a:p>
        </p:txBody>
      </p:sp>
      <p:sp>
        <p:nvSpPr>
          <p:cNvPr id="20" name="badge-3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4513326"/>
            <a:ext cx="2788920" cy="13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會驗合格自動結案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註明是哪一張抽查紀錄合格放行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A7　送出前總覽與兩人簽認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所有停留點都放行後才能送出；有缺失要先選「缺失複查結果」</a:t>
            </a:r>
            <a:endParaRPr lang="en-US" sz="1400" dirty="0"/>
          </a:p>
        </p:txBody>
      </p:sp>
      <p:sp>
        <p:nvSpPr>
          <p:cNvPr id="4" name="frame-a12_summary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2_summary" descr="img2/a12_summa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566160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66160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123590" y="3171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23590" y="3171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225796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25796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送出前總覽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停留點全部「已放行」，才能送出（否則紅字提示）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第 7 項仍有缺失 → 選「未改善完成，另填缺失改善追蹤表」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送出，進入簽認</a:t>
            </a:r>
            <a:endParaRPr lang="en-US" sz="1250" dirty="0"/>
          </a:p>
        </p:txBody>
      </p:sp>
      <p:sp>
        <p:nvSpPr>
          <p:cNvPr id="16" name="frame-a13_sign_self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13_sign_self" descr="img2/a13_sign_sel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6744614" y="324097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44614" y="3240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9676638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76638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自主檢查表簽認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簽認內容：○15 ╳1、6 項停留點已放行、自動附件表5-4／5-6／5-7／5-9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依序：現場工程師 → 工地授權代表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簽完鎖定，第 7 項自動建立缺失追蹤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A8　缺失改善回報與複查結案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第 7 項溝底沉泥：廠商附說明與照片回報，工務所看過後結案</a:t>
            </a:r>
            <a:endParaRPr lang="en-US" sz="1400" dirty="0"/>
          </a:p>
        </p:txBody>
      </p:sp>
      <p:sp>
        <p:nvSpPr>
          <p:cNvPr id="4" name="frame-a14_def_report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4_def_report" descr="img2/a14_def_re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67258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7258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898087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98087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447081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47081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廠商：回報改善完成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改善說明：重新清除沉泥，複測 EL=98.45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附改善後照片（至少 1 張）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送出，請工務所複查</a:t>
            </a:r>
            <a:endParaRPr lang="en-US" sz="1250" dirty="0"/>
          </a:p>
        </p:txBody>
      </p:sp>
      <p:sp>
        <p:nvSpPr>
          <p:cNvPr id="16" name="frame-a15_def_review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15_def_review" descr="img2/a15_def_re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506456" y="185794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06456" y="185794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621317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21317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10838383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838383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4"/>
          <p:cNvSpPr/>
          <p:nvPr/>
        </p:nvSpPr>
        <p:spPr>
          <a:xfrm>
            <a:off x="11391595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391595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工務所：缺失複查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看廠商改善說明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看改善照片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不合格可退回（須填原因）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合格按「複查合格・結案」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A9　結果查詢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後台可查到這張表的每一項結果、停留點放行狀態與所有缺失的處理情形</a:t>
            </a:r>
            <a:endParaRPr lang="en-US" sz="1400" dirty="0"/>
          </a:p>
        </p:txBody>
      </p:sp>
      <p:sp>
        <p:nvSpPr>
          <p:cNvPr id="4" name="frame-a17_sc_detail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7_sc_detail" descr="img2/a17_sc_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893869" y="272234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3869" y="2722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5557723" y="2860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57723" y="2860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自主檢查紀錄詳情（P25）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第 7 項 ╳ 缺失與實測值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各停留點「已合格放行」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底部有簽認人、時間與內容雜湊</a:t>
            </a:r>
            <a:endParaRPr lang="en-US" sz="1250" dirty="0"/>
          </a:p>
        </p:txBody>
      </p:sp>
      <p:sp>
        <p:nvSpPr>
          <p:cNvPr id="14" name="frame-a16_def_list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a16_def_list" descr="img2/a16_def_li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缺失追蹤（全部）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DF-0006 垂直度：會驗合格自動結案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DF-0007 穩定液（PDF）：複查結案（見 B 流程）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DF-0008 溝底沉泥：複查結案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A 小結：線上表單的資料怎麼串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一次輸入，系統自動把資料帶到下一個步驟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548640" y="1463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4630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自主檢查表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表5-5</a:t>
            </a:r>
            <a:endParaRPr lang="en-US" sz="1600" dirty="0"/>
          </a:p>
        </p:txBody>
      </p:sp>
      <p:sp>
        <p:nvSpPr>
          <p:cNvPr id="6" name="box"/>
          <p:cNvSpPr/>
          <p:nvPr/>
        </p:nvSpPr>
        <p:spPr>
          <a:xfrm>
            <a:off x="3429000" y="1463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5576" y="14630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會驗申請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HP-…</a:t>
            </a:r>
            <a:endParaRPr lang="en-US" sz="1600" dirty="0"/>
          </a:p>
        </p:txBody>
      </p:sp>
      <p:sp>
        <p:nvSpPr>
          <p:cNvPr id="8" name="box"/>
          <p:cNvSpPr/>
          <p:nvPr/>
        </p:nvSpPr>
        <p:spPr>
          <a:xfrm>
            <a:off x="6309360" y="1463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45936" y="14630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抽查紀錄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SP-5</a:t>
            </a:r>
            <a:endParaRPr lang="en-US" sz="1600" dirty="0"/>
          </a:p>
        </p:txBody>
      </p:sp>
      <p:sp>
        <p:nvSpPr>
          <p:cNvPr id="10" name="box"/>
          <p:cNvSpPr/>
          <p:nvPr/>
        </p:nvSpPr>
        <p:spPr>
          <a:xfrm>
            <a:off x="9189720" y="1463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B91C1C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26296" y="146304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缺失追蹤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DF-…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2926080" y="1920240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5806440" y="1920240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8686800" y="1920240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n"/>
          <p:cNvSpPr/>
          <p:nvPr/>
        </p:nvSpPr>
        <p:spPr>
          <a:xfrm>
            <a:off x="457200" y="28346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8346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自檢 → 會驗申請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停留點判 ○ 後申請：自動帶入檢查標準、廠商實測值、照片、單元位置</a:t>
            </a:r>
            <a:endParaRPr lang="en-US" sz="1500" dirty="0"/>
          </a:p>
        </p:txBody>
      </p:sp>
      <p:sp>
        <p:nvSpPr>
          <p:cNvPr id="17" name="n"/>
          <p:cNvSpPr/>
          <p:nvPr/>
        </p:nvSpPr>
        <p:spPr>
          <a:xfrm>
            <a:off x="6172200" y="28346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8346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會驗申請 → 抽查紀錄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開始會驗：自動建立抽查表，標示本次會驗項目，帶入廠商自檢值供對照</a:t>
            </a:r>
            <a:endParaRPr lang="en-US" sz="1500" dirty="0"/>
          </a:p>
        </p:txBody>
      </p:sp>
      <p:sp>
        <p:nvSpPr>
          <p:cNvPr id="19" name="n"/>
          <p:cNvSpPr/>
          <p:nvPr/>
        </p:nvSpPr>
        <p:spPr>
          <a:xfrm>
            <a:off x="457200" y="44348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4348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抽查紀錄 → 自檢表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合格：停留點放行、後續項目解鎖；不合格：建立缺失，改善後可重新申請</a:t>
            </a:r>
            <a:endParaRPr lang="en-US" sz="1500" dirty="0"/>
          </a:p>
        </p:txBody>
      </p:sp>
      <p:sp>
        <p:nvSpPr>
          <p:cNvPr id="21" name="n"/>
          <p:cNvSpPr/>
          <p:nvPr/>
        </p:nvSpPr>
        <p:spPr>
          <a:xfrm>
            <a:off x="6172200" y="44348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4348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各表 → 缺失追蹤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自檢 ╳、停留點 ╳、抽查有缺失都自動建立；停留點會驗合格自動結案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B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空白範本 PDF 流程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表5-5 第 9 項 ★穩定液檢測：前置子表單表5-7 用 PDF，會驗改用 PDF 抽查表 SP-7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 流程說明：PDF 表單在哪裡出現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PDF 自檢表不能設停留點，所以停留點仍在線上主表；PDF 用在「前置子表單」與「會驗抽查表」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548640" y="1554480"/>
            <a:ext cx="3108960" cy="1005840"/>
          </a:xfrm>
          <a:prstGeom prst="roundRect">
            <a:avLst>
              <a:gd name="adj" fmla="val 6364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554480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表5-5（線上）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第 9 項 ★穩定液檢測</a:t>
            </a:r>
            <a:endParaRPr lang="en-US" sz="1500" dirty="0"/>
          </a:p>
        </p:txBody>
      </p:sp>
      <p:sp>
        <p:nvSpPr>
          <p:cNvPr id="6" name="box"/>
          <p:cNvSpPr/>
          <p:nvPr/>
        </p:nvSpPr>
        <p:spPr>
          <a:xfrm>
            <a:off x="548640" y="3291840"/>
            <a:ext cx="3108960" cy="1005840"/>
          </a:xfrm>
          <a:prstGeom prst="roundRect">
            <a:avLst>
              <a:gd name="adj" fmla="val 6364"/>
            </a:avLst>
          </a:prstGeom>
          <a:solidFill>
            <a:srgbClr val="B45309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3291840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表5-7（PDF）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穩定液自主檢查紀錄表</a:t>
            </a:r>
            <a:endParaRPr lang="en-US" sz="1500" dirty="0"/>
          </a:p>
        </p:txBody>
      </p:sp>
      <p:sp>
        <p:nvSpPr>
          <p:cNvPr id="8" name="box"/>
          <p:cNvSpPr/>
          <p:nvPr/>
        </p:nvSpPr>
        <p:spPr>
          <a:xfrm>
            <a:off x="4572000" y="1554480"/>
            <a:ext cx="2743200" cy="1005840"/>
          </a:xfrm>
          <a:prstGeom prst="roundRect">
            <a:avLst>
              <a:gd name="adj" fmla="val 6364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8576" y="155448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會驗申請</a:t>
            </a:r>
            <a:endParaRPr lang="en-US" sz="1600" dirty="0"/>
          </a:p>
        </p:txBody>
      </p:sp>
      <p:sp>
        <p:nvSpPr>
          <p:cNvPr id="10" name="box"/>
          <p:cNvSpPr/>
          <p:nvPr/>
        </p:nvSpPr>
        <p:spPr>
          <a:xfrm>
            <a:off x="8229600" y="1554480"/>
            <a:ext cx="3474720" cy="1005840"/>
          </a:xfrm>
          <a:prstGeom prst="roundRect">
            <a:avLst>
              <a:gd name="adj" fmla="val 6364"/>
            </a:avLst>
          </a:prstGeom>
          <a:solidFill>
            <a:srgbClr val="B45309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554480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SP-7（PDF）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穩定液施工品質抽查記錄表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 flipV="1">
            <a:off x="2103120" y="2578608"/>
            <a:ext cx="914" cy="713232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24028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3B5C"/>
                </a:solidFill>
              </a:rPr>
              <a:t>結案後主表才能判 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B3B5C"/>
                </a:solidFill>
              </a:rPr>
              <a:t>並列為自動附件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3675888" y="2057400"/>
            <a:ext cx="896112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65760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判 ○ 申請</a:t>
            </a:r>
            <a:endParaRPr lang="en-US" sz="1050" dirty="0"/>
          </a:p>
        </p:txBody>
      </p:sp>
      <p:sp>
        <p:nvSpPr>
          <p:cNvPr id="16" name="arrow"/>
          <p:cNvSpPr/>
          <p:nvPr/>
        </p:nvSpPr>
        <p:spPr>
          <a:xfrm>
            <a:off x="7333488" y="2057400"/>
            <a:ext cx="896112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31520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選 PDF 表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>
            <a:off x="9966960" y="2578608"/>
            <a:ext cx="914" cy="713232"/>
          </a:xfrm>
          <a:prstGeom prst="line">
            <a:avLst/>
          </a:prstGeom>
          <a:noFill/>
          <a:ln w="25400">
            <a:solidFill>
              <a:srgbClr val="15803D"/>
            </a:solidFill>
            <a:prstDash val="dash"/>
            <a:tailEnd type="triangle"/>
          </a:ln>
        </p:spPr>
      </p:sp>
      <p:sp>
        <p:nvSpPr>
          <p:cNvPr id="19" name="arrow"/>
          <p:cNvSpPr/>
          <p:nvPr/>
        </p:nvSpPr>
        <p:spPr>
          <a:xfrm flipH="1" flipV="1">
            <a:off x="3703320" y="2286000"/>
            <a:ext cx="6263640" cy="1005840"/>
          </a:xfrm>
          <a:prstGeom prst="line">
            <a:avLst/>
          </a:prstGeom>
          <a:noFill/>
          <a:ln w="19050">
            <a:solidFill>
              <a:srgbClr val="15803D"/>
            </a:solidFill>
            <a:prstDash val="dash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03504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主任加簽結案、判定合格 → 第 9 項停留點放行</a:t>
            </a:r>
            <a:endParaRPr lang="en-US" sz="1150" dirty="0"/>
          </a:p>
        </p:txBody>
      </p:sp>
      <p:sp>
        <p:nvSpPr>
          <p:cNvPr id="21" name="p"/>
          <p:cNvSpPr/>
          <p:nvPr/>
        </p:nvSpPr>
        <p:spPr>
          <a:xfrm>
            <a:off x="457200" y="46634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634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B1～B4　表5-7（PDF 子表單）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下載鎖定 → 離線填寫 → 上傳時選「有缺失」→ 憑證加簽結案 → 自動建立缺失 → 回報改善、複查結案 → 主表第 9 項判 ○、申請會驗</a:t>
            </a:r>
            <a:endParaRPr lang="en-US" sz="1500" dirty="0"/>
          </a:p>
        </p:txBody>
      </p:sp>
      <p:sp>
        <p:nvSpPr>
          <p:cNvPr id="23" name="p"/>
          <p:cNvSpPr/>
          <p:nvPr/>
        </p:nvSpPr>
        <p:spPr>
          <a:xfrm>
            <a:off x="6172200" y="46634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6634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B5～B7　SP-7（PDF 抽查表）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工務所開始會驗時選 SP-7 → 下載鎖定 → 上傳判定「合格」、轉廠商簽名 → 廠商上傳簽名版 → 主任憑證加簽結案 → 停留點放行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B1　第 9 項需要表5-7（PDF 子表單）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第 8 項放行後第 9 項解鎖；判 ○ 之前必須先完成表5-7</a:t>
            </a:r>
            <a:endParaRPr lang="en-US" sz="1400" dirty="0"/>
          </a:p>
        </p:txBody>
      </p:sp>
      <p:sp>
        <p:nvSpPr>
          <p:cNvPr id="4" name="frame-b01_item9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01_item9" descr="img2/b01_item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012948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12948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898087" y="296437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98087" y="29643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第 9 項 ★穩定液檢測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連結表單：表5-7 穩定液自主檢查紀錄表（未完成）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檢驗停留點：判 ○ 後可申請會驗</a:t>
            </a:r>
            <a:endParaRPr lang="en-US" sz="1250" dirty="0"/>
          </a:p>
        </p:txBody>
      </p:sp>
      <p:sp>
        <p:nvSpPr>
          <p:cNvPr id="14" name="frame-b01b_link57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b01b_link57" descr="img2/b01b_link5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10506456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506456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1105966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05966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建立表5-7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提示「單元 P25 尚未建立表5-7」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「建立表5-7（單元 P25）」，直接進入 PDF 辦理畫面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B2　PDF 下載鎖定，上傳時判「有缺失」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廠商下載空白範本離線填寫；發現穩定液比重超標，上傳時選「有缺失」</a:t>
            </a:r>
            <a:endParaRPr lang="en-US" sz="1400" dirty="0"/>
          </a:p>
        </p:txBody>
      </p:sp>
      <p:sp>
        <p:nvSpPr>
          <p:cNvPr id="4" name="frame-b02_pdf_new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02_pdf_new" descr="img2/b02_pdf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629918" y="22382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29918" y="2238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012948" y="275691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2948" y="27569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表5-7 未開始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「下載並鎖定」：下載空白範本並取得控制權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空白範本可預覽、下載</a:t>
            </a:r>
            <a:endParaRPr lang="en-US" sz="1250" dirty="0"/>
          </a:p>
        </p:txBody>
      </p:sp>
      <p:sp>
        <p:nvSpPr>
          <p:cNvPr id="14" name="frame-b03_upload_n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b03_upload_ng" descr="img2/b03_upload_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10395814" y="185794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395814" y="185794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10949026" y="237658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949026" y="237658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3"/>
          <p:cNvSpPr/>
          <p:nvPr/>
        </p:nvSpPr>
        <p:spPr>
          <a:xfrm>
            <a:off x="10395814" y="3171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395814" y="3171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badge-4"/>
          <p:cNvSpPr/>
          <p:nvPr/>
        </p:nvSpPr>
        <p:spPr>
          <a:xfrm>
            <a:off x="11391595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391595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上傳並簽名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上傳填寫後的 PDF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檢查結果選「╳ 有缺失」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現地手寫簽名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上傳並簽名 → 待流轉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B3　憑證加簽結案，自動建立缺失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結案時判定為「有缺失」，系統自動建立缺失；廠商改善後回報</a:t>
            </a:r>
            <a:endParaRPr lang="en-US" sz="1400" dirty="0"/>
          </a:p>
        </p:txBody>
      </p:sp>
      <p:sp>
        <p:nvSpPr>
          <p:cNvPr id="4" name="frame-b04_closed_ng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04_closed_ng" descr="img2/b04_closed_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2570378" y="168506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70378" y="1685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2459736" y="310267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59736" y="310267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1906524" y="375961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06524" y="3759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表5-7 已結案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「已結案・V2」，檢查結果「有缺失」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成果檔可下載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辦理軌跡：下載鎖定 → 上傳並簽名 → 憑證加簽結案</a:t>
            </a:r>
            <a:endParaRPr lang="en-US" sz="1250" dirty="0"/>
          </a:p>
        </p:txBody>
      </p:sp>
      <p:sp>
        <p:nvSpPr>
          <p:cNvPr id="16" name="frame-b05_def_report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b05_def_report" descr="img2/b05_def_repor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506456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06456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731959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731959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11280953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280953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廠商：回報改善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改善說明：重新調配穩定液，比重降至 1.08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附複測照片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送出，請工務所複查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B4　缺失複查結案，主表第 9 項判 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工務所複查合格後，回主表第 9 項：子表單已結案，判 ○ 並申請會驗</a:t>
            </a:r>
            <a:endParaRPr lang="en-US" sz="1400" dirty="0"/>
          </a:p>
        </p:txBody>
      </p:sp>
      <p:sp>
        <p:nvSpPr>
          <p:cNvPr id="4" name="frame-b05b_def_review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05b_def_review" descr="img2/b05b_def_re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672584" y="185794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72584" y="185794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787445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87445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557723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57723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工務所：缺失複查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看改善說明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看照片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「複查合格・結案」</a:t>
            </a:r>
            <a:endParaRPr lang="en-US" sz="1250" dirty="0"/>
          </a:p>
        </p:txBody>
      </p:sp>
      <p:sp>
        <p:nvSpPr>
          <p:cNvPr id="16" name="frame-b06_item9_ok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b06_item9_ok" descr="img2/b06_item9_o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1059668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059668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8846820" y="241115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846820" y="2411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9731959" y="3033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731959" y="3033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主表第 9 項判 ○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表5-7「已完成 ○」（同單元真實紀錄已結案）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判「○ 合格」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「申請會驗」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B5　會驗時選用 PDF 抽查表 SP-7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工務所排定後，在「會驗使用的抽查紀錄表」選 PDF 表，再開始會驗</a:t>
            </a:r>
            <a:endParaRPr lang="en-US" sz="1400" dirty="0"/>
          </a:p>
        </p:txBody>
      </p:sp>
      <p:sp>
        <p:nvSpPr>
          <p:cNvPr id="4" name="frame-b07_choose_pdf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07_choose_pdf" descr="img2/b07_choose_pd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119372" y="42782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9372" y="42782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5059832" y="39670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59832" y="39670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選擇抽查表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下拉選「連續壁穩定液施工品質抽查記錄表（空白範本 PDF）」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「開始會驗」</a:t>
            </a:r>
            <a:endParaRPr lang="en-US" sz="1250" dirty="0"/>
          </a:p>
        </p:txBody>
      </p:sp>
      <p:sp>
        <p:nvSpPr>
          <p:cNvPr id="14" name="frame-b08_pdf_spot_new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b08_pdf_spot_new" descr="img2/b08_pdf_spot_n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9123426" y="123558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23426" y="123558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7187184" y="22382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187184" y="2238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SP-7 抽查紀錄（PDF）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標示「空白範本 PDF」「檢驗停留點」與會驗申請編號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「下載並鎖定」，離線填寫抽查結果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B6　上傳抽查結果，轉廠商簽名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工務所上傳時決定判定結果與下一關；廠商在「表單簽辦」待辦看到輪到自己</a:t>
            </a:r>
            <a:endParaRPr lang="en-US" sz="1400" dirty="0"/>
          </a:p>
        </p:txBody>
      </p:sp>
      <p:sp>
        <p:nvSpPr>
          <p:cNvPr id="4" name="frame-b09_upload_ok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09_upload_ok" descr="img2/b09_upload_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953408" y="241115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53408" y="2411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561942" y="299894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1942" y="29989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561942" y="3794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1942" y="3794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5557723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57723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工務所：上傳並簽名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判定「○ 合格放行」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下一關「轉施工廠商簽名」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現地手寫簽名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上傳並簽名</a:t>
            </a:r>
            <a:endParaRPr lang="en-US" sz="1250" dirty="0"/>
          </a:p>
        </p:txBody>
      </p:sp>
      <p:sp>
        <p:nvSpPr>
          <p:cNvPr id="18" name="frame-b10_vendor_todo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b10_vendor_todo" descr="img2/b10_vendor_tod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7131863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131863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6633972" y="2030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633972" y="2030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7187184" y="244573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187184" y="24457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廠商：表單簽辦待辦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「表單簽辦」分頁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SP-7 待廠商簽名，提示「請簽名後上傳」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開啟表單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B7　廠商簽名上傳 → 主任憑證加簽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廠商上傳簽名版後自動轉主任；主任以自然人憑證或行動自然人憑證加簽結案</a:t>
            </a:r>
            <a:endParaRPr lang="en-US" sz="1400" dirty="0"/>
          </a:p>
        </p:txBody>
      </p:sp>
      <p:sp>
        <p:nvSpPr>
          <p:cNvPr id="4" name="frame-b11_vendor_uploa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11_vendor_upload" descr="img2/b11_vendor_upl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561942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61942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5391760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176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廠商：上傳簽名 PDF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選擇廠商簽名後的 PDF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「上傳並轉主任」</a:t>
            </a:r>
            <a:endParaRPr lang="en-US" sz="1250" dirty="0"/>
          </a:p>
        </p:txBody>
      </p:sp>
      <p:sp>
        <p:nvSpPr>
          <p:cNvPr id="14" name="frame-b12_director_cert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b12_director_cert" descr="img2/b12_director_cer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10395814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395814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11225632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225632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主任：加簽結案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選行動自然人憑證（TW FidO）或實體自然人憑證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「以憑證簽章並結案」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B8　結案合格 → 第 9 項停留點放行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PDF 抽查表結案時判定「合格」，停留點自動放行，主表後續項目解鎖</a:t>
            </a:r>
            <a:endParaRPr lang="en-US" sz="1400" dirty="0"/>
          </a:p>
        </p:txBody>
      </p:sp>
      <p:sp>
        <p:nvSpPr>
          <p:cNvPr id="4" name="frame-b13_spot_close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b13_spot_closed" descr="img2/b13_spot_clos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242670" y="14430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42670" y="14430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2736342" y="14430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36342" y="14430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1906524" y="3171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06524" y="3171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SP-7 已結案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「已結案・V3」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抽查判定：合格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軌跡：下載鎖定 → 上傳並簽名 → 廠商簽名確認 → 主任加簽結案</a:t>
            </a:r>
            <a:endParaRPr lang="en-US" sz="1250" dirty="0"/>
          </a:p>
        </p:txBody>
      </p:sp>
      <p:sp>
        <p:nvSpPr>
          <p:cNvPr id="16" name="frame-b14_item9_pass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b14_item9_passed" descr="img2/b14_item9_pass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7740396" y="2653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40396" y="2653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731959" y="28260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731959" y="28260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主表第 9 項已放行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第 9 項「已放行」，後續項目解鎖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停留點卡片「已合格放行」與時間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之後依 A7、A8 送出總覽、簽認與缺失改善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線上表單 vs 空白範本 PDF：本案例對照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同一個單元 P25，兩種填寫方式在每個環節的差異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928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84632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線上表單（表5-5、SP-5）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空白範本 PDF（表5-7、SP-7）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建立範本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後台逐項設定：標準、數值上下限、★停留點、必拍照、連結表單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後台上傳空白 PDF；不能設停留點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填寫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平板逐項輸入、拍照，系統自動建議 ○╳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下載並鎖定 → 離線填寫 → 上傳；同時只有鎖定人能上傳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發現缺失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一般項目：簽認時建立；★停留點：判 ╳ 當下建立並鎖住後續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上傳時選「有缺失」，結案時建立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缺失改善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廠商回報（說明＋照片）→ 工務所複查；停留點缺失由會驗合格自動結案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廠商回報（說明＋照片）→ 工務所複查結案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停留點會驗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主表判 ○ → 申請 → 工務所排定 → 開始會驗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停留點在線上主表；PDF 子表單結案後主表才能判 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自動帶入廠商自檢值，逐項判定，兩人手寫簽認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工務所上傳判定 → 廠商簽名 → 主任憑證加簽結案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放行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抽查簽認完成即放行，後續項目解鎖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主任加簽結案且判定合格即放行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B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兩人手寫簽認，產生內容雜湊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現地手寫簽名＋自然人憑證加簽，每一版成果檔可下載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案例說明結束　敬請指教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單元 P25：1 張主表、4 張子表單、2 次停留點會驗（線上＋PDF）、3 筆缺失全部結案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T QMS">
  <a:themeElements>
    <a:clrScheme name="MRT QMS">
      <a:dk1>
        <a:srgbClr val="1F2937"/>
      </a:dk1>
      <a:lt1>
        <a:srgbClr val="FFFFFF"/>
      </a:lt1>
      <a:dk2>
        <a:srgbClr val="0B3B5C"/>
      </a:dk2>
      <a:lt2>
        <a:srgbClr val="EEF5FA"/>
      </a:lt2>
      <a:accent1>
        <a:srgbClr val="1497D4"/>
      </a:accent1>
      <a:accent2>
        <a:srgbClr val="F59E0B"/>
      </a:accent2>
      <a:accent3>
        <a:srgbClr val="15803D"/>
      </a:accent3>
      <a:accent4>
        <a:srgbClr val="B91C1C"/>
      </a:accent4>
      <a:accent5>
        <a:srgbClr val="64748B"/>
      </a:accent5>
      <a:accent6>
        <a:srgbClr val="7C3AED"/>
      </a:accent6>
      <a:hlink>
        <a:srgbClr val="1497D4"/>
      </a:hlink>
      <a:folHlink>
        <a:srgbClr val="7C3AED"/>
      </a:folHlink>
    </a:clrScheme>
    <a:fontScheme name="MRT QMS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捷運施工查驗系統 實際案例操作說明</dc:title>
  <dc:subject>PptxGenJS Presentation</dc:subject>
  <dc:creator>Brian</dc:creator>
  <cp:lastModifiedBy>Brian</cp:lastModifiedBy>
  <cp:revision>1</cp:revision>
  <dcterms:created xsi:type="dcterms:W3CDTF">2026-10-13T08:49:28Z</dcterms:created>
  <dcterms:modified xsi:type="dcterms:W3CDTF">2026-10-13T08:49:28Z</dcterms:modified>
</cp:coreProperties>
</file>