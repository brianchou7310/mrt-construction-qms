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d063c615-eeab-9eae-02ad-6dd7411eb85e}">
          <p14:sldIdLst>
            <p14:sldId id="256"/>
            <p14:sldId id="257"/>
          </p14:sldIdLst>
        </p14:section>
        <p14:section name="01 系統定位" id="{6ff94eaf-c708-847c-62fd-feb08052af61}">
          <p14:sldIdLst>
            <p14:sldId id="258"/>
            <p14:sldId id="259"/>
            <p14:sldId id="260"/>
            <p14:sldId id="261"/>
          </p14:sldIdLst>
        </p14:section>
        <p14:section name="02 角色與權限" id="{03b26e76-f79d-77d9-72bd-b0ad0498962d}">
          <p14:sldIdLst>
            <p14:sldId id="262"/>
            <p14:sldId id="263"/>
            <p14:sldId id="264"/>
          </p14:sldIdLst>
        </p14:section>
        <p14:section name="03 業務流程" id="{bcc14559-45bc-a709-38f2-a36bdcc884da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4 後台管理頁面" id="{3f16e7dc-8e1a-64b7-29e2-42cbd8049303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05 現場作業頁面" id="{38096638-c054-4184-ff12-afe220352008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06 空白範本 PDF 操作" id="{ccd98063-c052-7a65-b603-e80ea0663377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07 雛型限制與後續" id="{3a6f6ebb-10aa-2a59-c9ef-1274c32a1339}">
          <p14:sldIdLst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本次報告說明捷運施工查驗系統雛型 v2 的完整做法：有哪些角色、各角色的業務流程，以及後台與現場作業雛型頁面的實際操作。v2 是在第一版（線上表單）基礎上，新增「空白範本 PDF」的填寫方式。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系統的核心是把三個原本分散的紙本作業串起來。自主檢查是主軸；遇到停留點要申請會驗；會驗本身就是一次抽查，抽查結果自動回寫、自動產生缺失。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雛型目前用瀏覽器 IndexedDB 存資料，兩個頁面開在同一台電腦的瀏覽器就會即時同步；正式系統會改為後端 API 與資料庫。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的重點是兼顧兩種需求：已經結構化的表單走線上逐項填寫；格式複雜、或廠商習慣紙本的表單，改用空白 PDF 範本，流程照「下載鎖定、上傳續填、現地手寫簽名、憑證加簽結案」。兩版資料庫分開，互不影響。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廠商端有兩個簽認身分：品管人員是第一位簽認、工地授權代表是第二位。捷運局端分工務所同仁與工務所主任，主任主要在 PDF 抽查表做最後的憑證加簽。第二區工程處主管不是操作者，是逾時回覆的通知對象。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這張表可以當作後續正式系統權限設計的依據。雛型中「工務所主任」也具備工務所同仁的權限（系統判斷為局內人員）。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這張是整體的串接：管理員先把標案、分項工程、表單範本建好；廠商在現場新增自主檢查並逐項檢查；遇停留點提出會驗申請，工務所 8 小時內排定，到場會驗後合格放行，廠商才能繼續後面的項目；全部完成後兩位廠商人員簽認鎖定。任何缺失判定都會自動建立缺失追蹤，廠商改善後由工務所複查結案。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自主檢查的重點是「用規則取代人工提醒」：分階段、必拍照、停留點未放行鎖定後續項目，都由系統自動控管。簽認後內容產生雜湊值並鎖定，確保事後不可竄改。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會驗流程有清楚的狀態：待回覆、已排定、檢驗中，最後合格放行或不合格；工務所也可以退回並填原因。24 小時、8 小時都是後台參數，可以依契約規定調整。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抽查和會驗是同一份紀錄：會驗時按開始會驗就會自動帶出對應的抽查表與廠商自檢數據，工務所同仁只要填實測值與判定。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缺失的來源有三種，都是在簽認或結案的那一刻自動產生。改善期限是後台參數，預設 7 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 版本的關鍵是「鎖定」：誰下載就由誰鎖定，只有鎖定人可以上傳或取消。每次上傳版本號加一，所有版本與辦理軌跡都保留可下載。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抽查 PDF 比自主檢查 PDF 多了「下一關」的選擇：可以轉給其他局內人員續填、轉廠商簽名，或免廠商簽名直接給主任。主任以憑證加簽後才算結案，結案時依判定結果決定放行或建立缺失。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首頁是給主管與工務所看的儀表板：最上面是四個關鍵數字，下面是需要處理的申請、未結案缺失，以及各分項工程的進度。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範本是整個系統的基礎。每個檢查項目可以設定數值欄位與容許範圍，現場就能自動建議判定；勾選停留點的項目，現場就會出現申請會驗的按鈕。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 範本沒有逐項判定與停留點，所以適合格式複雜、或只需要留存紙本成果的表單。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填寫畫面是左右分欄：左邊是所有項目，右邊是目前這一項。檢查標準直接顯示在項目上方，不需要翻計畫書。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左邊是雛型的已知限制，正式開發時會處理；右邊是需要主管決定的業務規則，確認後會回寫到系統參數或流程設計。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3B5C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4748B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114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捷運施工查驗系統｜雛型 v2 全流程說明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案五｜115 年度捷運工程資訊管理系統智慧 e 化案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捷運施工查驗系統 雛型 v2 全流程說明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角色分工・業務流程・雛型頁面操作（自主檢查／停留點會驗／抽查／缺失追蹤／空白範本 PDF）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2026 / 10 / 12　主管報告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報告大綱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依「看懂系統 → 看懂流程 → 看懂操作」的順序說明</a:t>
            </a:r>
            <a:endParaRPr lang="en-US" sz="1400" dirty="0"/>
          </a:p>
        </p:txBody>
      </p:sp>
      <p:sp>
        <p:nvSpPr>
          <p:cNvPr id="4" name="agenda-card"/>
          <p:cNvSpPr/>
          <p:nvPr/>
        </p:nvSpPr>
        <p:spPr>
          <a:xfrm>
            <a:off x="548640" y="14173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490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系統定位與 v2 重點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三大查驗機制、兩個操作入口、v2 新增項目</a:t>
            </a:r>
            <a:endParaRPr lang="en-US" sz="1800" dirty="0"/>
          </a:p>
        </p:txBody>
      </p:sp>
      <p:sp>
        <p:nvSpPr>
          <p:cNvPr id="7" name="agenda-card"/>
          <p:cNvSpPr/>
          <p:nvPr/>
        </p:nvSpPr>
        <p:spPr>
          <a:xfrm>
            <a:off x="548640" y="2624328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2432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6974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角色與權限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6 種角色的職責與可操作功能</a:t>
            </a:r>
            <a:endParaRPr lang="en-US" sz="1800" dirty="0"/>
          </a:p>
        </p:txBody>
      </p:sp>
      <p:sp>
        <p:nvSpPr>
          <p:cNvPr id="10" name="agenda-card"/>
          <p:cNvSpPr/>
          <p:nvPr/>
        </p:nvSpPr>
        <p:spPr>
          <a:xfrm>
            <a:off x="548640" y="3831336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31336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90448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業務流程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全流程泳道圖，及自主檢查、會驗、抽查、缺失、PDF 流程</a:t>
            </a:r>
            <a:endParaRPr lang="en-US" sz="1800" dirty="0"/>
          </a:p>
        </p:txBody>
      </p:sp>
      <p:sp>
        <p:nvSpPr>
          <p:cNvPr id="13" name="agenda-card"/>
          <p:cNvSpPr/>
          <p:nvPr/>
        </p:nvSpPr>
        <p:spPr>
          <a:xfrm>
            <a:off x="548640" y="5038344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03834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511149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後台管理頁面操作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總覽、標案、範本、匯入、會驗管理、紀錄查詢</a:t>
            </a:r>
            <a:endParaRPr lang="en-US" sz="1800" dirty="0"/>
          </a:p>
        </p:txBody>
      </p:sp>
      <p:sp>
        <p:nvSpPr>
          <p:cNvPr id="16" name="agenda-card"/>
          <p:cNvSpPr/>
          <p:nvPr/>
        </p:nvSpPr>
        <p:spPr>
          <a:xfrm>
            <a:off x="6309360" y="14173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4173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14904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現場作業頁面操作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廠商填寫自主檢查、工務所會驗抽查、手寫簽認</a:t>
            </a:r>
            <a:endParaRPr lang="en-US" sz="1800" dirty="0"/>
          </a:p>
        </p:txBody>
      </p:sp>
      <p:sp>
        <p:nvSpPr>
          <p:cNvPr id="19" name="agenda-card"/>
          <p:cNvSpPr/>
          <p:nvPr/>
        </p:nvSpPr>
        <p:spPr>
          <a:xfrm>
            <a:off x="6309360" y="2624328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262432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6974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v2 空白範本 PDF 操作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下載鎖定 → 上傳簽名 → 憑證加簽結案</a:t>
            </a:r>
            <a:endParaRPr lang="en-US" sz="1800" dirty="0"/>
          </a:p>
        </p:txBody>
      </p:sp>
      <p:sp>
        <p:nvSpPr>
          <p:cNvPr id="22" name="agenda-card"/>
          <p:cNvSpPr/>
          <p:nvPr/>
        </p:nvSpPr>
        <p:spPr>
          <a:xfrm>
            <a:off x="6309360" y="3831336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831336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7D4"/>
                </a:solidFill>
              </a:rPr>
              <a:t>07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390448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5C"/>
                </a:solidFill>
              </a:rPr>
              <a:t>雛型限制與後續討論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模擬功能說明、需主管裁示事項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01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系統定位與 v2 重點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把紙本「自主檢查表、停留點會驗、品質抽查」搬到平板，並與後台即時同步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三大查驗機制，串成一條品質管理鏈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廠商自主檢查為主軸，遇「檢驗停留點」必須由捷運局工務所會驗放行後才能繼續</a:t>
            </a:r>
            <a:endParaRPr lang="en-US" sz="1400" dirty="0"/>
          </a:p>
        </p:txBody>
      </p:sp>
      <p:sp>
        <p:nvSpPr>
          <p:cNvPr id="4" name="mech-card"/>
          <p:cNvSpPr/>
          <p:nvPr/>
        </p:nvSpPr>
        <p:spPr>
          <a:xfrm>
            <a:off x="457200" y="13716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mech-ic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5C"/>
                </a:solidFill>
              </a:rPr>
              <a:t>自主檢查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97D4"/>
                </a:solidFill>
              </a:rPr>
              <a:t>廠商品管人員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依施工計畫書的自主檢查表，分「施工前／中／後」逐項檢查、量測、拍照、判定，完成後由兩位廠商人員手寫簽認並鎖定。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041648" y="320040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1" name="mech-card"/>
          <p:cNvSpPr/>
          <p:nvPr/>
        </p:nvSpPr>
        <p:spPr>
          <a:xfrm>
            <a:off x="4279392" y="13716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mech-ic"/>
          <p:cNvSpPr/>
          <p:nvPr/>
        </p:nvSpPr>
        <p:spPr>
          <a:xfrm>
            <a:off x="4553712" y="16459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3712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5C"/>
                </a:solidFill>
              </a:rPr>
              <a:t>停留點會驗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廠商申請 → 工務所回覆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6060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標示 ★ 的檢驗停留點，廠商判定合格後提出會驗申請，系統 Email 通知；工務所排定時間、到場會驗，合格才放行後續項目。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7863840" y="320040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8" name="mech-card"/>
          <p:cNvSpPr/>
          <p:nvPr/>
        </p:nvSpPr>
        <p:spPr>
          <a:xfrm>
            <a:off x="8101584" y="137160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mech-ic"/>
          <p:cNvSpPr/>
          <p:nvPr/>
        </p:nvSpPr>
        <p:spPr>
          <a:xfrm>
            <a:off x="8375904" y="1645920"/>
            <a:ext cx="685800" cy="68580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75904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1645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B5C"/>
                </a:solidFill>
              </a:rPr>
              <a:t>品質抽查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057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捷運局工務所同仁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26060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</a:rPr>
              <a:t>會驗時自動建立抽查紀錄並帶入廠商自檢數據；亦可隨機抽查。判定有缺失自動建立缺失追蹤，期限內改善後複查結案。</a:t>
            </a:r>
            <a:endParaRPr lang="en-US" sz="1400" dirty="0"/>
          </a:p>
        </p:txBody>
      </p:sp>
      <p:sp>
        <p:nvSpPr>
          <p:cNvPr id="24" name="mech-note"/>
          <p:cNvSpPr/>
          <p:nvPr/>
        </p:nvSpPr>
        <p:spPr>
          <a:xfrm>
            <a:off x="457200" y="544068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440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串接重點：</a:t>
            </a:r>
            <a:pPr indent="0" marL="0">
              <a:buNone/>
            </a:pPr>
            <a:r>
              <a:rPr lang="en-US" sz="1400" dirty="0">
                <a:solidFill>
                  <a:srgbClr val="78350F"/>
                </a:solidFill>
              </a:rPr>
              <a:t>停留點未放行，系統會鎖定後續檢查項目；抽查判定直接回寫自主檢查表的停留點狀態；任何「缺失」判定都自動進入缺失追蹤，不需另外登打。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兩個操作入口，共用同一份資料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後台給機關管理與查詢；現場作業給平板／手機在工地填寫，任一端寫入，另一端即時更新</a:t>
            </a:r>
            <a:endParaRPr lang="en-US" sz="1400" dirty="0"/>
          </a:p>
        </p:txBody>
      </p:sp>
      <p:sp>
        <p:nvSpPr>
          <p:cNvPr id="4" name="frame-arch-admin"/>
          <p:cNvSpPr/>
          <p:nvPr/>
        </p:nvSpPr>
        <p:spPr>
          <a:xfrm>
            <a:off x="457200" y="1325880"/>
            <a:ext cx="5394960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rch-admin" descr="img/a01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394960" cy="3371850"/>
          </a:xfrm>
          <a:prstGeom prst="rect">
            <a:avLst/>
          </a:prstGeom>
        </p:spPr>
      </p:pic>
      <p:sp>
        <p:nvSpPr>
          <p:cNvPr id="6" name="frame-arch-field"/>
          <p:cNvSpPr/>
          <p:nvPr/>
        </p:nvSpPr>
        <p:spPr>
          <a:xfrm>
            <a:off x="6336792" y="1325880"/>
            <a:ext cx="5394960" cy="3371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hot-arch-field" descr="img/f01_todo_contract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32588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後台管理（桌機）admin.html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5193792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查驗總覽、停留點會驗管理、自主檢查／抽查紀錄、缺失追蹤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標案與分項工程、表單範本（線上／PDF）、範本匯入、參考文件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帳號與權限、參數設定（會驗提前時數、回覆時限等）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336792" y="4800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現場作業（平板／手機）field.html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336792" y="5193792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今日待辦：會驗、抽查、缺失複查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自主檢查填寫、拍照、申請會驗、手寫簽認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抽查紀錄、PDF 下載鎖定／上傳簽名／憑證加簽；「我的」切換身分</a:t>
            </a:r>
            <a:endParaRPr lang="en-US" sz="1300" dirty="0"/>
          </a:p>
        </p:txBody>
      </p:sp>
      <p:sp>
        <p:nvSpPr>
          <p:cNvPr id="12" name="sync"/>
          <p:cNvSpPr/>
          <p:nvPr/>
        </p:nvSpPr>
        <p:spPr>
          <a:xfrm>
            <a:off x="5623560" y="2606040"/>
            <a:ext cx="960120" cy="960120"/>
          </a:xfrm>
          <a:prstGeom prst="ellipse">
            <a:avLst/>
          </a:prstGeom>
          <a:solidFill>
            <a:srgbClr val="0B3B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即時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v2 新增：表單可選「線上表單」或「空白範本（PDF）」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同一張自主檢查表／抽查紀錄表，在後台設定填寫方式（二選一）；第一版功能完整保留</a:t>
            </a:r>
            <a:endParaRPr lang="en-US" sz="1400" dirty="0"/>
          </a:p>
        </p:txBody>
      </p:sp>
      <p:sp>
        <p:nvSpPr>
          <p:cNvPr id="4" name="cmp"/>
          <p:cNvSpPr/>
          <p:nvPr/>
        </p:nvSpPr>
        <p:spPr>
          <a:xfrm>
            <a:off x="457200" y="1371600"/>
            <a:ext cx="5486400" cy="3337560"/>
          </a:xfrm>
          <a:prstGeom prst="roundRect">
            <a:avLst>
              <a:gd name="adj" fmla="val 2740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97D4"/>
                </a:solidFill>
              </a:rPr>
              <a:t>線上表單（第一版）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平板上逐項判定 ○ ╳ 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數值輸入自動建議判定、必拍照檢核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支援檢驗停留點、會驗申請、項目鎖定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兩位人員在平板手寫簽認，產生內容雜湊後鎖定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適用：已結構化、要逐項追蹤的表單</a:t>
            </a:r>
            <a:endParaRPr lang="en-US" sz="1400" dirty="0"/>
          </a:p>
        </p:txBody>
      </p:sp>
      <p:sp>
        <p:nvSpPr>
          <p:cNvPr id="7" name="cmp"/>
          <p:cNvSpPr/>
          <p:nvPr/>
        </p:nvSpPr>
        <p:spPr>
          <a:xfrm>
            <a:off x="6172200" y="1371600"/>
            <a:ext cx="5486400" cy="3337560"/>
          </a:xfrm>
          <a:prstGeom prst="roundRect">
            <a:avLst>
              <a:gd name="adj" fmla="val 274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</a:rPr>
              <a:t>空白範本 PDF（v2 新增）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5740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後台上傳空白 PDF 範本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現場「下載並鎖定」→ 離線填寫並簽名 → 上傳 PDF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同一時間只有鎖定人能上傳，避免多人改到同一份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自然人憑證／行動自然人憑證（TW FidO）加簽結案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每一版成果檔與辦理軌跡都可下載追溯；無逐項判定與停留點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PDF 流程四步驟（與第一版紙本作業習慣一致）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5720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1．下載鎖定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2944368" y="5715000"/>
            <a:ext cx="37490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4" name="box"/>
          <p:cNvSpPr/>
          <p:nvPr/>
        </p:nvSpPr>
        <p:spPr>
          <a:xfrm>
            <a:off x="333756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413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2．上傳續填</a:t>
            </a:r>
            <a:endParaRPr lang="en-US" sz="1600" dirty="0"/>
          </a:p>
        </p:txBody>
      </p:sp>
      <p:sp>
        <p:nvSpPr>
          <p:cNvPr id="16" name="arrow"/>
          <p:cNvSpPr/>
          <p:nvPr/>
        </p:nvSpPr>
        <p:spPr>
          <a:xfrm>
            <a:off x="5824728" y="5715000"/>
            <a:ext cx="37490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7" name="box"/>
          <p:cNvSpPr/>
          <p:nvPr/>
        </p:nvSpPr>
        <p:spPr>
          <a:xfrm>
            <a:off x="621792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</a:rPr>
              <a:t>3．現地手寫簽名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8705088" y="5715000"/>
            <a:ext cx="37490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0" name="box"/>
          <p:cNvSpPr/>
          <p:nvPr/>
        </p:nvSpPr>
        <p:spPr>
          <a:xfrm>
            <a:off x="9098280" y="534924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0B3B5C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34856" y="534924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4．憑證加簽結案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02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角色與權限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廠商 2 種、捷運局 3 種、另有逾時通知對象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系統角色與職責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現場作業可在「我的」切換三種身分示範：廠商品管人員／捷運局工務所同仁／捷運局工務所主任</a:t>
            </a:r>
            <a:endParaRPr lang="en-US" sz="1400" dirty="0"/>
          </a:p>
        </p:txBody>
      </p:sp>
      <p:sp>
        <p:nvSpPr>
          <p:cNvPr id="4" name="role-card"/>
          <p:cNvSpPr/>
          <p:nvPr/>
        </p:nvSpPr>
        <p:spPr>
          <a:xfrm>
            <a:off x="457200" y="13258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role-ic"/>
          <p:cNvSpPr/>
          <p:nvPr/>
        </p:nvSpPr>
        <p:spPr>
          <a:xfrm>
            <a:off x="658368" y="152704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90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系統管理員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第二區工程處</a:t>
            </a:r>
            <a:endParaRPr lang="en-US" sz="1700" dirty="0"/>
          </a:p>
        </p:txBody>
      </p:sp>
      <p:sp>
        <p:nvSpPr>
          <p:cNvPr id="8" name="role-tag"/>
          <p:cNvSpPr/>
          <p:nvPr/>
        </p:nvSpPr>
        <p:spPr>
          <a:xfrm>
            <a:off x="4892040" y="154533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45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後台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89280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維護標案與分項工程、表單範本（線上／PDF）、範本匯入、參考文件、帳號與參數；監看查驗總覽。</a:t>
            </a:r>
            <a:endParaRPr lang="en-US" sz="1200" dirty="0"/>
          </a:p>
        </p:txBody>
      </p:sp>
      <p:sp>
        <p:nvSpPr>
          <p:cNvPr id="11" name="role-card"/>
          <p:cNvSpPr/>
          <p:nvPr/>
        </p:nvSpPr>
        <p:spPr>
          <a:xfrm>
            <a:off x="6172200" y="13258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role-ic"/>
          <p:cNvSpPr/>
          <p:nvPr/>
        </p:nvSpPr>
        <p:spPr>
          <a:xfrm>
            <a:off x="6373368" y="1527048"/>
            <a:ext cx="566928" cy="566928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廠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490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廠商品管人員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施工廠商（現場工程師）</a:t>
            </a:r>
            <a:endParaRPr lang="en-US" sz="1700" dirty="0"/>
          </a:p>
        </p:txBody>
      </p:sp>
      <p:sp>
        <p:nvSpPr>
          <p:cNvPr id="15" name="role-tag"/>
          <p:cNvSpPr/>
          <p:nvPr/>
        </p:nvSpPr>
        <p:spPr>
          <a:xfrm>
            <a:off x="10607040" y="154533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07040" y="15453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89280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建立與填寫自主檢查表、拍照、申請停留點會驗、第一位簽認；PDF 表單下載鎖定、上傳簽名、憑證加簽結案；抽查 PDF 上傳廠商簽名；回報缺失改善。</a:t>
            </a:r>
            <a:endParaRPr lang="en-US" sz="1200" dirty="0"/>
          </a:p>
        </p:txBody>
      </p:sp>
      <p:sp>
        <p:nvSpPr>
          <p:cNvPr id="18" name="role-card"/>
          <p:cNvSpPr/>
          <p:nvPr/>
        </p:nvSpPr>
        <p:spPr>
          <a:xfrm>
            <a:off x="457200" y="30175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role-ic"/>
          <p:cNvSpPr/>
          <p:nvPr/>
        </p:nvSpPr>
        <p:spPr>
          <a:xfrm>
            <a:off x="658368" y="3218688"/>
            <a:ext cx="566928" cy="566928"/>
          </a:xfrm>
          <a:prstGeom prst="ellipse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工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182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工地授權代表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施工廠商（工地主任）</a:t>
            </a:r>
            <a:endParaRPr lang="en-US" sz="1700" dirty="0"/>
          </a:p>
        </p:txBody>
      </p:sp>
      <p:sp>
        <p:nvSpPr>
          <p:cNvPr id="22" name="role-tag"/>
          <p:cNvSpPr/>
          <p:nvPr/>
        </p:nvSpPr>
        <p:spPr>
          <a:xfrm>
            <a:off x="4892040" y="323697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2369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58444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自主檢查表第二位簽認（工地授權代表或其授權主管），簽完表單即鎖定。</a:t>
            </a:r>
            <a:endParaRPr lang="en-US" sz="1200" dirty="0"/>
          </a:p>
        </p:txBody>
      </p:sp>
      <p:sp>
        <p:nvSpPr>
          <p:cNvPr id="25" name="role-card"/>
          <p:cNvSpPr/>
          <p:nvPr/>
        </p:nvSpPr>
        <p:spPr>
          <a:xfrm>
            <a:off x="6172200" y="30175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role-ic"/>
          <p:cNvSpPr/>
          <p:nvPr/>
        </p:nvSpPr>
        <p:spPr>
          <a:xfrm>
            <a:off x="6373368" y="3218688"/>
            <a:ext cx="566928" cy="5669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捷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182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捷運局工務所同仁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監造／抽查人員</a:t>
            </a:r>
            <a:endParaRPr lang="en-US" sz="1700" dirty="0"/>
          </a:p>
        </p:txBody>
      </p:sp>
      <p:sp>
        <p:nvSpPr>
          <p:cNvPr id="29" name="role-tag"/>
          <p:cNvSpPr/>
          <p:nvPr/>
        </p:nvSpPr>
        <p:spPr>
          <a:xfrm>
            <a:off x="10607040" y="323697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607040" y="32369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現場＋後台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358444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回覆會驗申請（排定、改期、退回）、到場會驗、隨機抽查、判定並簽認；PDF 抽查表上傳簽名並選擇下一關；缺失複查結案。自主檢查表僅能檢視。</a:t>
            </a:r>
            <a:endParaRPr lang="en-US" sz="1200" dirty="0"/>
          </a:p>
        </p:txBody>
      </p:sp>
      <p:sp>
        <p:nvSpPr>
          <p:cNvPr id="32" name="role-card"/>
          <p:cNvSpPr/>
          <p:nvPr/>
        </p:nvSpPr>
        <p:spPr>
          <a:xfrm>
            <a:off x="457200" y="47091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role-ic"/>
          <p:cNvSpPr/>
          <p:nvPr/>
        </p:nvSpPr>
        <p:spPr>
          <a:xfrm>
            <a:off x="658368" y="4910328"/>
            <a:ext cx="566928" cy="5669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捷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371600" y="4873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捷運局工務所主任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工務所主管</a:t>
            </a:r>
            <a:endParaRPr lang="en-US" sz="1700" dirty="0"/>
          </a:p>
        </p:txBody>
      </p:sp>
      <p:sp>
        <p:nvSpPr>
          <p:cNvPr id="36" name="role-tag"/>
          <p:cNvSpPr/>
          <p:nvPr/>
        </p:nvSpPr>
        <p:spPr>
          <a:xfrm>
            <a:off x="4892040" y="492861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92040" y="49286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現場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27608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PDF 抽查紀錄表的最後一關：以自然人憑證或行動自然人憑證加簽結案。</a:t>
            </a:r>
            <a:endParaRPr lang="en-US" sz="1200" dirty="0"/>
          </a:p>
        </p:txBody>
      </p:sp>
      <p:sp>
        <p:nvSpPr>
          <p:cNvPr id="39" name="role-card"/>
          <p:cNvSpPr/>
          <p:nvPr/>
        </p:nvSpPr>
        <p:spPr>
          <a:xfrm>
            <a:off x="6172200" y="47091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0" name="role-ic"/>
          <p:cNvSpPr/>
          <p:nvPr/>
        </p:nvSpPr>
        <p:spPr>
          <a:xfrm>
            <a:off x="6373368" y="4910328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73368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第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4873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第二區工程處主管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　主任工程司（通知對象）</a:t>
            </a:r>
            <a:endParaRPr lang="en-US" sz="1700" dirty="0"/>
          </a:p>
        </p:txBody>
      </p:sp>
      <p:sp>
        <p:nvSpPr>
          <p:cNvPr id="43" name="role-tag"/>
          <p:cNvSpPr/>
          <p:nvPr/>
        </p:nvSpPr>
        <p:spPr>
          <a:xfrm>
            <a:off x="10607040" y="4928616"/>
            <a:ext cx="868680" cy="292608"/>
          </a:xfrm>
          <a:prstGeom prst="roundRect">
            <a:avLst>
              <a:gd name="adj" fmla="val 4687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07040" y="49286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7D4"/>
                </a:solidFill>
              </a:rPr>
              <a:t>Email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086600" y="5276088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工務所逾 8 小時未回覆會驗申請時，系統寄出逾時提醒並往上通知主管。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角色 × 功能權限一覽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● 可操作　○ 僅檢視　— 不適用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9284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系統管理員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工地授權代表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工務所同仁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工務所主任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標案／分項工程、表單範本、範本匯入、帳號參數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新增並填寫自主檢查表（線上）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自主檢查表手寫簽認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第 1 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第 2 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申請停留點會驗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回覆會驗（排定／改期／退回）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●（後台）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會驗抽查、隨機抽查、抽查判定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抽查紀錄手寫簽認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隨同人員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 抽查人員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自主檢查 PDF：下載鎖定／上傳簽名／憑證加簽結案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 PDF：下載鎖定／上傳簽名／選下一關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 PDF：上傳廠商簽名版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抽查 PDF：主任加簽結案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缺失：回報改善完成／複查合格結案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●（後台）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回報改善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複查結案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複查結案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03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業務流程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先看全貌，再分別說明自主檢查、會驗、抽查、缺失與 PDF 流程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全流程總覽（泳道圖）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以「連續壁單元 P12」為例：從後台建範本，到現場自主檢查、會驗放行、簽認鎖定</a:t>
            </a:r>
            <a:endParaRPr lang="en-US" sz="1400" dirty="0"/>
          </a:p>
        </p:txBody>
      </p:sp>
      <p:sp>
        <p:nvSpPr>
          <p:cNvPr id="4" name="lane"/>
          <p:cNvSpPr/>
          <p:nvPr/>
        </p:nvSpPr>
        <p:spPr>
          <a:xfrm>
            <a:off x="411480" y="1280160"/>
            <a:ext cx="11384280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lane-label"/>
          <p:cNvSpPr/>
          <p:nvPr/>
        </p:nvSpPr>
        <p:spPr>
          <a:xfrm>
            <a:off x="411480" y="1280160"/>
            <a:ext cx="1234440" cy="1216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80160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系統管理員</a:t>
            </a:r>
            <a:endParaRPr lang="en-US" sz="1300" dirty="0"/>
          </a:p>
        </p:txBody>
      </p:sp>
      <p:sp>
        <p:nvSpPr>
          <p:cNvPr id="7" name="lane"/>
          <p:cNvSpPr/>
          <p:nvPr/>
        </p:nvSpPr>
        <p:spPr>
          <a:xfrm>
            <a:off x="411480" y="2496312"/>
            <a:ext cx="1138428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lane-label"/>
          <p:cNvSpPr/>
          <p:nvPr/>
        </p:nvSpPr>
        <p:spPr>
          <a:xfrm>
            <a:off x="411480" y="2496312"/>
            <a:ext cx="1234440" cy="1216152"/>
          </a:xfrm>
          <a:prstGeom prst="rect">
            <a:avLst/>
          </a:prstGeom>
          <a:solidFill>
            <a:srgbClr val="1497D4"/>
          </a:solidFill>
          <a:ln w="12700">
            <a:solidFill>
              <a:srgbClr val="1497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2496312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廠商</a:t>
            </a:r>
            <a:endParaRPr lang="en-US" sz="1300" dirty="0"/>
          </a:p>
        </p:txBody>
      </p:sp>
      <p:sp>
        <p:nvSpPr>
          <p:cNvPr id="10" name="lane"/>
          <p:cNvSpPr/>
          <p:nvPr/>
        </p:nvSpPr>
        <p:spPr>
          <a:xfrm>
            <a:off x="411480" y="3712464"/>
            <a:ext cx="11384280" cy="12161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lane-label"/>
          <p:cNvSpPr/>
          <p:nvPr/>
        </p:nvSpPr>
        <p:spPr>
          <a:xfrm>
            <a:off x="411480" y="3712464"/>
            <a:ext cx="1234440" cy="1216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712464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工務所同仁</a:t>
            </a:r>
            <a:endParaRPr lang="en-US" sz="1300" dirty="0"/>
          </a:p>
        </p:txBody>
      </p:sp>
      <p:sp>
        <p:nvSpPr>
          <p:cNvPr id="13" name="lane"/>
          <p:cNvSpPr/>
          <p:nvPr/>
        </p:nvSpPr>
        <p:spPr>
          <a:xfrm>
            <a:off x="411480" y="4928616"/>
            <a:ext cx="1138428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lane-label"/>
          <p:cNvSpPr/>
          <p:nvPr/>
        </p:nvSpPr>
        <p:spPr>
          <a:xfrm>
            <a:off x="411480" y="4928616"/>
            <a:ext cx="1234440" cy="1216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4928616"/>
            <a:ext cx="12344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工務所主任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／主管</a:t>
            </a:r>
            <a:endParaRPr lang="en-US" sz="1300" dirty="0"/>
          </a:p>
        </p:txBody>
      </p:sp>
      <p:sp>
        <p:nvSpPr>
          <p:cNvPr id="16" name="box"/>
          <p:cNvSpPr/>
          <p:nvPr/>
        </p:nvSpPr>
        <p:spPr>
          <a:xfrm>
            <a:off x="1755648" y="1522476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92224" y="1522476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①建立標案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分項工程</a:t>
            </a:r>
            <a:endParaRPr lang="en-US" sz="1000" dirty="0"/>
          </a:p>
        </p:txBody>
      </p:sp>
      <p:sp>
        <p:nvSpPr>
          <p:cNvPr id="18" name="box"/>
          <p:cNvSpPr/>
          <p:nvPr/>
        </p:nvSpPr>
        <p:spPr>
          <a:xfrm>
            <a:off x="2756916" y="1522476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93492" y="1522476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②建立範本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線上／PDF</a:t>
            </a:r>
            <a:endParaRPr lang="en-US" sz="1000" dirty="0"/>
          </a:p>
        </p:txBody>
      </p:sp>
      <p:sp>
        <p:nvSpPr>
          <p:cNvPr id="20" name="box"/>
          <p:cNvSpPr/>
          <p:nvPr/>
        </p:nvSpPr>
        <p:spPr>
          <a:xfrm>
            <a:off x="3758184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94760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③新增自檢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掃單元 QR</a:t>
            </a:r>
            <a:endParaRPr lang="en-US" sz="1000" dirty="0"/>
          </a:p>
        </p:txBody>
      </p:sp>
      <p:sp>
        <p:nvSpPr>
          <p:cNvPr id="22" name="box"/>
          <p:cNvSpPr/>
          <p:nvPr/>
        </p:nvSpPr>
        <p:spPr>
          <a:xfrm>
            <a:off x="4759452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96028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④逐項檢查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量測・拍照</a:t>
            </a:r>
            <a:endParaRPr lang="en-US" sz="1000" dirty="0"/>
          </a:p>
        </p:txBody>
      </p:sp>
      <p:sp>
        <p:nvSpPr>
          <p:cNvPr id="24" name="box"/>
          <p:cNvSpPr/>
          <p:nvPr/>
        </p:nvSpPr>
        <p:spPr>
          <a:xfrm>
            <a:off x="5760720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97296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⑤停留點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申請會驗</a:t>
            </a:r>
            <a:endParaRPr lang="en-US" sz="1000" dirty="0"/>
          </a:p>
        </p:txBody>
      </p:sp>
      <p:sp>
        <p:nvSpPr>
          <p:cNvPr id="26" name="box"/>
          <p:cNvSpPr/>
          <p:nvPr/>
        </p:nvSpPr>
        <p:spPr>
          <a:xfrm>
            <a:off x="6761988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98564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⑥8 小時內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排定／退回</a:t>
            </a:r>
            <a:endParaRPr lang="en-US" sz="1000" dirty="0"/>
          </a:p>
        </p:txBody>
      </p:sp>
      <p:sp>
        <p:nvSpPr>
          <p:cNvPr id="28" name="box"/>
          <p:cNvSpPr/>
          <p:nvPr/>
        </p:nvSpPr>
        <p:spPr>
          <a:xfrm>
            <a:off x="7763256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99832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⑦到場會驗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抽查・簽認</a:t>
            </a:r>
            <a:endParaRPr lang="en-US" sz="1000" dirty="0"/>
          </a:p>
        </p:txBody>
      </p:sp>
      <p:sp>
        <p:nvSpPr>
          <p:cNvPr id="30" name="box"/>
          <p:cNvSpPr/>
          <p:nvPr/>
        </p:nvSpPr>
        <p:spPr>
          <a:xfrm>
            <a:off x="8764524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01100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⑧放行後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續填後續項目</a:t>
            </a:r>
            <a:endParaRPr lang="en-US" sz="1000" dirty="0"/>
          </a:p>
        </p:txBody>
      </p:sp>
      <p:sp>
        <p:nvSpPr>
          <p:cNvPr id="32" name="box"/>
          <p:cNvSpPr/>
          <p:nvPr/>
        </p:nvSpPr>
        <p:spPr>
          <a:xfrm>
            <a:off x="9765792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02368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⑨兩人簽認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鎖定</a:t>
            </a:r>
            <a:endParaRPr lang="en-US" sz="1000" dirty="0"/>
          </a:p>
        </p:txBody>
      </p:sp>
      <p:sp>
        <p:nvSpPr>
          <p:cNvPr id="34" name="box"/>
          <p:cNvSpPr/>
          <p:nvPr/>
        </p:nvSpPr>
        <p:spPr>
          <a:xfrm>
            <a:off x="10767060" y="2738628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803636" y="2738628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⑪改善缺失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回報完成</a:t>
            </a:r>
            <a:endParaRPr lang="en-US" sz="1000" dirty="0"/>
          </a:p>
        </p:txBody>
      </p:sp>
      <p:sp>
        <p:nvSpPr>
          <p:cNvPr id="36" name="box"/>
          <p:cNvSpPr/>
          <p:nvPr/>
        </p:nvSpPr>
        <p:spPr>
          <a:xfrm>
            <a:off x="10767060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803636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⑫複查合格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3B5C"/>
                </a:solidFill>
              </a:rPr>
              <a:t>結案</a:t>
            </a:r>
            <a:endParaRPr lang="en-US" sz="1000" dirty="0"/>
          </a:p>
        </p:txBody>
      </p:sp>
      <p:sp>
        <p:nvSpPr>
          <p:cNvPr id="38" name="box"/>
          <p:cNvSpPr/>
          <p:nvPr/>
        </p:nvSpPr>
        <p:spPr>
          <a:xfrm>
            <a:off x="8764524" y="395478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01100" y="3954780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⑩有缺失→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</a:rPr>
              <a:t>自動建缺失</a:t>
            </a:r>
            <a:endParaRPr lang="en-US" sz="1000" dirty="0"/>
          </a:p>
        </p:txBody>
      </p:sp>
      <p:sp>
        <p:nvSpPr>
          <p:cNvPr id="40" name="box"/>
          <p:cNvSpPr/>
          <p:nvPr/>
        </p:nvSpPr>
        <p:spPr>
          <a:xfrm>
            <a:off x="6761988" y="5170932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6798564" y="5170932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逾時未回覆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通知主管</a:t>
            </a:r>
            <a:endParaRPr lang="en-US" sz="1000" dirty="0"/>
          </a:p>
        </p:txBody>
      </p:sp>
      <p:sp>
        <p:nvSpPr>
          <p:cNvPr id="42" name="box"/>
          <p:cNvSpPr/>
          <p:nvPr/>
        </p:nvSpPr>
        <p:spPr>
          <a:xfrm>
            <a:off x="8764524" y="5170932"/>
            <a:ext cx="9144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01100" y="5170932"/>
            <a:ext cx="84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PDF 抽查表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主任憑證加簽</a:t>
            </a:r>
            <a:endParaRPr lang="en-US" sz="1000" dirty="0"/>
          </a:p>
        </p:txBody>
      </p:sp>
      <p:sp>
        <p:nvSpPr>
          <p:cNvPr id="44" name="arrow"/>
          <p:cNvSpPr/>
          <p:nvPr/>
        </p:nvSpPr>
        <p:spPr>
          <a:xfrm>
            <a:off x="2670048" y="1888236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arrow"/>
          <p:cNvSpPr/>
          <p:nvPr/>
        </p:nvSpPr>
        <p:spPr>
          <a:xfrm>
            <a:off x="3214116" y="2253996"/>
            <a:ext cx="1001268" cy="4846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6" name="arrow"/>
          <p:cNvSpPr/>
          <p:nvPr/>
        </p:nvSpPr>
        <p:spPr>
          <a:xfrm>
            <a:off x="4672584" y="3104388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7" name="arrow"/>
          <p:cNvSpPr/>
          <p:nvPr/>
        </p:nvSpPr>
        <p:spPr>
          <a:xfrm>
            <a:off x="5673852" y="3104388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8" name="arrow"/>
          <p:cNvSpPr/>
          <p:nvPr/>
        </p:nvSpPr>
        <p:spPr>
          <a:xfrm>
            <a:off x="6217920" y="3470148"/>
            <a:ext cx="1001268" cy="4846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arrow"/>
          <p:cNvSpPr/>
          <p:nvPr/>
        </p:nvSpPr>
        <p:spPr>
          <a:xfrm>
            <a:off x="7676388" y="4320540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0" name="arrow"/>
          <p:cNvSpPr/>
          <p:nvPr/>
        </p:nvSpPr>
        <p:spPr>
          <a:xfrm flipV="1">
            <a:off x="8220456" y="3470148"/>
            <a:ext cx="1001268" cy="484632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51" name="arrow"/>
          <p:cNvSpPr/>
          <p:nvPr/>
        </p:nvSpPr>
        <p:spPr>
          <a:xfrm>
            <a:off x="9678924" y="3104388"/>
            <a:ext cx="86868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2" name="arrow"/>
          <p:cNvSpPr/>
          <p:nvPr/>
        </p:nvSpPr>
        <p:spPr>
          <a:xfrm>
            <a:off x="8677656" y="4320540"/>
            <a:ext cx="86868" cy="914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53" name="arrow"/>
          <p:cNvSpPr/>
          <p:nvPr/>
        </p:nvSpPr>
        <p:spPr>
          <a:xfrm flipV="1">
            <a:off x="9678924" y="3424428"/>
            <a:ext cx="1088136" cy="64008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54" name="arrow"/>
          <p:cNvSpPr/>
          <p:nvPr/>
        </p:nvSpPr>
        <p:spPr>
          <a:xfrm>
            <a:off x="11224260" y="3470148"/>
            <a:ext cx="914" cy="484632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55" name="arrow"/>
          <p:cNvSpPr/>
          <p:nvPr/>
        </p:nvSpPr>
        <p:spPr>
          <a:xfrm>
            <a:off x="7219188" y="4686300"/>
            <a:ext cx="914" cy="484632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56" name="arrow"/>
          <p:cNvSpPr/>
          <p:nvPr/>
        </p:nvSpPr>
        <p:spPr>
          <a:xfrm>
            <a:off x="8220456" y="4686300"/>
            <a:ext cx="1001268" cy="484632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8037576" y="34884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合格放行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263640" y="35158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未放行→後續鎖定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A：自主檢查表（線上表單）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由廠商在平板逐項填寫；系統用規則把關，避免跳項、漏拍、未放行先施作</a:t>
            </a:r>
            <a:endParaRPr lang="en-US" sz="1400" dirty="0"/>
          </a:p>
        </p:txBody>
      </p:sp>
      <p:sp>
        <p:nvSpPr>
          <p:cNvPr id="4" name="chain"/>
          <p:cNvSpPr/>
          <p:nvPr/>
        </p:nvSpPr>
        <p:spPr>
          <a:xfrm>
            <a:off x="457200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新增自主檢查</a:t>
            </a:r>
            <a:endParaRPr lang="en-US" sz="1050" dirty="0"/>
          </a:p>
        </p:txBody>
      </p:sp>
      <p:sp>
        <p:nvSpPr>
          <p:cNvPr id="6" name="arrow"/>
          <p:cNvSpPr/>
          <p:nvPr/>
        </p:nvSpPr>
        <p:spPr>
          <a:xfrm>
            <a:off x="2529230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75488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選標案 → 工項 → 表單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輸入或掃描單元 QR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開工前確認：掃描確認位置、施工圖核准文號、關聯表單（如表5-4、5-6）</a:t>
            </a:r>
            <a:endParaRPr lang="en-US" sz="1200" dirty="0"/>
          </a:p>
        </p:txBody>
      </p:sp>
      <p:sp>
        <p:nvSpPr>
          <p:cNvPr id="8" name="chain"/>
          <p:cNvSpPr/>
          <p:nvPr/>
        </p:nvSpPr>
        <p:spPr>
          <a:xfrm>
            <a:off x="2766974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0126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分階段逐項檢查</a:t>
            </a:r>
            <a:endParaRPr lang="en-US" sz="1050" dirty="0"/>
          </a:p>
        </p:txBody>
      </p:sp>
      <p:sp>
        <p:nvSpPr>
          <p:cNvPr id="10" name="arrow"/>
          <p:cNvSpPr/>
          <p:nvPr/>
        </p:nvSpPr>
        <p:spPr>
          <a:xfrm>
            <a:off x="4839005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85262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施工前 → 施工中 → 施工後，前一階段完成才開放下一階段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數值欄位自動比對容許範圍，建議 ○ 或 ╳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必拍照項目未拍照不能判 ○</a:t>
            </a:r>
            <a:endParaRPr lang="en-US" sz="1200" dirty="0"/>
          </a:p>
        </p:txBody>
      </p:sp>
      <p:sp>
        <p:nvSpPr>
          <p:cNvPr id="12" name="chain"/>
          <p:cNvSpPr/>
          <p:nvPr/>
        </p:nvSpPr>
        <p:spPr>
          <a:xfrm>
            <a:off x="5076749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9901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遇 ★ 停留點</a:t>
            </a:r>
            <a:endParaRPr lang="en-US" sz="1050" dirty="0"/>
          </a:p>
        </p:txBody>
      </p:sp>
      <p:sp>
        <p:nvSpPr>
          <p:cNvPr id="14" name="arrow"/>
          <p:cNvSpPr/>
          <p:nvPr/>
        </p:nvSpPr>
        <p:spPr>
          <a:xfrm>
            <a:off x="7148779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95037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判 ○ 後按「申請會驗」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會驗未放行前，後面項目全部鎖定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已申請的項目判定不可更改</a:t>
            </a:r>
            <a:endParaRPr lang="en-US" sz="1200" dirty="0"/>
          </a:p>
        </p:txBody>
      </p:sp>
      <p:sp>
        <p:nvSpPr>
          <p:cNvPr id="16" name="chain"/>
          <p:cNvSpPr/>
          <p:nvPr/>
        </p:nvSpPr>
        <p:spPr>
          <a:xfrm>
            <a:off x="7386523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9675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廠商品管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送出前總覽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>
            <a:off x="9458554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404811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統計 ○／╳／╱ 數量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列出各停留點放行狀態與自動附件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有缺失項目須先選「缺失複查結果」</a:t>
            </a:r>
            <a:endParaRPr lang="en-US" sz="1200" dirty="0"/>
          </a:p>
        </p:txBody>
      </p:sp>
      <p:sp>
        <p:nvSpPr>
          <p:cNvPr id="20" name="chain"/>
          <p:cNvSpPr/>
          <p:nvPr/>
        </p:nvSpPr>
        <p:spPr>
          <a:xfrm>
            <a:off x="9696298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9450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品管＋工地主任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兩人手寫簽認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714586" y="2441448"/>
            <a:ext cx="20354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現場工程師（檢查人員）先簽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工地授權代表或其授權主管再簽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產生內容雜湊並鎖定；判 ╳ 的項目自動建立缺失追蹤</a:t>
            </a:r>
            <a:endParaRPr lang="en-US" sz="1200" dirty="0"/>
          </a:p>
        </p:txBody>
      </p:sp>
      <p:sp>
        <p:nvSpPr>
          <p:cNvPr id="23" name="rule"/>
          <p:cNvSpPr/>
          <p:nvPr/>
        </p:nvSpPr>
        <p:spPr>
          <a:xfrm>
            <a:off x="457200" y="5120640"/>
            <a:ext cx="11292840" cy="1097280"/>
          </a:xfrm>
          <a:prstGeom prst="roundRect">
            <a:avLst>
              <a:gd name="adj" fmla="val 666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1206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項目鎖定的兩個原因（系統自動判斷）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1．前一階段（施工前／中）尚未全部判定 → 顯示「請先完成施工前項目」　　2．前面有停留點尚未放行 → 顯示「待 ☆鋼筋籠吊放高程… 監造放行」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B：停留點會驗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廠商申請 → Email 通知 → 工務所回覆 → 到場會驗 → 放行或不合格；時限由後台參數控制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申請單狀態</a:t>
            </a:r>
            <a:endParaRPr lang="en-US" sz="1500" dirty="0"/>
          </a:p>
        </p:txBody>
      </p:sp>
      <p:sp>
        <p:nvSpPr>
          <p:cNvPr id="5" name="box"/>
          <p:cNvSpPr/>
          <p:nvPr/>
        </p:nvSpPr>
        <p:spPr>
          <a:xfrm>
            <a:off x="914400" y="18288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8288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待回覆</a:t>
            </a:r>
            <a:endParaRPr lang="en-US" sz="1600" dirty="0"/>
          </a:p>
        </p:txBody>
      </p:sp>
      <p:sp>
        <p:nvSpPr>
          <p:cNvPr id="7" name="box"/>
          <p:cNvSpPr/>
          <p:nvPr/>
        </p:nvSpPr>
        <p:spPr>
          <a:xfrm>
            <a:off x="3383280" y="18288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18288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已排定</a:t>
            </a:r>
            <a:endParaRPr lang="en-US" sz="1600" dirty="0"/>
          </a:p>
        </p:txBody>
      </p:sp>
      <p:sp>
        <p:nvSpPr>
          <p:cNvPr id="9" name="box"/>
          <p:cNvSpPr/>
          <p:nvPr/>
        </p:nvSpPr>
        <p:spPr>
          <a:xfrm>
            <a:off x="5852160" y="18288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88736" y="182880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檢驗中</a:t>
            </a:r>
            <a:endParaRPr lang="en-US" sz="1600" dirty="0"/>
          </a:p>
        </p:txBody>
      </p:sp>
      <p:sp>
        <p:nvSpPr>
          <p:cNvPr id="11" name="box"/>
          <p:cNvSpPr/>
          <p:nvPr/>
        </p:nvSpPr>
        <p:spPr>
          <a:xfrm>
            <a:off x="8503920" y="13258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0496" y="13258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合格放行</a:t>
            </a:r>
            <a:endParaRPr lang="en-US" sz="1600" dirty="0"/>
          </a:p>
        </p:txBody>
      </p:sp>
      <p:sp>
        <p:nvSpPr>
          <p:cNvPr id="13" name="box"/>
          <p:cNvSpPr/>
          <p:nvPr/>
        </p:nvSpPr>
        <p:spPr>
          <a:xfrm>
            <a:off x="8503920" y="242316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0496" y="24231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不合格</a:t>
            </a:r>
            <a:endParaRPr lang="en-US" sz="1600" dirty="0"/>
          </a:p>
        </p:txBody>
      </p:sp>
      <p:sp>
        <p:nvSpPr>
          <p:cNvPr id="15" name="box"/>
          <p:cNvSpPr/>
          <p:nvPr/>
        </p:nvSpPr>
        <p:spPr>
          <a:xfrm>
            <a:off x="3383280" y="31546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9856" y="31546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已退回</a:t>
            </a:r>
            <a:endParaRPr lang="en-US" sz="1600" dirty="0"/>
          </a:p>
        </p:txBody>
      </p:sp>
      <p:sp>
        <p:nvSpPr>
          <p:cNvPr id="17" name="arrow"/>
          <p:cNvSpPr/>
          <p:nvPr/>
        </p:nvSpPr>
        <p:spPr>
          <a:xfrm>
            <a:off x="2743200" y="2148840"/>
            <a:ext cx="64008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697480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排定</a:t>
            </a:r>
            <a:endParaRPr lang="en-US" sz="1050" dirty="0"/>
          </a:p>
        </p:txBody>
      </p:sp>
      <p:sp>
        <p:nvSpPr>
          <p:cNvPr id="19" name="arrow"/>
          <p:cNvSpPr/>
          <p:nvPr/>
        </p:nvSpPr>
        <p:spPr>
          <a:xfrm>
            <a:off x="5212080" y="2148840"/>
            <a:ext cx="64008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12064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開始會驗</a:t>
            </a:r>
            <a:endParaRPr lang="en-US" sz="1050" dirty="0"/>
          </a:p>
        </p:txBody>
      </p:sp>
      <p:sp>
        <p:nvSpPr>
          <p:cNvPr id="21" name="arrow"/>
          <p:cNvSpPr/>
          <p:nvPr/>
        </p:nvSpPr>
        <p:spPr>
          <a:xfrm flipV="1">
            <a:off x="7680960" y="1645920"/>
            <a:ext cx="822960" cy="365760"/>
          </a:xfrm>
          <a:prstGeom prst="line">
            <a:avLst/>
          </a:prstGeom>
          <a:noFill/>
          <a:ln w="1905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7680960" y="2286000"/>
            <a:ext cx="822960" cy="45720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1828800" y="2468880"/>
            <a:ext cx="1554480" cy="10058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73736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退回（填原因）</a:t>
            </a:r>
            <a:endParaRPr lang="en-US" sz="1050" dirty="0"/>
          </a:p>
        </p:txBody>
      </p:sp>
      <p:sp>
        <p:nvSpPr>
          <p:cNvPr id="25" name="arrow"/>
          <p:cNvSpPr/>
          <p:nvPr/>
        </p:nvSpPr>
        <p:spPr>
          <a:xfrm flipH="1">
            <a:off x="4069080" y="1828800"/>
            <a:ext cx="457200" cy="914"/>
          </a:xfrm>
          <a:prstGeom prst="line">
            <a:avLst/>
          </a:prstGeom>
          <a:noFill/>
          <a:ln w="19050">
            <a:solidFill>
              <a:srgbClr val="1497D4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04241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後續項目解鎖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0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建立缺失追蹤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可重新申請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可改期（重新排定）</a:t>
            </a:r>
            <a:endParaRPr lang="en-US" sz="1050" dirty="0"/>
          </a:p>
        </p:txBody>
      </p:sp>
      <p:sp>
        <p:nvSpPr>
          <p:cNvPr id="29" name="rule-card"/>
          <p:cNvSpPr/>
          <p:nvPr/>
        </p:nvSpPr>
        <p:spPr>
          <a:xfrm>
            <a:off x="45720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24 小時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提前申請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預定會驗時間距申請不足 24 小時，視為「短時間申請」，必須填寫原因，並在申請單上醒目標示。</a:t>
            </a:r>
            <a:endParaRPr lang="en-US" sz="1150" dirty="0"/>
          </a:p>
        </p:txBody>
      </p:sp>
      <p:sp>
        <p:nvSpPr>
          <p:cNvPr id="33" name="rule-card"/>
          <p:cNvSpPr/>
          <p:nvPr/>
        </p:nvSpPr>
        <p:spPr>
          <a:xfrm>
            <a:off x="329184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8 小時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347472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回覆時限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工務所需於 8 小時內排定或退回；畫面顯示「剩 X 小時／逾時 X 小時」倒數。</a:t>
            </a:r>
            <a:endParaRPr lang="en-US" sz="1150" dirty="0"/>
          </a:p>
        </p:txBody>
      </p:sp>
      <p:sp>
        <p:nvSpPr>
          <p:cNvPr id="37" name="rule-card"/>
          <p:cNvSpPr/>
          <p:nvPr/>
        </p:nvSpPr>
        <p:spPr>
          <a:xfrm>
            <a:off x="612648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逾時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自動升級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到期未回覆：寄出逾時提醒 Email，並往上通知主管（第二區工程處 主任工程司），只通知一次。</a:t>
            </a:r>
            <a:endParaRPr lang="en-US" sz="1150" dirty="0"/>
          </a:p>
        </p:txBody>
      </p:sp>
      <p:sp>
        <p:nvSpPr>
          <p:cNvPr id="41" name="rule-card"/>
          <p:cNvSpPr/>
          <p:nvPr/>
        </p:nvSpPr>
        <p:spPr>
          <a:xfrm>
            <a:off x="8961120" y="41605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0" y="42702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7D4"/>
                </a:solidFill>
              </a:rPr>
              <a:t>通知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9144000" y="47640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全程留痕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50749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申請、Email 寄送、排定、改期、退回、開始會驗、判定結果，都記在「通知歷程」。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C：品質抽查（會驗抽查＋隨機抽查）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抽查紀錄由捷運局工務所同仁填寫，與廠商自主檢查表項目對應，結果自動回寫</a:t>
            </a:r>
            <a:endParaRPr lang="en-US" sz="1400" dirty="0"/>
          </a:p>
        </p:txBody>
      </p:sp>
      <p:sp>
        <p:nvSpPr>
          <p:cNvPr id="4" name="chain"/>
          <p:cNvSpPr/>
          <p:nvPr/>
        </p:nvSpPr>
        <p:spPr>
          <a:xfrm>
            <a:off x="457200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工務所同仁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建立抽查紀錄</a:t>
            </a:r>
            <a:endParaRPr lang="en-US" sz="1050" dirty="0"/>
          </a:p>
        </p:txBody>
      </p:sp>
      <p:sp>
        <p:nvSpPr>
          <p:cNvPr id="6" name="arrow"/>
          <p:cNvSpPr/>
          <p:nvPr/>
        </p:nvSpPr>
        <p:spPr>
          <a:xfrm>
            <a:off x="2529230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75488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會驗：按「開始會驗」自動建立，並標示「本次會驗」項目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隨機抽查：「＋新增隨機抽查」選表單與單元</a:t>
            </a:r>
            <a:endParaRPr lang="en-US" sz="1200" dirty="0"/>
          </a:p>
        </p:txBody>
      </p:sp>
      <p:sp>
        <p:nvSpPr>
          <p:cNvPr id="8" name="chain"/>
          <p:cNvSpPr/>
          <p:nvPr/>
        </p:nvSpPr>
        <p:spPr>
          <a:xfrm>
            <a:off x="2766974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0126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工務所同仁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對照廠商自檢</a:t>
            </a:r>
            <a:endParaRPr lang="en-US" sz="1050" dirty="0"/>
          </a:p>
        </p:txBody>
      </p:sp>
      <p:sp>
        <p:nvSpPr>
          <p:cNvPr id="10" name="arrow"/>
          <p:cNvSpPr/>
          <p:nvPr/>
        </p:nvSpPr>
        <p:spPr>
          <a:xfrm>
            <a:off x="4839005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85262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同一畫面並列「廠商自檢值」與「抽查實測值」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可拍照、自動建議判定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判定：○ 合格放行／╳ 有缺失／╱ 無此項</a:t>
            </a:r>
            <a:endParaRPr lang="en-US" sz="1200" dirty="0"/>
          </a:p>
        </p:txBody>
      </p:sp>
      <p:sp>
        <p:nvSpPr>
          <p:cNvPr id="12" name="chain"/>
          <p:cNvSpPr/>
          <p:nvPr/>
        </p:nvSpPr>
        <p:spPr>
          <a:xfrm>
            <a:off x="5076749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9901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工務所同仁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結果總覽</a:t>
            </a:r>
            <a:endParaRPr lang="en-US" sz="1050" dirty="0"/>
          </a:p>
        </p:txBody>
      </p:sp>
      <p:sp>
        <p:nvSpPr>
          <p:cNvPr id="14" name="arrow"/>
          <p:cNvSpPr/>
          <p:nvPr/>
        </p:nvSpPr>
        <p:spPr>
          <a:xfrm>
            <a:off x="7148779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95037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未抽查項目自動填 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單元計價資料（厚度×長度×深度自動計算）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自動附件：廠商自主檢查表</a:t>
            </a:r>
            <a:endParaRPr lang="en-US" sz="1200" dirty="0"/>
          </a:p>
        </p:txBody>
      </p:sp>
      <p:sp>
        <p:nvSpPr>
          <p:cNvPr id="16" name="chain"/>
          <p:cNvSpPr/>
          <p:nvPr/>
        </p:nvSpPr>
        <p:spPr>
          <a:xfrm>
            <a:off x="7386523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9675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工務所＋廠商隨同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手寫簽認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>
            <a:off x="9458554" y="1851660"/>
            <a:ext cx="219456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404811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監造工務所（抽查人員）先簽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施工廠商隨同人員再簽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簽認後產生雜湊、鎖定</a:t>
            </a:r>
            <a:endParaRPr lang="en-US" sz="1200" dirty="0"/>
          </a:p>
        </p:txBody>
      </p:sp>
      <p:sp>
        <p:nvSpPr>
          <p:cNvPr id="20" name="chain"/>
          <p:cNvSpPr/>
          <p:nvPr/>
        </p:nvSpPr>
        <p:spPr>
          <a:xfrm>
            <a:off x="9696298" y="1417320"/>
            <a:ext cx="2053742" cy="868680"/>
          </a:xfrm>
          <a:prstGeom prst="roundRect">
            <a:avLst>
              <a:gd name="adj" fmla="val 8421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9450" y="1417320"/>
            <a:ext cx="19074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系統</a:t>
            </a:r>
            <a:endParaRPr lang="en-US" sz="105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自動回寫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714586" y="2441448"/>
            <a:ext cx="203545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會驗項目合格 → 申請單「合格放行」、自主檢查表後續解鎖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有缺失 → 「不合格」並建立缺失追蹤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D：缺失追蹤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不需另外登打：任何「缺失」判定在簽認／結案時自動建立，預設 7 天改善期限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457200" y="1463040"/>
            <a:ext cx="2834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" y="146304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自主檢查表判 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（簽認完成時）</a:t>
            </a:r>
            <a:endParaRPr lang="en-US" sz="1300" dirty="0"/>
          </a:p>
        </p:txBody>
      </p:sp>
      <p:sp>
        <p:nvSpPr>
          <p:cNvPr id="6" name="box"/>
          <p:cNvSpPr/>
          <p:nvPr/>
        </p:nvSpPr>
        <p:spPr>
          <a:xfrm>
            <a:off x="457200" y="2423160"/>
            <a:ext cx="2834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242316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抽查紀錄判「有缺失」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（簽認完成時）</a:t>
            </a:r>
            <a:endParaRPr lang="en-US" sz="1300" dirty="0"/>
          </a:p>
        </p:txBody>
      </p:sp>
      <p:sp>
        <p:nvSpPr>
          <p:cNvPr id="8" name="box"/>
          <p:cNvSpPr/>
          <p:nvPr/>
        </p:nvSpPr>
        <p:spPr>
          <a:xfrm>
            <a:off x="457200" y="3383280"/>
            <a:ext cx="2834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" y="3383280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PDF 抽查表選「有缺失」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（主任加簽結案時）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310128" y="1828800"/>
            <a:ext cx="621792" cy="96012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1" name="arrow"/>
          <p:cNvSpPr/>
          <p:nvPr/>
        </p:nvSpPr>
        <p:spPr>
          <a:xfrm>
            <a:off x="3310128" y="2788920"/>
            <a:ext cx="621792" cy="914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 flipV="1">
            <a:off x="3310128" y="2788920"/>
            <a:ext cx="621792" cy="96012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3" name="box"/>
          <p:cNvSpPr/>
          <p:nvPr/>
        </p:nvSpPr>
        <p:spPr>
          <a:xfrm>
            <a:off x="3977640" y="24231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B91C1C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14216" y="242316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待改善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期限 7 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逾期標示紅色</a:t>
            </a:r>
            <a:endParaRPr lang="en-US" sz="1200" dirty="0"/>
          </a:p>
        </p:txBody>
      </p:sp>
      <p:sp>
        <p:nvSpPr>
          <p:cNvPr id="16" name="box"/>
          <p:cNvSpPr/>
          <p:nvPr/>
        </p:nvSpPr>
        <p:spPr>
          <a:xfrm>
            <a:off x="6537960" y="24231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74536" y="242316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改善完成・待複查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廠商回報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「改善完成」</a:t>
            </a:r>
            <a:endParaRPr lang="en-US" sz="1200" dirty="0"/>
          </a:p>
        </p:txBody>
      </p:sp>
      <p:sp>
        <p:nvSpPr>
          <p:cNvPr id="19" name="box"/>
          <p:cNvSpPr/>
          <p:nvPr/>
        </p:nvSpPr>
        <p:spPr>
          <a:xfrm>
            <a:off x="9144000" y="24231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242316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已結案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工務所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「複查合格・結案」</a:t>
            </a:r>
            <a:endParaRPr lang="en-US" sz="1200" dirty="0"/>
          </a:p>
        </p:txBody>
      </p:sp>
      <p:sp>
        <p:nvSpPr>
          <p:cNvPr id="22" name="arrow"/>
          <p:cNvSpPr/>
          <p:nvPr/>
        </p:nvSpPr>
        <p:spPr>
          <a:xfrm>
            <a:off x="6190488" y="2788920"/>
            <a:ext cx="32918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8750808" y="2788920"/>
            <a:ext cx="374904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4" name="frame-def-mini"/>
          <p:cNvSpPr/>
          <p:nvPr/>
        </p:nvSpPr>
        <p:spPr>
          <a:xfrm>
            <a:off x="457200" y="4206240"/>
            <a:ext cx="32918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shot-def-mini" descr="img/a05_defe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3291840" cy="205740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4023360" y="4206240"/>
            <a:ext cx="7726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3B5C"/>
                </a:solidFill>
              </a:rPr>
              <a:t>後台與現場都看得到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後台「缺失追蹤」可依標別、狀態（未結案／已結案／全部）查詢，並顯示來源、改善期限與逾期天數。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現場「今日待辦 → 缺失複查」：廠商按「回報改善完成」、工務所按「複查合格・結案」。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查驗總覽顯示未結案缺失數與逾期件數，作為主管管考依據。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E：自主檢查表（空白範本 PDF）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廠商填寫；同一時間只有一人能「鎖定」，避免多人改到同一份檔案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64008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64748B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未開始</a:t>
            </a:r>
            <a:endParaRPr lang="en-US" sz="1800" dirty="0"/>
          </a:p>
        </p:txBody>
      </p:sp>
      <p:sp>
        <p:nvSpPr>
          <p:cNvPr id="6" name="box"/>
          <p:cNvSpPr/>
          <p:nvPr/>
        </p:nvSpPr>
        <p:spPr>
          <a:xfrm>
            <a:off x="324612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8269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鎖定中</a:t>
            </a:r>
            <a:endParaRPr lang="en-US" sz="1800" dirty="0"/>
          </a:p>
        </p:txBody>
      </p:sp>
      <p:sp>
        <p:nvSpPr>
          <p:cNvPr id="8" name="box"/>
          <p:cNvSpPr/>
          <p:nvPr/>
        </p:nvSpPr>
        <p:spPr>
          <a:xfrm>
            <a:off x="585216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8873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待流轉</a:t>
            </a:r>
            <a:endParaRPr lang="en-US" sz="1800" dirty="0"/>
          </a:p>
        </p:txBody>
      </p:sp>
      <p:sp>
        <p:nvSpPr>
          <p:cNvPr id="10" name="box"/>
          <p:cNvSpPr/>
          <p:nvPr/>
        </p:nvSpPr>
        <p:spPr>
          <a:xfrm>
            <a:off x="8458200" y="160020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94776" y="160020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已結案</a:t>
            </a:r>
            <a:endParaRPr lang="en-US" sz="1800" dirty="0"/>
          </a:p>
        </p:txBody>
      </p:sp>
      <p:sp>
        <p:nvSpPr>
          <p:cNvPr id="12" name="arrow"/>
          <p:cNvSpPr/>
          <p:nvPr/>
        </p:nvSpPr>
        <p:spPr>
          <a:xfrm>
            <a:off x="2743200" y="1984248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5349240" y="1984248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7955280" y="1984248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46888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5C"/>
                </a:solidFill>
              </a:rPr>
              <a:t>下載鎖定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5C"/>
                </a:solidFill>
              </a:rPr>
              <a:t>上傳並簽名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5C"/>
                </a:solidFill>
              </a:rPr>
              <a:t>憑證加簽</a:t>
            </a:r>
            <a:endParaRPr lang="en-US" sz="1200" dirty="0"/>
          </a:p>
        </p:txBody>
      </p:sp>
      <p:sp>
        <p:nvSpPr>
          <p:cNvPr id="18" name="arrow"/>
          <p:cNvSpPr/>
          <p:nvPr/>
        </p:nvSpPr>
        <p:spPr>
          <a:xfrm flipH="1">
            <a:off x="1691640" y="2395728"/>
            <a:ext cx="2606040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194560" y="2432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取消鎖定（V0）</a:t>
            </a:r>
            <a:endParaRPr lang="en-US" sz="1050" dirty="0"/>
          </a:p>
        </p:txBody>
      </p:sp>
      <p:sp>
        <p:nvSpPr>
          <p:cNvPr id="20" name="arrow"/>
          <p:cNvSpPr/>
          <p:nvPr/>
        </p:nvSpPr>
        <p:spPr>
          <a:xfrm flipH="1">
            <a:off x="4297680" y="2395728"/>
            <a:ext cx="2606040" cy="30175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7548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他人下載續填（再鎖定）</a:t>
            </a:r>
            <a:endParaRPr lang="en-US" sz="1050" dirty="0"/>
          </a:p>
        </p:txBody>
      </p:sp>
      <p:sp>
        <p:nvSpPr>
          <p:cNvPr id="22" name="arrow"/>
          <p:cNvSpPr/>
          <p:nvPr/>
        </p:nvSpPr>
        <p:spPr>
          <a:xfrm flipH="1">
            <a:off x="6903720" y="2395728"/>
            <a:ext cx="2606040" cy="62179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49808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解除結案（填原因）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11292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7269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操作者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系統行為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下載鎖定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廠商品管人員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下載空白範本（或最新版）並鎖定控制權；其他人只能檢視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離線填寫並簽名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廠商品管人員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在紙本或 PDF 工具填寫，現地手寫簽名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上傳並簽名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鎖定人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 PDF（10 MB 內）＋平板手寫簽名，版本 +1，狀態轉「待流轉」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憑證加簽結案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最後上傳人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選自然人憑證或行動自然人憑證（TW FidO），簽章後結案並產生雜湊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解除結案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最後上傳人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必須填寫原因；狀態回「待流轉」，軌跡保留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流程 F：抽查紀錄表（空白範本 PDF）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工務所同仁上傳時決定「下一關」，並選擇判定結果；結案時才決定是否放行、是否建立缺失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457200" y="237744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64748B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" y="23774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未開始</a:t>
            </a:r>
            <a:endParaRPr lang="en-US" sz="1500" dirty="0"/>
          </a:p>
        </p:txBody>
      </p:sp>
      <p:sp>
        <p:nvSpPr>
          <p:cNvPr id="6" name="box"/>
          <p:cNvSpPr/>
          <p:nvPr/>
        </p:nvSpPr>
        <p:spPr>
          <a:xfrm>
            <a:off x="2514600" y="237744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59E0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51176" y="237744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鎖定中</a:t>
            </a:r>
            <a:endParaRPr lang="en-US" sz="1500" dirty="0"/>
          </a:p>
        </p:txBody>
      </p:sp>
      <p:sp>
        <p:nvSpPr>
          <p:cNvPr id="8" name="box"/>
          <p:cNvSpPr/>
          <p:nvPr/>
        </p:nvSpPr>
        <p:spPr>
          <a:xfrm>
            <a:off x="5120640" y="123444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1497D4"/>
          </a:solidFill>
          <a:ln w="15875">
            <a:solidFill>
              <a:srgbClr val="1497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57216" y="123444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待流轉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（其他局內人員續填）</a:t>
            </a:r>
            <a:endParaRPr lang="en-US" sz="1250" dirty="0"/>
          </a:p>
        </p:txBody>
      </p:sp>
      <p:sp>
        <p:nvSpPr>
          <p:cNvPr id="10" name="box"/>
          <p:cNvSpPr/>
          <p:nvPr/>
        </p:nvSpPr>
        <p:spPr>
          <a:xfrm>
            <a:off x="5120640" y="237744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7C3AED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57216" y="2377440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待廠商簽名</a:t>
            </a:r>
            <a:endParaRPr lang="en-US" sz="1500" dirty="0"/>
          </a:p>
        </p:txBody>
      </p:sp>
      <p:sp>
        <p:nvSpPr>
          <p:cNvPr id="12" name="box"/>
          <p:cNvSpPr/>
          <p:nvPr/>
        </p:nvSpPr>
        <p:spPr>
          <a:xfrm>
            <a:off x="7863840" y="237744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0B3B5C"/>
          </a:solidFill>
          <a:ln w="15875">
            <a:solidFill>
              <a:srgbClr val="0B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0416" y="23774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待主任加簽</a:t>
            </a:r>
            <a:endParaRPr lang="en-US" sz="1500" dirty="0"/>
          </a:p>
        </p:txBody>
      </p:sp>
      <p:sp>
        <p:nvSpPr>
          <p:cNvPr id="14" name="box"/>
          <p:cNvSpPr/>
          <p:nvPr/>
        </p:nvSpPr>
        <p:spPr>
          <a:xfrm>
            <a:off x="10104120" y="2377440"/>
            <a:ext cx="1645920" cy="731520"/>
          </a:xfrm>
          <a:prstGeom prst="roundRect">
            <a:avLst>
              <a:gd name="adj" fmla="val 8750"/>
            </a:avLst>
          </a:prstGeom>
          <a:solidFill>
            <a:srgbClr val="15803D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40696" y="23774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已結案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011680" y="2743200"/>
            <a:ext cx="50292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8288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下載鎖定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 flipV="1">
            <a:off x="4069080" y="1600200"/>
            <a:ext cx="1051560" cy="1005840"/>
          </a:xfrm>
          <a:prstGeom prst="line">
            <a:avLst/>
          </a:prstGeom>
          <a:noFill/>
          <a:ln w="1905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84048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① 轉局內續填</a:t>
            </a:r>
            <a:endParaRPr lang="en-US" sz="1050" dirty="0"/>
          </a:p>
        </p:txBody>
      </p:sp>
      <p:sp>
        <p:nvSpPr>
          <p:cNvPr id="20" name="arrow"/>
          <p:cNvSpPr/>
          <p:nvPr/>
        </p:nvSpPr>
        <p:spPr>
          <a:xfrm>
            <a:off x="4069080" y="2743200"/>
            <a:ext cx="1051560" cy="914"/>
          </a:xfrm>
          <a:prstGeom prst="line">
            <a:avLst/>
          </a:prstGeom>
          <a:noFill/>
          <a:ln w="1905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11480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② 轉廠商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0" cy="411480"/>
          </a:xfrm>
          <a:prstGeom prst="line">
            <a:avLst/>
          </a:prstGeom>
          <a:noFill/>
          <a:ln w="19050">
            <a:solidFill>
              <a:srgbClr val="0B3B5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291840" y="3520440"/>
            <a:ext cx="5486400" cy="0"/>
          </a:xfrm>
          <a:prstGeom prst="line">
            <a:avLst/>
          </a:prstGeom>
          <a:noFill/>
          <a:ln w="19050">
            <a:solidFill>
              <a:srgbClr val="0B3B5C"/>
            </a:solidFill>
            <a:prstDash val="dash"/>
          </a:ln>
        </p:spPr>
      </p:sp>
      <p:sp>
        <p:nvSpPr>
          <p:cNvPr id="24" name="arrow"/>
          <p:cNvSpPr/>
          <p:nvPr/>
        </p:nvSpPr>
        <p:spPr>
          <a:xfrm flipV="1">
            <a:off x="8778240" y="3108960"/>
            <a:ext cx="914" cy="411480"/>
          </a:xfrm>
          <a:prstGeom prst="line">
            <a:avLst/>
          </a:prstGeom>
          <a:noFill/>
          <a:ln w="19050">
            <a:solidFill>
              <a:srgbClr val="0B3B5C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75488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③ 免廠商簽名，逕轉主任</a:t>
            </a:r>
            <a:endParaRPr lang="en-US" sz="1050" dirty="0"/>
          </a:p>
        </p:txBody>
      </p:sp>
      <p:sp>
        <p:nvSpPr>
          <p:cNvPr id="26" name="arrow"/>
          <p:cNvSpPr/>
          <p:nvPr/>
        </p:nvSpPr>
        <p:spPr>
          <a:xfrm flipH="1">
            <a:off x="3657600" y="1965960"/>
            <a:ext cx="251460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01168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他人再鎖定續填</a:t>
            </a:r>
            <a:endParaRPr lang="en-US" sz="1050" dirty="0"/>
          </a:p>
        </p:txBody>
      </p:sp>
      <p:sp>
        <p:nvSpPr>
          <p:cNvPr id="28" name="arrow"/>
          <p:cNvSpPr/>
          <p:nvPr/>
        </p:nvSpPr>
        <p:spPr>
          <a:xfrm>
            <a:off x="7223760" y="2743200"/>
            <a:ext cx="64008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08660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廠商上傳</a:t>
            </a:r>
            <a:endParaRPr lang="en-US" sz="1050" dirty="0"/>
          </a:p>
        </p:txBody>
      </p:sp>
      <p:sp>
        <p:nvSpPr>
          <p:cNvPr id="30" name="arrow"/>
          <p:cNvSpPr/>
          <p:nvPr/>
        </p:nvSpPr>
        <p:spPr>
          <a:xfrm>
            <a:off x="9692640" y="2743200"/>
            <a:ext cx="411480" cy="914"/>
          </a:xfrm>
          <a:prstGeom prst="line">
            <a:avLst/>
          </a:prstGeom>
          <a:noFill/>
          <a:ln w="25400">
            <a:solidFill>
              <a:srgbClr val="0B3B5C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950976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憑證</a:t>
            </a:r>
            <a:endParaRPr lang="en-US" sz="1050" dirty="0"/>
          </a:p>
        </p:txBody>
      </p:sp>
      <p:sp>
        <p:nvSpPr>
          <p:cNvPr id="32" name="pt"/>
          <p:cNvSpPr/>
          <p:nvPr/>
        </p:nvSpPr>
        <p:spPr>
          <a:xfrm>
            <a:off x="457200" y="40233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02336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上傳並簽名時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工務所同仁上傳填好的 PDF、手寫簽名，並選「下一關」（三選一）與判定結果「○ 合格／╳ 有缺失」。</a:t>
            </a:r>
            <a:endParaRPr lang="en-US" sz="1400" dirty="0"/>
          </a:p>
        </p:txBody>
      </p:sp>
      <p:sp>
        <p:nvSpPr>
          <p:cNvPr id="34" name="pt"/>
          <p:cNvSpPr/>
          <p:nvPr/>
        </p:nvSpPr>
        <p:spPr>
          <a:xfrm>
            <a:off x="6172200" y="40233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402336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廠商簽名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狀態為「待廠商簽名」時，廠商品管人員下載最新版、簽名後按「上傳廠商簽名 PDF」，自動轉主任。</a:t>
            </a:r>
            <a:endParaRPr lang="en-US" sz="1400" dirty="0"/>
          </a:p>
        </p:txBody>
      </p:sp>
      <p:sp>
        <p:nvSpPr>
          <p:cNvPr id="36" name="pt"/>
          <p:cNvSpPr/>
          <p:nvPr/>
        </p:nvSpPr>
        <p:spPr>
          <a:xfrm>
            <a:off x="457200" y="5184648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18464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主任加簽結案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工務所主任以實體自然人憑證或行動自然人憑證（TW FidO）簽章結案；若為會驗抽查，合格即放行停留點。</a:t>
            </a:r>
            <a:endParaRPr lang="en-US" sz="1400" dirty="0"/>
          </a:p>
        </p:txBody>
      </p:sp>
      <p:sp>
        <p:nvSpPr>
          <p:cNvPr id="38" name="pt"/>
          <p:cNvSpPr/>
          <p:nvPr/>
        </p:nvSpPr>
        <p:spPr>
          <a:xfrm>
            <a:off x="6172200" y="5184648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55080" y="5184648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5C"/>
                </a:solidFill>
              </a:rPr>
              <a:t>有缺失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結案時自動建立缺失追蹤（來源：抽查（PDF））；已放行／已判定的會驗抽查不可解除結案。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業務規則與可調參數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規則寫在系統裡，參數由系統管理員在後台「參數設定」調整</a:t>
            </a:r>
            <a:endParaRPr lang="en-US" sz="1400" dirty="0"/>
          </a:p>
        </p:txBody>
      </p:sp>
      <p:sp>
        <p:nvSpPr>
          <p:cNvPr id="4" name="param"/>
          <p:cNvSpPr/>
          <p:nvPr/>
        </p:nvSpPr>
        <p:spPr>
          <a:xfrm>
            <a:off x="45720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24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小時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停留點會驗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最少提前申請</a:t>
            </a:r>
            <a:endParaRPr lang="en-US" sz="1300" dirty="0"/>
          </a:p>
        </p:txBody>
      </p:sp>
      <p:sp>
        <p:nvSpPr>
          <p:cNvPr id="7" name="param"/>
          <p:cNvSpPr/>
          <p:nvPr/>
        </p:nvSpPr>
        <p:spPr>
          <a:xfrm>
            <a:off x="329184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8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小時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工務所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回覆期限</a:t>
            </a:r>
            <a:endParaRPr lang="en-US" sz="1300" dirty="0"/>
          </a:p>
        </p:txBody>
      </p:sp>
      <p:sp>
        <p:nvSpPr>
          <p:cNvPr id="10" name="param"/>
          <p:cNvSpPr/>
          <p:nvPr/>
        </p:nvSpPr>
        <p:spPr>
          <a:xfrm>
            <a:off x="612648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400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KB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現場照片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壓縮上限</a:t>
            </a:r>
            <a:endParaRPr lang="en-US" sz="1300" dirty="0"/>
          </a:p>
        </p:txBody>
      </p:sp>
      <p:sp>
        <p:nvSpPr>
          <p:cNvPr id="13" name="param"/>
          <p:cNvSpPr/>
          <p:nvPr/>
        </p:nvSpPr>
        <p:spPr>
          <a:xfrm>
            <a:off x="8961120" y="13258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7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天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缺失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改善期限</a:t>
            </a:r>
            <a:endParaRPr lang="en-US" sz="1300" dirty="0"/>
          </a:p>
        </p:txBody>
      </p:sp>
      <p:sp>
        <p:nvSpPr>
          <p:cNvPr id="16" name="dot"/>
          <p:cNvSpPr/>
          <p:nvPr/>
        </p:nvSpPr>
        <p:spPr>
          <a:xfrm>
            <a:off x="502920" y="331012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2004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範本版本控管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範本已有紀錄使用時，修改須「另存新版本」（如 v1 → v2），舊紀錄仍對應原版本；未使用可直接覆寫。</a:t>
            </a:r>
            <a:endParaRPr lang="en-US" sz="1350" dirty="0"/>
          </a:p>
        </p:txBody>
      </p:sp>
      <p:sp>
        <p:nvSpPr>
          <p:cNvPr id="18" name="dot"/>
          <p:cNvSpPr/>
          <p:nvPr/>
        </p:nvSpPr>
        <p:spPr>
          <a:xfrm>
            <a:off x="502920" y="39319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8221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抽查表與自檢表對應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抽查紀錄表可「從自主檢查表同步項目」，並標記停留點；會驗時自動找到對應項目。</a:t>
            </a:r>
            <a:endParaRPr lang="en-US" sz="1350" dirty="0"/>
          </a:p>
        </p:txBody>
      </p:sp>
      <p:sp>
        <p:nvSpPr>
          <p:cNvPr id="20" name="dot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4439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防竄改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線上表單簽認後、PDF 表單結案後都產生內容雜湊（SHA-256）並鎖定，修改須依程序。</a:t>
            </a:r>
            <a:endParaRPr lang="en-US" sz="1350" dirty="0"/>
          </a:p>
        </p:txBody>
      </p:sp>
      <p:sp>
        <p:nvSpPr>
          <p:cNvPr id="22" name="dot"/>
          <p:cNvSpPr/>
          <p:nvPr/>
        </p:nvSpPr>
        <p:spPr>
          <a:xfrm>
            <a:off x="502920" y="517550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506577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唯讀控管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工務所身分只能檢視自主檢查表；抽查紀錄只能由工務所填寫；PDF 僅鎖定人可上傳。</a:t>
            </a:r>
            <a:endParaRPr lang="en-US" sz="1350" dirty="0"/>
          </a:p>
        </p:txBody>
      </p:sp>
      <p:sp>
        <p:nvSpPr>
          <p:cNvPr id="24" name="dot"/>
          <p:cNvSpPr/>
          <p:nvPr/>
        </p:nvSpPr>
        <p:spPr>
          <a:xfrm>
            <a:off x="502920" y="579729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56875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C"/>
                </a:solidFill>
              </a:rPr>
              <a:t>關聯表單　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如表5-5 的「導溝施作」需先完成表5-4，才能判 ○，並在送出時列為自動附件。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04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後台管理頁面操作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對象：系統管理員、捷運局工務所（桌機）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查驗總覽：一頁掌握待辦與風險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登入後首頁，可切換「全部標別／CF624H 水環標／CF671 土建標」</a:t>
            </a:r>
            <a:endParaRPr lang="en-US" sz="1400" dirty="0"/>
          </a:p>
        </p:txBody>
      </p:sp>
      <p:sp>
        <p:nvSpPr>
          <p:cNvPr id="4" name="frame-a01_dashboard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1_dashboard" descr="img/a01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812112" y="226642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12112" y="22664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812112" y="302995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12112" y="30299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591556" y="34832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91556" y="3483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049670" y="302995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49670" y="30299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1812112" y="479559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12112" y="47955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6049670" y="491490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49670" y="4914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四張統計卡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待回覆申請、本週會驗、未結案缺失、自主檢查表累計與抽查率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待處理停留點申請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依回覆期限排序，逾時以紅底標示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「處理」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直接進入停留點會驗管理該筆申請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未結案缺失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顯示逾期天數／待複查／改善中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分項工程查驗進度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各工項的自檢表、抽查表、停留點、抽查合格率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今日會驗與抽查行程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依時間排列今日現場行程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標案與分項工程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先建立「標案 → 分項工程」架構，表單範本掛在分項工程底下</a:t>
            </a:r>
            <a:endParaRPr lang="en-US" sz="1400" dirty="0"/>
          </a:p>
        </p:txBody>
      </p:sp>
      <p:sp>
        <p:nvSpPr>
          <p:cNvPr id="4" name="frame-a07_projects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7_projects" descr="img/a07_proje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850288" y="231414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50288" y="23141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530041" y="240958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0041" y="24095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682746" y="357873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82746" y="35787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813194" y="388891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3194" y="3888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271309" y="438997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71309" y="43899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5591556" y="508192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91556" y="508192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標案架構樹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區段標 → 標案 → 分項工程，點選切換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標案基本資料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承包商、監造單位、工期；「編輯標案」修改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分項工程清單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項次、數量單位、狀態，可搜尋與篩選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匯入範本／新增分項工程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批次匯入 Excel，或手動新增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範本／編輯／刪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「範本」直接跳到該工項的表單範本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範本設定數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顯示自主檢查表、抽查表數與 PDF 數，未設定會提示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表單範本（一）：線上表單設定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以「表5-5 連續壁施工自主檢查表」為例；範本來源可對應施工計畫書頁次</a:t>
            </a:r>
            <a:endParaRPr lang="en-US" sz="1400" dirty="0"/>
          </a:p>
        </p:txBody>
      </p:sp>
      <p:sp>
        <p:nvSpPr>
          <p:cNvPr id="4" name="frame-a08_tpl_online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8_tpl_online" descr="img/a08_tpl_on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63117" y="252888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63117" y="25288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446270" y="27913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6270" y="27913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453689" y="30538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3689" y="30538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7538542" y="30538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38542" y="30538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4980737" y="45331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0737" y="45331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8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174650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範本清單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依分項工程分「自主檢查表（廠商）」「抽查紀錄表（監造）」，可拖曳排序</a:t>
            </a:r>
            <a:endParaRPr lang="en-US" sz="1300" dirty="0"/>
          </a:p>
        </p:txBody>
      </p:sp>
      <p:sp>
        <p:nvSpPr>
          <p:cNvPr id="21" name="badge-2"/>
          <p:cNvSpPr/>
          <p:nvPr/>
        </p:nvSpPr>
        <p:spPr>
          <a:xfrm>
            <a:off x="8458200" y="263141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6314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576551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填寫方式（二選一）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線上表單／空白範本（PDF）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8458200" y="3461461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4614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406597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工具列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匯出 Excel／CSV、匯入檢查項目、預覽表單；抽查表可從自檢表同步</a:t>
            </a:r>
            <a:endParaRPr lang="en-US" sz="1300" dirty="0"/>
          </a:p>
        </p:txBody>
      </p:sp>
      <p:sp>
        <p:nvSpPr>
          <p:cNvPr id="27" name="badge-4"/>
          <p:cNvSpPr/>
          <p:nvPr/>
        </p:nvSpPr>
        <p:spPr>
          <a:xfrm>
            <a:off x="8458200" y="429150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4291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23664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另存新版本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已被使用的範本修改時另存 v2</a:t>
            </a:r>
            <a:endParaRPr lang="en-US" sz="1300" dirty="0"/>
          </a:p>
        </p:txBody>
      </p:sp>
      <p:sp>
        <p:nvSpPr>
          <p:cNvPr id="30" name="badge-5"/>
          <p:cNvSpPr/>
          <p:nvPr/>
        </p:nvSpPr>
        <p:spPr>
          <a:xfrm>
            <a:off x="8458200" y="512155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512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5066690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檢查項目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每項設定階段、標準、判定類型（選項／數值／關聯表單）、★停留點、必拍照、引用文件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表單範本（二）：檢查項目明細與預覽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設定完成可先「預覽表單」，確認列印版面與判定欄位</a:t>
            </a:r>
            <a:endParaRPr lang="en-US" sz="1400" dirty="0"/>
          </a:p>
        </p:txBody>
      </p:sp>
      <p:sp>
        <p:nvSpPr>
          <p:cNvPr id="4" name="frame-a08b_tpl_online_item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8b_tpl_online_items" descr="img/a08b_tpl_online_item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檢查項目逐列設定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分施工前／施工中／施工後三段，▲▼ 調整順序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判定類型選「數值」時，可設定多個欄位、單位與上下限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★停留點、必拍照用勾選；可引用參考文件編號</a:t>
            </a:r>
            <a:endParaRPr lang="en-US" sz="1250" dirty="0"/>
          </a:p>
        </p:txBody>
      </p:sp>
      <p:sp>
        <p:nvSpPr>
          <p:cNvPr id="10" name="frame-a08c_tpl_preview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hot-a08c_tpl_preview" descr="img/a08c_tpl_pre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預覽表單（列印版）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呈現紙本格式：項目、檢查標準、實際檢查情形、判定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數值欄位顯示容許範圍與「必拍照」標記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另可設定表頭欄位、簽認欄、計價欄位與表尾備註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表單範本（三）：空白範本 PDF（v2 新增）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以「表5-7 穩定液自主檢查紀錄表」為例，改為 PDF 填寫</a:t>
            </a:r>
            <a:endParaRPr lang="en-US" sz="1400" dirty="0"/>
          </a:p>
        </p:txBody>
      </p:sp>
      <p:sp>
        <p:nvSpPr>
          <p:cNvPr id="4" name="frame-a09_tpl_pdf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9_tpl_pdf" descr="img/a09_tpl_pd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980737" y="24811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80737" y="24811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392174" y="400821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92174" y="40082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675327" y="381733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75327" y="38173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813194" y="381733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3194" y="381733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6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746504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切換「空白範本（PDF）」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在範本編輯頁選擇填寫方式</a:t>
            </a:r>
            <a:endParaRPr lang="en-US" sz="1300" dirty="0"/>
          </a:p>
        </p:txBody>
      </p:sp>
      <p:sp>
        <p:nvSpPr>
          <p:cNvPr id="19" name="badge-2"/>
          <p:cNvSpPr/>
          <p:nvPr/>
        </p:nvSpPr>
        <p:spPr>
          <a:xfrm>
            <a:off x="8458200" y="2838926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58200" y="28389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784062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清單標示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範本清單出現「空白範本 PDF」標籤，一眼可辨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821620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上傳空白 PDF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上傳後顯示檔名、大小、上傳時間</a:t>
            </a:r>
            <a:endParaRPr lang="en-US" sz="1300" dirty="0"/>
          </a:p>
        </p:txBody>
      </p:sp>
      <p:sp>
        <p:nvSpPr>
          <p:cNvPr id="25" name="badge-4"/>
          <p:cNvSpPr/>
          <p:nvPr/>
        </p:nvSpPr>
        <p:spPr>
          <a:xfrm>
            <a:off x="8458200" y="491404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4914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4859179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預覽／下載／重新上傳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可直接在頁面預覽 PDF；更新範本另存新版本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範本匯入：Excel 批次建立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把施工計畫書中的檢查表整理成 Excel，一次匯入多張範本</a:t>
            </a:r>
            <a:endParaRPr lang="en-US" sz="1400" dirty="0"/>
          </a:p>
        </p:txBody>
      </p:sp>
      <p:sp>
        <p:nvSpPr>
          <p:cNvPr id="4" name="frame-a10_import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0_import" descr="img/a10_im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6813194" y="1717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3194" y="1717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064508" y="205168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64508" y="20516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1621231" y="286292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21231" y="286292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980737" y="34832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80737" y="3483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271309" y="434225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71309" y="43422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7118604" y="505806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18604" y="50580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下載標準匯入樣本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提供 .xlsx 與 .csv 格式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四步驟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下載樣本 → 上傳檔案 → 預覽與驗證 → 確認匯入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解析結果與匯入方式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建立新範本，或匯入為既有範本的新版本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預覽與驗證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逐列顯示驗證結果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錯誤提示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例如判定型別不符、引用文件不存在，標紅說明原因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匯入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只匯入驗證通過的列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停留點會驗管理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工務所在後台處理會驗申請；也可切換「日曆檢視」</a:t>
            </a:r>
            <a:endParaRPr lang="en-US" sz="1400" dirty="0"/>
          </a:p>
        </p:txBody>
      </p:sp>
      <p:sp>
        <p:nvSpPr>
          <p:cNvPr id="4" name="frame-a02_hold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2_holds" descr="img/a02_hol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353312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53312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906524" y="254946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06524" y="25494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672584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72584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待回覆清單與申請詳情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頁籤：待回覆／已排定／檢驗中／合格放行／不合格／已退回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清單顯示預定會驗時間與回覆倒數，逾時紅字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詳情：檢查標準、廠商自檢數據、照片、短時間申請原因、通知歷程</a:t>
            </a:r>
            <a:endParaRPr lang="en-US" sz="1250" dirty="0"/>
          </a:p>
        </p:txBody>
      </p:sp>
      <p:sp>
        <p:nvSpPr>
          <p:cNvPr id="16" name="frame-a02c_holds_schedul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02c_holds_scheduled" descr="img/a02c_holds_schedul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727741" y="341385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727741" y="34138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0727741" y="398435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727741" y="39843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排定、改期、退回、開始會驗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排定會驗時間與人員（下拉選工務所同仁）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按鈕：改期、退回（須填原因）、開始會驗（建立抽查紀錄）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每個動作都寫入通知歷程，並 Email 通知廠商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自主檢查紀錄查詢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後台查詢廠商送出的自主檢查表（含 PDF 版本）</a:t>
            </a:r>
            <a:endParaRPr lang="en-US" sz="1400" dirty="0"/>
          </a:p>
        </p:txBody>
      </p:sp>
      <p:sp>
        <p:nvSpPr>
          <p:cNvPr id="4" name="frame-a03b_selfcheck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3b_selfchecks" descr="img/a03b_selfchec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紀錄清單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編號、表單版本、分項／單元位置、日期、進度、狀態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PDF 表單有「PDF」標籤，狀態顯示已結案／待流轉等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點選列開啟詳情</a:t>
            </a:r>
            <a:endParaRPr lang="en-US" sz="1250" dirty="0"/>
          </a:p>
        </p:txBody>
      </p:sp>
      <p:sp>
        <p:nvSpPr>
          <p:cNvPr id="10" name="frame-a03c_sc_detail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hot-a03c_sc_detail" descr="img/a03c_sc_detai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紀錄詳情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逐項顯示實測值、判定、照片數、停留點放行狀態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底部顯示簽認人、時間與內容雜湊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PDF 表單則顯示辦理軌跡與各版成果檔下載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抽查紀錄查詢與 PDF 辦理軌跡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會驗抽查與隨機抽查都在這裡查</a:t>
            </a:r>
            <a:endParaRPr lang="en-US" sz="1400" dirty="0"/>
          </a:p>
        </p:txBody>
      </p:sp>
      <p:sp>
        <p:nvSpPr>
          <p:cNvPr id="4" name="frame-a04_spots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4_spots" descr="img/a04_spo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抽查紀錄清單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抽查時機：檢驗停留點（★項目）或隨機抽查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抽查結果：○／╳／╱ 統計，PDF 顯示「已結案・合格」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狀態：已簽認／已結案</a:t>
            </a:r>
            <a:endParaRPr lang="en-US" sz="1250" dirty="0"/>
          </a:p>
        </p:txBody>
      </p:sp>
      <p:sp>
        <p:nvSpPr>
          <p:cNvPr id="10" name="frame-a04b_spot_pdf_lo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shot-a04b_spot_pdf_log" descr="img/a04b_spot_pdf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PDF 抽查表辦理軌跡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目前成果檔（V3）可直接下載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軌跡：下載鎖定 → 上傳並簽名 → 廠商簽名確認 → 主任加簽結案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每一筆記錄人員、時間、說明與當時版本檔案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缺失追蹤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自動建立的缺失在此管考</a:t>
            </a:r>
            <a:endParaRPr lang="en-US" sz="1400" dirty="0"/>
          </a:p>
        </p:txBody>
      </p:sp>
      <p:sp>
        <p:nvSpPr>
          <p:cNvPr id="4" name="frame-a05_defects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05_defects" descr="img/a05_defec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850288" y="200396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50288" y="20039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148279" y="267204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48279" y="2672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286146" y="267204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86146" y="2672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965899" y="267204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65899" y="2672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6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869680" y="1746504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狀態頁籤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未結案／已結案／全部；可依標別篩選</a:t>
            </a:r>
            <a:endParaRPr lang="en-US" sz="1300" dirty="0"/>
          </a:p>
        </p:txBody>
      </p:sp>
      <p:sp>
        <p:nvSpPr>
          <p:cNvPr id="19" name="badge-2"/>
          <p:cNvSpPr/>
          <p:nvPr/>
        </p:nvSpPr>
        <p:spPr>
          <a:xfrm>
            <a:off x="8458200" y="2838926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58200" y="28389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869680" y="2784062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缺失清單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缺失名稱、位置、來源（自主檢查／抽查／抽查 PDF）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3821620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改善期限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逾期紅字標示「逾期 N 天」</a:t>
            </a:r>
            <a:endParaRPr lang="en-US" sz="1300" dirty="0"/>
          </a:p>
        </p:txBody>
      </p:sp>
      <p:sp>
        <p:nvSpPr>
          <p:cNvPr id="25" name="badge-4"/>
          <p:cNvSpPr/>
          <p:nvPr/>
        </p:nvSpPr>
        <p:spPr>
          <a:xfrm>
            <a:off x="8458200" y="491404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4914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4859179"/>
            <a:ext cx="2788920" cy="101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處理按鈕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「改善完成・待複查」「複查合格結案」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參考文件、帳號與權限、參數設定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基本資料與系統設定</a:t>
            </a:r>
            <a:endParaRPr lang="en-US" sz="1400" dirty="0"/>
          </a:p>
        </p:txBody>
      </p:sp>
      <p:sp>
        <p:nvSpPr>
          <p:cNvPr id="4" name="frame-a11_docs"/>
          <p:cNvSpPr/>
          <p:nvPr/>
        </p:nvSpPr>
        <p:spPr>
          <a:xfrm>
            <a:off x="457200" y="1371600"/>
            <a:ext cx="361188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a11_docs" descr="img/a11_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11880" cy="22574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85762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參考文件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69105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施工計畫書、施工圖、規範編號；範本項目可引用，現場可點開查閱</a:t>
            </a:r>
            <a:endParaRPr lang="en-US" sz="1300" dirty="0"/>
          </a:p>
        </p:txBody>
      </p:sp>
      <p:sp>
        <p:nvSpPr>
          <p:cNvPr id="8" name="frame-a12_users"/>
          <p:cNvSpPr/>
          <p:nvPr/>
        </p:nvSpPr>
        <p:spPr>
          <a:xfrm>
            <a:off x="4279392" y="1371600"/>
            <a:ext cx="361188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shot-a12_users" descr="img/a12_us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371600"/>
            <a:ext cx="3611880" cy="22574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79392" y="385762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帳號與權限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279392" y="4269105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姓名、角色、單位、Email；角色決定可操作功能與 Email 通知對象</a:t>
            </a:r>
            <a:endParaRPr lang="en-US" sz="1300" dirty="0"/>
          </a:p>
        </p:txBody>
      </p:sp>
      <p:sp>
        <p:nvSpPr>
          <p:cNvPr id="12" name="frame-a13_params"/>
          <p:cNvSpPr/>
          <p:nvPr/>
        </p:nvSpPr>
        <p:spPr>
          <a:xfrm>
            <a:off x="8101584" y="1371600"/>
            <a:ext cx="361188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3" name="shot-a13_params" descr="img/a13_param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1371600"/>
            <a:ext cx="3611880" cy="22574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01584" y="385762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B5C"/>
                </a:solidFill>
              </a:rPr>
              <a:t>參數設定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101584" y="4269105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會驗提前時數、回覆時限、照片上限、缺失改善天數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05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現場作業頁面操作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對象：廠商品管人員、捷運局工務所同仁（平板／手機）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廠商：今日待辦與自主檢查清單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平板左側（手機在底部）導覽：待辦、自主檢查、抽查紀錄、停留點、參考文件、我的</a:t>
            </a:r>
            <a:endParaRPr lang="en-US" sz="1400" dirty="0"/>
          </a:p>
        </p:txBody>
      </p:sp>
      <p:sp>
        <p:nvSpPr>
          <p:cNvPr id="4" name="frame-f01_todo_contractor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1_todo_contractor" descr="img/f01_todo_contract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32027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2027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10742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0742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今日待辦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頁籤：會驗／抽查／缺失複查，數字為待辦件數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會驗卡片依時間排列，顯示狀態（已排定／待回覆）與逾時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右上可「掃描單元 QR Code」直接開啟該單元表單</a:t>
            </a:r>
            <a:endParaRPr lang="en-US" sz="1250" dirty="0"/>
          </a:p>
        </p:txBody>
      </p:sp>
      <p:sp>
        <p:nvSpPr>
          <p:cNvPr id="14" name="frame-f02_checks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f02_checks" descr="img/f02_check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11170310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170310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7740396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40396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自主檢查清單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「＋新增自主檢查」「掃描 QR」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卡片顯示表單、單元、日期、已判定進度與狀態（填寫中／已簽認）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點卡片進入填寫畫面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廠商：新增自主檢查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三層下拉選單，避免選錯表單</a:t>
            </a:r>
            <a:endParaRPr lang="en-US" sz="1400" dirty="0"/>
          </a:p>
        </p:txBody>
      </p:sp>
      <p:sp>
        <p:nvSpPr>
          <p:cNvPr id="4" name="frame-f03_new_sc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3_new_sc" descr="img/f03_new_s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6507785" y="198010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07785" y="19801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6507785" y="238572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785" y="238572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6507785" y="279134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07785" y="279134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507785" y="319697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07785" y="31969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347661" y="570228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47661" y="57022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8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174650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選標案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例：CF671 土建標</a:t>
            </a:r>
            <a:endParaRPr lang="en-US" sz="1300" dirty="0"/>
          </a:p>
        </p:txBody>
      </p:sp>
      <p:sp>
        <p:nvSpPr>
          <p:cNvPr id="21" name="badge-2"/>
          <p:cNvSpPr/>
          <p:nvPr/>
        </p:nvSpPr>
        <p:spPr>
          <a:xfrm>
            <a:off x="8458200" y="263141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6314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576551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選工項（分項工程）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只列出該標案的分項工程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8458200" y="3461461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4614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406597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選表單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只列出已發布的範本，並註明線上表單或 PDF、項目數</a:t>
            </a:r>
            <a:endParaRPr lang="en-US" sz="1300" dirty="0"/>
          </a:p>
        </p:txBody>
      </p:sp>
      <p:sp>
        <p:nvSpPr>
          <p:cNvPr id="27" name="badge-4"/>
          <p:cNvSpPr/>
          <p:nvPr/>
        </p:nvSpPr>
        <p:spPr>
          <a:xfrm>
            <a:off x="8458200" y="429150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4291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23664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單元編號與位置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可手動輸入或用 QR Code 帶入</a:t>
            </a:r>
            <a:endParaRPr lang="en-US" sz="1300" dirty="0"/>
          </a:p>
        </p:txBody>
      </p:sp>
      <p:sp>
        <p:nvSpPr>
          <p:cNvPr id="30" name="badge-5"/>
          <p:cNvSpPr/>
          <p:nvPr/>
        </p:nvSpPr>
        <p:spPr>
          <a:xfrm>
            <a:off x="8458200" y="512155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512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5066690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建立並開始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產生自主檢查編號，進入填寫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廠商：逐項檢查（施工前）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左邊項目清單、右邊填寫區；每個項目都看得到檢查標準</a:t>
            </a:r>
            <a:endParaRPr lang="en-US" sz="1400" dirty="0"/>
          </a:p>
        </p:txBody>
      </p:sp>
      <p:sp>
        <p:nvSpPr>
          <p:cNvPr id="4" name="frame-f04_form_item2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4_form_item2" descr="img/f04_form_item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2613812" y="162220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613812" y="16222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34060" y="252888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4060" y="25288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446270" y="21471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46270" y="21471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446270" y="424681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46270" y="424681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3300984" y="491490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00984" y="4914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badge-6"/>
          <p:cNvSpPr/>
          <p:nvPr/>
        </p:nvSpPr>
        <p:spPr>
          <a:xfrm>
            <a:off x="3682746" y="539210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82746" y="539210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8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20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46504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階段頁籤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施工前／施工中／施工後／總覽，顯示各階段完成數</a:t>
            </a:r>
            <a:endParaRPr lang="en-US" sz="1300" dirty="0"/>
          </a:p>
        </p:txBody>
      </p:sp>
      <p:sp>
        <p:nvSpPr>
          <p:cNvPr id="23" name="badge-2"/>
          <p:cNvSpPr/>
          <p:nvPr/>
        </p:nvSpPr>
        <p:spPr>
          <a:xfrm>
            <a:off x="8458200" y="2493073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24930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2438209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項目清單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○ 已判定、🔒 鎖定、★ 停留點，一目了然</a:t>
            </a:r>
            <a:endParaRPr lang="en-US" sz="1300" dirty="0"/>
          </a:p>
        </p:txBody>
      </p:sp>
      <p:sp>
        <p:nvSpPr>
          <p:cNvPr id="26" name="badge-3"/>
          <p:cNvSpPr/>
          <p:nvPr/>
        </p:nvSpPr>
        <p:spPr>
          <a:xfrm>
            <a:off x="8458200" y="3184779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31847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3129915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開工前確認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掃描單元 QR 確認位置、施工圖核准文號、關聯表單完成狀態</a:t>
            </a:r>
            <a:endParaRPr lang="en-US" sz="1300" dirty="0"/>
          </a:p>
        </p:txBody>
      </p:sp>
      <p:sp>
        <p:nvSpPr>
          <p:cNvPr id="29" name="badge-4"/>
          <p:cNvSpPr/>
          <p:nvPr/>
        </p:nvSpPr>
        <p:spPr>
          <a:xfrm>
            <a:off x="8458200" y="387648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58200" y="3876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3821620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數值輸入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輸入量測值，系統比對容許範圍</a:t>
            </a:r>
            <a:endParaRPr lang="en-US" sz="1300" dirty="0"/>
          </a:p>
        </p:txBody>
      </p:sp>
      <p:sp>
        <p:nvSpPr>
          <p:cNvPr id="32" name="badge-5"/>
          <p:cNvSpPr/>
          <p:nvPr/>
        </p:nvSpPr>
        <p:spPr>
          <a:xfrm>
            <a:off x="8458200" y="4568190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458200" y="45681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513326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拍照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📷 相機拍照（自動壓縮、加註標案單元與項目）</a:t>
            </a:r>
            <a:endParaRPr lang="en-US" sz="1300" dirty="0"/>
          </a:p>
        </p:txBody>
      </p:sp>
      <p:sp>
        <p:nvSpPr>
          <p:cNvPr id="35" name="badge-6"/>
          <p:cNvSpPr/>
          <p:nvPr/>
        </p:nvSpPr>
        <p:spPr>
          <a:xfrm>
            <a:off x="8458200" y="525989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5259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8869680" y="5205031"/>
            <a:ext cx="2788920" cy="673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判定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○ 合格／╳ 缺失／╱ 無此項；底部「暫存」與「送出」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廠商：停留點與項目鎖定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★ 停留點項目判 ○ 後申請會驗；未放行前，後面項目自動上鎖</a:t>
            </a:r>
            <a:endParaRPr lang="en-US" sz="1400" dirty="0"/>
          </a:p>
        </p:txBody>
      </p:sp>
      <p:sp>
        <p:nvSpPr>
          <p:cNvPr id="4" name="frame-f05_form_item10_hol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5_form_item10_hold" descr="img/f05_form_item10_ho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898087" y="306809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98087" y="30680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2791663" y="337927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91663" y="33792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4001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4001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停留點項目（已申請、待回覆）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實測值在容許範圍內，系統建議判定 ○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必拍照項目已附 3 張照片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檢驗停留點卡：申請編號、預定時間、回覆期限倒數</a:t>
            </a:r>
            <a:endParaRPr lang="en-US" sz="1250" dirty="0"/>
          </a:p>
        </p:txBody>
      </p:sp>
      <p:sp>
        <p:nvSpPr>
          <p:cNvPr id="16" name="frame-f06_form_item11_lock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f06_form_item11_locked" descr="img/f06_form_item11_lock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7408469" y="3310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08469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178747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178747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後續項目鎖定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清單中鎖頭圖示的項目暫時不能填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點開會說明原因：「待 ☆鋼筋籠吊放高程及位置確認 監造放行」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工務所會驗合格後自動解鎖，不需人工通知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廠商：申請停留點會驗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在停留點項目按「申請會驗（Email 通知監造）」</a:t>
            </a:r>
            <a:endParaRPr lang="en-US" sz="1400" dirty="0"/>
          </a:p>
        </p:txBody>
      </p:sp>
      <p:sp>
        <p:nvSpPr>
          <p:cNvPr id="4" name="frame-f07_apply_modal"/>
          <p:cNvSpPr/>
          <p:nvPr/>
        </p:nvSpPr>
        <p:spPr>
          <a:xfrm>
            <a:off x="411480" y="1261872"/>
            <a:ext cx="7635240" cy="47720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7_apply_modal" descr="img/f07_apply_mod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7635240" cy="477202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6202375" y="190852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02375" y="1908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6202375" y="248116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02375" y="24811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6202375" y="295837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02375" y="29583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6202375" y="343557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02375" y="34355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5"/>
          <p:cNvSpPr/>
          <p:nvPr/>
        </p:nvSpPr>
        <p:spPr>
          <a:xfrm>
            <a:off x="7500366" y="541596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00366" y="541596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8275320" y="1261872"/>
            <a:ext cx="3502152" cy="4772025"/>
          </a:xfrm>
          <a:prstGeom prst="roundRect">
            <a:avLst>
              <a:gd name="adj" fmla="val 2089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58200" y="1353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97D4"/>
                </a:solidFill>
              </a:rPr>
              <a:t>操作說明</a:t>
            </a:r>
            <a:endParaRPr lang="en-US" sz="1400" dirty="0"/>
          </a:p>
        </p:txBody>
      </p:sp>
      <p:sp>
        <p:nvSpPr>
          <p:cNvPr id="18" name="badge-1"/>
          <p:cNvSpPr/>
          <p:nvPr/>
        </p:nvSpPr>
        <p:spPr>
          <a:xfrm>
            <a:off x="8458200" y="180136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869680" y="174650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預定會驗時間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選日期時間</a:t>
            </a:r>
            <a:endParaRPr lang="en-US" sz="1300" dirty="0"/>
          </a:p>
        </p:txBody>
      </p:sp>
      <p:sp>
        <p:nvSpPr>
          <p:cNvPr id="21" name="badge-2"/>
          <p:cNvSpPr/>
          <p:nvPr/>
        </p:nvSpPr>
        <p:spPr>
          <a:xfrm>
            <a:off x="8458200" y="2631415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58200" y="26314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576551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短時間申請警示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距預定時間不足 24 小時，系統提醒並要求填原因</a:t>
            </a:r>
            <a:endParaRPr lang="en-US" sz="1300" dirty="0"/>
          </a:p>
        </p:txBody>
      </p:sp>
      <p:sp>
        <p:nvSpPr>
          <p:cNvPr id="24" name="badge-3"/>
          <p:cNvSpPr/>
          <p:nvPr/>
        </p:nvSpPr>
        <p:spPr>
          <a:xfrm>
            <a:off x="8458200" y="3461461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34614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406597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原因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例：配合混凝土車預約時段</a:t>
            </a:r>
            <a:endParaRPr lang="en-US" sz="1300" dirty="0"/>
          </a:p>
        </p:txBody>
      </p:sp>
      <p:sp>
        <p:nvSpPr>
          <p:cNvPr id="27" name="badge-4"/>
          <p:cNvSpPr/>
          <p:nvPr/>
        </p:nvSpPr>
        <p:spPr>
          <a:xfrm>
            <a:off x="8458200" y="4291508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4291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4236644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檢查位置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預帶單元位置，可修改</a:t>
            </a:r>
            <a:endParaRPr lang="en-US" sz="1300" dirty="0"/>
          </a:p>
        </p:txBody>
      </p:sp>
      <p:sp>
        <p:nvSpPr>
          <p:cNvPr id="30" name="badge-5"/>
          <p:cNvSpPr/>
          <p:nvPr/>
        </p:nvSpPr>
        <p:spPr>
          <a:xfrm>
            <a:off x="8458200" y="5121554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512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5066690"/>
            <a:ext cx="2788920" cy="81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B3B5C"/>
                </a:solidFill>
              </a:rPr>
              <a:t>送出會驗申請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</a:rPr>
              <a:t>產生申請編號，Email 通知工務所並開始 8 小時回覆倒數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廠商：送出前總覽與關聯表單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全部項目判定後，進入「總覽」確認再送出簽認</a:t>
            </a:r>
            <a:endParaRPr lang="en-US" sz="1400" dirty="0"/>
          </a:p>
        </p:txBody>
      </p:sp>
      <p:sp>
        <p:nvSpPr>
          <p:cNvPr id="4" name="frame-f08_form_summary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8_form_summary" descr="img/f08_form_summa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230014" y="209997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30014" y="20999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230014" y="268776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30014" y="26877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4230014" y="341385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30014" y="34138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4230014" y="386334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30014" y="3863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送出前總覽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○／╳／╱ 統計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各檢驗停留點狀態（已放行／待回覆／未申請）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自動附件：關聯表單與現場照片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簽認欄：現場工程師、工地授權代表</a:t>
            </a:r>
            <a:endParaRPr lang="en-US" sz="1250" dirty="0"/>
          </a:p>
        </p:txBody>
      </p:sp>
      <p:sp>
        <p:nvSpPr>
          <p:cNvPr id="18" name="frame-f08b_link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f08b_linked" descr="img/f08b_link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10783062" y="137388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783062" y="13738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11336274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336274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關聯表單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點選關聯表單（如表5-7 穩定液自主檢查紀錄表）開啟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完成後按「標記為已完成 ○」，主表該項才可判 ○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送出時自動列為附件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工務所：今日待辦與會驗申請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在「我的」切換為「捷運局工務所同仁」後的畫面</a:t>
            </a:r>
            <a:endParaRPr lang="en-US" sz="1400" dirty="0"/>
          </a:p>
        </p:txBody>
      </p:sp>
      <p:sp>
        <p:nvSpPr>
          <p:cNvPr id="4" name="frame-f09_todo_supervisor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09_todo_supervisor" descr="img/f09_todo_supervis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132027" y="1512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32027" y="1512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906524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06524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今日待辦（工務所）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會驗／抽查／缺失複查待辦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已排定的會驗直接顯示「開始會驗」；待回覆的顯示「查看申請」</a:t>
            </a:r>
            <a:endParaRPr lang="en-US" sz="1250" dirty="0"/>
          </a:p>
        </p:txBody>
      </p:sp>
      <p:sp>
        <p:nvSpPr>
          <p:cNvPr id="14" name="frame-f10_hold_detail_sup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f10_hold_detail_sup" descr="img/f10_hold_detail_s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1"/>
          <p:cNvSpPr/>
          <p:nvPr/>
        </p:nvSpPr>
        <p:spPr>
          <a:xfrm>
            <a:off x="9510674" y="2134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10674" y="2134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badge-2"/>
          <p:cNvSpPr/>
          <p:nvPr/>
        </p:nvSpPr>
        <p:spPr>
          <a:xfrm>
            <a:off x="10506456" y="306809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06456" y="30680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badge-3"/>
          <p:cNvSpPr/>
          <p:nvPr/>
        </p:nvSpPr>
        <p:spPr>
          <a:xfrm>
            <a:off x="10949026" y="407079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949026" y="40707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會驗申請詳情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廠商自主檢查：檢查標準、自檢數據、照片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短時間申請原因、後續鎖定項目提示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現場也能「退回」「改期」「開始會驗」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工務所：填寫抽查紀錄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按「開始會驗」後自動建立抽查紀錄，並跳到「本次會驗」項目</a:t>
            </a:r>
            <a:endParaRPr lang="en-US" sz="1400" dirty="0"/>
          </a:p>
        </p:txBody>
      </p:sp>
      <p:sp>
        <p:nvSpPr>
          <p:cNvPr id="4" name="frame-f11_spot_form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11_spot_form" descr="img/f11_spot_f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898087" y="185794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98087" y="185794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732124" y="241115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32124" y="2411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115154" y="241115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15154" y="2411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對照廠商自檢值填寫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標示「本次會驗」項目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左欄帶入廠商自檢值，右欄填抽查實測值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判定：○ 合格放行／╳ 有缺失／╱ 無此項</a:t>
            </a:r>
            <a:endParaRPr lang="en-US" sz="1250" dirty="0"/>
          </a:p>
        </p:txBody>
      </p:sp>
      <p:sp>
        <p:nvSpPr>
          <p:cNvPr id="16" name="frame-f12_spot_sum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f12_spot_sum" descr="img/f12_spot_su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9953244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953244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9953244" y="2653189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953244" y="2653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9953244" y="39324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953244" y="3932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抽查結果總覽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○／╳／╱ 統計（未抽查項目送出時自動填 ╱）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單元計價資料：厚度、長度、深度，自動計算計價面積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自動附件：廠商自主檢查表、現場照片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手寫簽認（抽查紀錄為例）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左側確認簽認內容與雜湊，右側畫布手寫；依序由兩位人員簽名</a:t>
            </a:r>
            <a:endParaRPr lang="en-US" sz="1400" dirty="0"/>
          </a:p>
        </p:txBody>
      </p:sp>
      <p:sp>
        <p:nvSpPr>
          <p:cNvPr id="4" name="frame-f14_sign_drawn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14_sign_drawn" descr="img/f14_sign_draw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910742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0742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10742" y="317182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0742" y="31718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42766" y="2480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2766" y="2480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2459736" y="3621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59736" y="3621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第 1 位：監造工務所（抽查人員）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簽認內容：結果、抽查時機、照片數、自動附件、內容雜湊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簽認人員順序與狀態（簽名中／待簽／已簽）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手寫簽名區，可「清除重簽」「套用已存簽名」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勾選確認聲明，可儲存簽名下次套用</a:t>
            </a:r>
            <a:endParaRPr lang="en-US" sz="1250" dirty="0"/>
          </a:p>
        </p:txBody>
      </p:sp>
      <p:sp>
        <p:nvSpPr>
          <p:cNvPr id="18" name="frame-f15_sign_secon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f15_sign_second" descr="img/f15_sign_secon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第 2 位：施工廠商隨同人員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第 1 位簽完自動切換下一位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最後一位按「確認簽名並完成」：產生雜湊、鎖定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會驗項目合格 → 停留點放行；有缺失 → 建立缺失追蹤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自主檢查表流程相同，簽認人為：現場工程師 → 工地授權代表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會驗合格後：自動放行、自動解鎖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抽查簽認完成的那一刻，後台與現場同步更新</a:t>
            </a:r>
            <a:endParaRPr lang="en-US" sz="1400" dirty="0"/>
          </a:p>
        </p:txBody>
      </p:sp>
      <p:sp>
        <p:nvSpPr>
          <p:cNvPr id="4" name="frame-f17_item10_passe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17_item10_passed" descr="img/f17_item10_pass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574597" y="258403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74597" y="258403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574597" y="2929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74597" y="2929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898087" y="4001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8087" y="4001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廠商端：停留點「已合格放行」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停留點項目顯示「已放行」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原本鎖定的「特密管安裝」解鎖可填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停留點卡片顯示「已合格放行」與時間</a:t>
            </a:r>
            <a:endParaRPr lang="en-US" sz="1250" dirty="0"/>
          </a:p>
        </p:txBody>
      </p:sp>
      <p:sp>
        <p:nvSpPr>
          <p:cNvPr id="16" name="frame-a02d_holds_pass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a02d_holds_passed" descr="img/a02d_holds_pass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8127644" y="196167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127644" y="196167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0949026" y="165049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949026" y="16504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後台：申請單轉「合格放行」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「合格放行」頁籤計數增加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申請詳情狀態更新，通知歷程記錄「抽查完成，合格放行（後續項目解鎖）」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no"/>
          <p:cNvSpPr/>
          <p:nvPr/>
        </p:nvSpPr>
        <p:spPr>
          <a:xfrm>
            <a:off x="731520" y="269748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B5C"/>
                </a:solidFill>
              </a:rPr>
              <a:t>06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v2 空白範本 PDF 操作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118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自主檢查表（廠商）與抽查紀錄表（工務所 → 廠商 → 主任）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自主檢查（1/3）：下載並鎖定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新增「表5-7 穩定液自主檢查紀錄表」（PDF 範本）後的畫面</a:t>
            </a:r>
            <a:endParaRPr lang="en-US" sz="1400" dirty="0"/>
          </a:p>
        </p:txBody>
      </p:sp>
      <p:sp>
        <p:nvSpPr>
          <p:cNvPr id="4" name="frame-p01_self_pdf_new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p01_self_pdf_new" descr="img/p01_self_pdf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629918" y="130473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629918" y="13047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1353312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53312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1906524" y="272234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06524" y="2722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未開始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標題顯示「空白範本 PDF」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辦理狀態列：下載鎖定 → 上傳續填・現地手寫簽名 → 憑證加簽結案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表單檔案：空白範本可預覽、下載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按「下載並鎖定」：下載空白範本並取得控制權</a:t>
            </a:r>
            <a:endParaRPr lang="en-US" sz="1250" dirty="0"/>
          </a:p>
        </p:txBody>
      </p:sp>
      <p:sp>
        <p:nvSpPr>
          <p:cNvPr id="16" name="frame-p02_self_locke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p02_self_locked" descr="img/p02_self_lock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6965899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65899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7463790" y="334470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463790" y="3344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鎖定中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狀態「鎖定中・V0・鎖定人 示範品管」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鎖定人可「上傳並簽名」或「取消鎖定」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辦理軌跡開始記錄（下載鎖定）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其他人此時只能檢視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自主檢查（2/3）：上傳並簽名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離線填寫並簽名後，回到系統上傳成果檔</a:t>
            </a:r>
            <a:endParaRPr lang="en-US" sz="1400" dirty="0"/>
          </a:p>
        </p:txBody>
      </p:sp>
      <p:sp>
        <p:nvSpPr>
          <p:cNvPr id="4" name="frame-p03_self_uploa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p03_self_upload" descr="img/p03_self_upl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676802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6802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676802" y="261861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76802" y="2618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391760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91760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上傳並簽名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選擇填寫後的 PDF（10 MB 以內）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現地手寫簽名（簽名人＝目前登入者）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按「上傳並簽名」，版本 V0 → V1</a:t>
            </a:r>
            <a:endParaRPr lang="en-US" sz="1250" dirty="0"/>
          </a:p>
        </p:txBody>
      </p:sp>
      <p:sp>
        <p:nvSpPr>
          <p:cNvPr id="16" name="frame-p04_self_waitin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p04_self_waiting" descr="img/p04_self_wait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7187184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187184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7740396" y="306809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40396" y="30680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待流轉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狀態「待流轉・V1・最後辦理 示範品管」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「下載續填並鎖定」（他人接手）或「憑證加簽結案」（最後上傳人）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目前版本檔可下載；軌跡附手寫簽名縮圖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自主檢查（3/3）：憑證加簽結案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最後上傳人以憑證數位簽章，表單正式結案</a:t>
            </a:r>
            <a:endParaRPr lang="en-US" sz="1400" dirty="0"/>
          </a:p>
        </p:txBody>
      </p:sp>
      <p:sp>
        <p:nvSpPr>
          <p:cNvPr id="4" name="frame-p05b_cert_fido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p05b_cert_fido" descr="img/p05b_cert_fid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561942" y="147761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61942" y="1477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561942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1942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33643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3643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選擇憑證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顯示表單、單元、簽章人與成果檔版本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實體自然人憑證（讀卡機）或行動自然人憑證（TW FidO，手機 App 確認）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「以憑證簽章並結案」</a:t>
            </a:r>
            <a:endParaRPr lang="en-US" sz="1250" dirty="0"/>
          </a:p>
        </p:txBody>
      </p:sp>
      <p:sp>
        <p:nvSpPr>
          <p:cNvPr id="16" name="frame-p06b_self_closed_lo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p06b_self_closed_log" descr="img/p06b_self_closed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4430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4430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6744614" y="171964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44614" y="1719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3"/>
          <p:cNvSpPr/>
          <p:nvPr/>
        </p:nvSpPr>
        <p:spPr>
          <a:xfrm>
            <a:off x="6744614" y="344843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44614" y="344843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已結案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狀態「已結案・V2」，表單鎖定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最後辦理人可「解除結案」（須填原因）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軌跡完整：下載鎖定 → 上傳並簽名 → 憑證加簽結案，各版可下載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雛型中憑證簽章為模擬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抽查（1/3）：工務所上傳並選下一關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工務所同仁下載鎖定、離線填寫後上傳</a:t>
            </a:r>
            <a:endParaRPr lang="en-US" sz="1400" dirty="0"/>
          </a:p>
        </p:txBody>
      </p:sp>
      <p:sp>
        <p:nvSpPr>
          <p:cNvPr id="4" name="frame-q02_spot_upload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q02_spot_upload" descr="img/q02_spot_upl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3676802" y="1823371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76802" y="182337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3676802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76802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3676802" y="286064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76802" y="286064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4"/>
          <p:cNvSpPr/>
          <p:nvPr/>
        </p:nvSpPr>
        <p:spPr>
          <a:xfrm>
            <a:off x="3676802" y="362131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76802" y="36213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上傳並簽名（抽查表）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上傳填寫後的 PDF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抽查判定結果：○ 合格／╳ 有缺失（必選）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下一關：其他局內人員續填／轉施工廠商簽名／免廠商簽名逕轉主任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④ 現地手寫簽名</a:t>
            </a:r>
            <a:endParaRPr lang="en-US" sz="1250" dirty="0"/>
          </a:p>
        </p:txBody>
      </p:sp>
      <p:sp>
        <p:nvSpPr>
          <p:cNvPr id="18" name="frame-q03_wait_vendor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shot-q03_wait_vendor" descr="img/q03_wait_vendo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20" name="badge-1"/>
          <p:cNvSpPr/>
          <p:nvPr/>
        </p:nvSpPr>
        <p:spPr>
          <a:xfrm>
            <a:off x="6744614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44614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badge-2"/>
          <p:cNvSpPr/>
          <p:nvPr/>
        </p:nvSpPr>
        <p:spPr>
          <a:xfrm>
            <a:off x="7740396" y="334470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40396" y="3344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待廠商簽名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狀態「待廠商簽名・V1」並顯示「抽查判定：合格」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軌跡記錄「轉施工廠商辦理簽名確認」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此時工務所等待廠商回傳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抽查（2/3）：廠商簽名後上傳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切換身分為「廠商品管人員」</a:t>
            </a:r>
            <a:endParaRPr lang="en-US" sz="1400" dirty="0"/>
          </a:p>
        </p:txBody>
      </p:sp>
      <p:sp>
        <p:nvSpPr>
          <p:cNvPr id="4" name="frame-q04_vendor_view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q04_vendor_view" descr="img/q04_vendor_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910742" y="189252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0742" y="189252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66064" y="216912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6064" y="2169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2072488" y="2929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72488" y="2929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廠商看到待辦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狀態「待廠商簽名」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按「上傳廠商簽名 PDF」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先下載目前版本，由廠商簽名</a:t>
            </a:r>
            <a:endParaRPr lang="en-US" sz="1250" dirty="0"/>
          </a:p>
        </p:txBody>
      </p:sp>
      <p:sp>
        <p:nvSpPr>
          <p:cNvPr id="16" name="frame-q05_vendor_upload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q05_vendor_upload" descr="img/q05_vendor_uplo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10395814" y="1788795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395814" y="17887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11225632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225632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上傳廠商簽名版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選擇簽名後的 PDF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「上傳並轉主任」：版本 V2，狀態轉「待主任加簽」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PDF 抽查（3/3）：工務所主任加簽結案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切換身分為「捷運局工務所主任」</a:t>
            </a:r>
            <a:endParaRPr lang="en-US" sz="1400" dirty="0"/>
          </a:p>
        </p:txBody>
      </p:sp>
      <p:sp>
        <p:nvSpPr>
          <p:cNvPr id="4" name="frame-q07_director_cert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q07_director_cert" descr="img/q07_director_c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4561942" y="1477613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61942" y="147761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4561942" y="2342007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1942" y="23420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3"/>
          <p:cNvSpPr/>
          <p:nvPr/>
        </p:nvSpPr>
        <p:spPr>
          <a:xfrm>
            <a:off x="5336438" y="441655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36438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主任加簽結案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確認成果檔版本（V2 廠商已簽名）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選實體自然人憑證或行動自然人憑證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③ 「以憑證簽章並結案」</a:t>
            </a:r>
            <a:endParaRPr lang="en-US" sz="1250" dirty="0"/>
          </a:p>
        </p:txBody>
      </p:sp>
      <p:sp>
        <p:nvSpPr>
          <p:cNvPr id="16" name="frame-q08b_spot_closed_log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shot-q08b_spot_closed_log" descr="img/q08b_spot_closed_l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8" name="badge-1"/>
          <p:cNvSpPr/>
          <p:nvPr/>
        </p:nvSpPr>
        <p:spPr>
          <a:xfrm>
            <a:off x="6744614" y="144303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44614" y="14430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badge-2"/>
          <p:cNvSpPr/>
          <p:nvPr/>
        </p:nvSpPr>
        <p:spPr>
          <a:xfrm>
            <a:off x="7740396" y="299894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40396" y="29989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已結案（V3）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「已結案・V3・抽查判定：合格」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軌跡：下載鎖定 → 上傳並簽名 → 廠商簽名確認 → 主任加簽結案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若判「有缺失」，結案時自動建立缺失追蹤；會驗抽查合格則放行停留點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「我的」身分切換與參考文件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雛型示範用：同一台平板即可走完三種身分的流程</a:t>
            </a:r>
            <a:endParaRPr lang="en-US" sz="1400" dirty="0"/>
          </a:p>
        </p:txBody>
      </p:sp>
      <p:sp>
        <p:nvSpPr>
          <p:cNvPr id="4" name="frame-f20_me"/>
          <p:cNvSpPr/>
          <p:nvPr/>
        </p:nvSpPr>
        <p:spPr>
          <a:xfrm>
            <a:off x="411480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hot-f20_me" descr="img/f20_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5532120" cy="3457575"/>
          </a:xfrm>
          <a:prstGeom prst="rect">
            <a:avLst/>
          </a:prstGeom>
        </p:spPr>
      </p:pic>
      <p:sp>
        <p:nvSpPr>
          <p:cNvPr id="6" name="badge-1"/>
          <p:cNvSpPr/>
          <p:nvPr/>
        </p:nvSpPr>
        <p:spPr>
          <a:xfrm>
            <a:off x="1076706" y="168506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76706" y="1685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badge-2"/>
          <p:cNvSpPr/>
          <p:nvPr/>
        </p:nvSpPr>
        <p:spPr>
          <a:xfrm>
            <a:off x="910742" y="22382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0742" y="2238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badge-A"/>
          <p:cNvSpPr/>
          <p:nvPr/>
        </p:nvSpPr>
        <p:spPr>
          <a:xfrm>
            <a:off x="411480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我的：切換目前身分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① 廠商品管人員／捷運局工務所同仁／捷運局工務所主任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</a:rPr>
              <a:t>② 清除已存簽名、還原示範資料、開啟後台管理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正式系統將改為帳號登入，依角色自動帶入權限</a:t>
            </a:r>
            <a:endParaRPr lang="en-US" sz="1250" dirty="0"/>
          </a:p>
        </p:txBody>
      </p:sp>
      <p:sp>
        <p:nvSpPr>
          <p:cNvPr id="14" name="frame-f21_docs"/>
          <p:cNvSpPr/>
          <p:nvPr/>
        </p:nvSpPr>
        <p:spPr>
          <a:xfrm>
            <a:off x="6245352" y="1261872"/>
            <a:ext cx="5532120" cy="34575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f21_docs" descr="img/f21_do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61872"/>
            <a:ext cx="5532120" cy="3457575"/>
          </a:xfrm>
          <a:prstGeom prst="rect">
            <a:avLst/>
          </a:prstGeom>
        </p:spPr>
      </p:pic>
      <p:sp>
        <p:nvSpPr>
          <p:cNvPr id="16" name="badge-B"/>
          <p:cNvSpPr/>
          <p:nvPr/>
        </p:nvSpPr>
        <p:spPr>
          <a:xfrm>
            <a:off x="6245352" y="4874895"/>
            <a:ext cx="310896" cy="310896"/>
          </a:xfrm>
          <a:prstGeom prst="ellipse">
            <a:avLst/>
          </a:prstGeom>
          <a:solidFill>
            <a:srgbClr val="0B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45352" y="48748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56832" y="4838319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5C"/>
                </a:solidFill>
              </a:rPr>
              <a:t>參考文件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336792" y="5268087"/>
            <a:ext cx="5440680" cy="1132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施工計畫書、施工圖、施工規範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填寫時點項目右上「參考文件」即可對照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文件清單由後台「參考文件」維護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B5C"/>
                </a:solidFill>
              </a:rPr>
              <a:t>雛型限制與後續討論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11480" y="804672"/>
            <a:ext cx="11338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雛型目的是確認流程與畫面，以下項目在正式開發時處理</a:t>
            </a:r>
            <a:endParaRPr lang="en-US" sz="1400" dirty="0"/>
          </a:p>
        </p:txBody>
      </p:sp>
      <p:sp>
        <p:nvSpPr>
          <p:cNvPr id="4" name="end-card"/>
          <p:cNvSpPr/>
          <p:nvPr/>
        </p:nvSpPr>
        <p:spPr>
          <a:xfrm>
            <a:off x="457200" y="1371600"/>
            <a:ext cx="5532120" cy="484632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</a:rPr>
              <a:t>雛型限制（已知）</a:t>
            </a:r>
            <a:endParaRPr lang="en-US" sz="2000" dirty="0"/>
          </a:p>
        </p:txBody>
      </p:sp>
      <p:sp>
        <p:nvSpPr>
          <p:cNvPr id="6" name="badge-1"/>
          <p:cNvSpPr/>
          <p:nvPr/>
        </p:nvSpPr>
        <p:spPr>
          <a:xfrm>
            <a:off x="731520" y="2240280"/>
            <a:ext cx="329184" cy="32918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資料存放於瀏覽器 IndexedDB，僅供展示；正式版改為 .NET 後端 API＋資料庫</a:t>
            </a:r>
            <a:endParaRPr lang="en-US" sz="1400" dirty="0"/>
          </a:p>
        </p:txBody>
      </p:sp>
      <p:sp>
        <p:nvSpPr>
          <p:cNvPr id="9" name="badge-2"/>
          <p:cNvSpPr/>
          <p:nvPr/>
        </p:nvSpPr>
        <p:spPr>
          <a:xfrm>
            <a:off x="731520" y="3026664"/>
            <a:ext cx="329184" cy="32918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8094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Email 通知、逾時往上通知為畫面模擬，未實際寄送</a:t>
            </a:r>
            <a:endParaRPr lang="en-US" sz="1400" dirty="0"/>
          </a:p>
        </p:txBody>
      </p:sp>
      <p:sp>
        <p:nvSpPr>
          <p:cNvPr id="12" name="badge-3"/>
          <p:cNvSpPr/>
          <p:nvPr/>
        </p:nvSpPr>
        <p:spPr>
          <a:xfrm>
            <a:off x="731520" y="3813048"/>
            <a:ext cx="329184" cy="32918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673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自然人憑證／行動自然人憑證（TW FidO）加簽為模擬，未實際讀卡或推播</a:t>
            </a:r>
            <a:endParaRPr lang="en-US" sz="1400" dirty="0"/>
          </a:p>
        </p:txBody>
      </p:sp>
      <p:sp>
        <p:nvSpPr>
          <p:cNvPr id="15" name="badge-4"/>
          <p:cNvSpPr/>
          <p:nvPr/>
        </p:nvSpPr>
        <p:spPr>
          <a:xfrm>
            <a:off x="731520" y="4599432"/>
            <a:ext cx="329184" cy="32918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99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55371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登入與角色為「我的」手動切換，正式版需帳號登入與權限控管</a:t>
            </a:r>
            <a:endParaRPr lang="en-US" sz="1400" dirty="0"/>
          </a:p>
        </p:txBody>
      </p:sp>
      <p:sp>
        <p:nvSpPr>
          <p:cNvPr id="18" name="badge-5"/>
          <p:cNvSpPr/>
          <p:nvPr/>
        </p:nvSpPr>
        <p:spPr>
          <a:xfrm>
            <a:off x="731520" y="5385816"/>
            <a:ext cx="329184" cy="329184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385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400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標案資料預留「日後串接標案管理系統」</a:t>
            </a:r>
            <a:endParaRPr lang="en-US" sz="1400" dirty="0"/>
          </a:p>
        </p:txBody>
      </p:sp>
      <p:sp>
        <p:nvSpPr>
          <p:cNvPr id="21" name="end-card"/>
          <p:cNvSpPr/>
          <p:nvPr/>
        </p:nvSpPr>
        <p:spPr>
          <a:xfrm>
            <a:off x="6172200" y="1371600"/>
            <a:ext cx="5532120" cy="4846320"/>
          </a:xfrm>
          <a:prstGeom prst="roundRect">
            <a:avLst>
              <a:gd name="adj" fmla="val 188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</a:rPr>
              <a:t>建議請主管裁示</a:t>
            </a:r>
            <a:endParaRPr lang="en-US" sz="2000" dirty="0"/>
          </a:p>
        </p:txBody>
      </p:sp>
      <p:sp>
        <p:nvSpPr>
          <p:cNvPr id="23" name="badge-1"/>
          <p:cNvSpPr/>
          <p:nvPr/>
        </p:nvSpPr>
        <p:spPr>
          <a:xfrm>
            <a:off x="6446520" y="2240280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哪些表單採「線上表單」、哪些採「空白範本 PDF」的選用原則</a:t>
            </a:r>
            <a:endParaRPr lang="en-US" sz="1400" dirty="0"/>
          </a:p>
        </p:txBody>
      </p:sp>
      <p:sp>
        <p:nvSpPr>
          <p:cNvPr id="26" name="badge-2"/>
          <p:cNvSpPr/>
          <p:nvPr/>
        </p:nvSpPr>
        <p:spPr>
          <a:xfrm>
            <a:off x="6446520" y="3026664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298094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24 小時提前申請、8 小時回覆、7 天改善期限是否符合契約規定</a:t>
            </a:r>
            <a:endParaRPr lang="en-US" sz="1400" dirty="0"/>
          </a:p>
        </p:txBody>
      </p:sp>
      <p:sp>
        <p:nvSpPr>
          <p:cNvPr id="29" name="badge-3"/>
          <p:cNvSpPr/>
          <p:nvPr/>
        </p:nvSpPr>
        <p:spPr>
          <a:xfrm>
            <a:off x="6446520" y="3813048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7673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PDF 抽查表「免廠商簽名逕轉主任」的適用情境</a:t>
            </a:r>
            <a:endParaRPr lang="en-US" sz="1400" dirty="0"/>
          </a:p>
        </p:txBody>
      </p:sp>
      <p:sp>
        <p:nvSpPr>
          <p:cNvPr id="32" name="badge-4"/>
          <p:cNvSpPr/>
          <p:nvPr/>
        </p:nvSpPr>
        <p:spPr>
          <a:xfrm>
            <a:off x="6446520" y="4599432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4599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55371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自主檢查表簽認是否需比照 PDF 改用憑證簽章</a:t>
            </a:r>
            <a:endParaRPr lang="en-US" sz="1400" dirty="0"/>
          </a:p>
        </p:txBody>
      </p:sp>
      <p:sp>
        <p:nvSpPr>
          <p:cNvPr id="35" name="badge-5"/>
          <p:cNvSpPr/>
          <p:nvPr/>
        </p:nvSpPr>
        <p:spPr>
          <a:xfrm>
            <a:off x="6446520" y="5385816"/>
            <a:ext cx="329184" cy="329184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6520" y="5385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53400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逾時通知的主管層級與通知方式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簡報結束　敬請指教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雛型開啟方式：新雛型／v2／index.html → 後台管理（桌機）或 現場作業（平板／手機）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T QMS">
  <a:themeElements>
    <a:clrScheme name="MRT QMS">
      <a:dk1>
        <a:srgbClr val="1F2937"/>
      </a:dk1>
      <a:lt1>
        <a:srgbClr val="FFFFFF"/>
      </a:lt1>
      <a:dk2>
        <a:srgbClr val="0B3B5C"/>
      </a:dk2>
      <a:lt2>
        <a:srgbClr val="EEF5FA"/>
      </a:lt2>
      <a:accent1>
        <a:srgbClr val="1497D4"/>
      </a:accent1>
      <a:accent2>
        <a:srgbClr val="F59E0B"/>
      </a:accent2>
      <a:accent3>
        <a:srgbClr val="15803D"/>
      </a:accent3>
      <a:accent4>
        <a:srgbClr val="B91C1C"/>
      </a:accent4>
      <a:accent5>
        <a:srgbClr val="64748B"/>
      </a:accent5>
      <a:accent6>
        <a:srgbClr val="7C3AED"/>
      </a:accent6>
      <a:hlink>
        <a:srgbClr val="1497D4"/>
      </a:hlink>
      <a:folHlink>
        <a:srgbClr val="7C3AED"/>
      </a:folHlink>
    </a:clrScheme>
    <a:fontScheme name="MRT QMS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捷運施工查驗系統 雛型 v2 全流程說明</dc:title>
  <dc:subject>PptxGenJS Presentation</dc:subject>
  <dc:creator>Brian</dc:creator>
  <cp:lastModifiedBy>Brian</cp:lastModifiedBy>
  <cp:revision>1</cp:revision>
  <dcterms:created xsi:type="dcterms:W3CDTF">2026-10-12T05:41:28Z</dcterms:created>
  <dcterms:modified xsi:type="dcterms:W3CDTF">2026-10-12T05:41:28Z</dcterms:modified>
</cp:coreProperties>
</file>